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3"/>
    <p:sldMasterId id="2147483709" r:id="rId4"/>
    <p:sldMasterId id="2147483710" r:id="rId5"/>
    <p:sldMasterId id="2147483711" r:id="rId6"/>
    <p:sldMasterId id="214748371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Lst>
  <p:sldSz cy="6858000" cx="12193575"/>
  <p:notesSz cx="6858000" cy="9144000"/>
  <p:embeddedFontLst>
    <p:embeddedFont>
      <p:font typeface="Roboto Mono"/>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0" Type="http://schemas.openxmlformats.org/officeDocument/2006/relationships/font" Target="fonts/RobotoMono-bold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font" Target="fonts/RobotoMono-bold.fntdata"/><Relationship Id="rId23" Type="http://schemas.openxmlformats.org/officeDocument/2006/relationships/slide" Target="slides/slide15.xml"/><Relationship Id="rId67" Type="http://schemas.openxmlformats.org/officeDocument/2006/relationships/font" Target="fonts/RobotoMono-regular.fntdata"/><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RobotoMono-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notes"/>
          <p:cNvSpPr/>
          <p:nvPr>
            <p:ph idx="2" type="sldImg"/>
          </p:nvPr>
        </p:nvSpPr>
        <p:spPr>
          <a:xfrm>
            <a:off x="216000" y="812520"/>
            <a:ext cx="712692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1:notes"/>
          <p:cNvSpPr txBox="1"/>
          <p:nvPr>
            <p:ph idx="1" type="body"/>
          </p:nvPr>
        </p:nvSpPr>
        <p:spPr>
          <a:xfrm>
            <a:off x="685800" y="4400640"/>
            <a:ext cx="5485680" cy="35996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98" name="Google Shape;398;p1:notes"/>
          <p:cNvSpPr/>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latin typeface="Arial"/>
                <a:ea typeface="Arial"/>
                <a:cs typeface="Arial"/>
                <a:sym typeface="Arial"/>
              </a:rPr>
              <a:t>‹#›</a:t>
            </a:fld>
            <a:endParaRPr b="0" i="0" sz="1400" u="none" cap="none" strike="noStrike">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ea769ebeec_4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6" name="Google Shape;406;g3ea769ebeec_4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ea2db804dc_2_127: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5" name="Google Shape;415;g3ea2db804dc_2_127: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ea2db804dc_2_199: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2" name="Google Shape;422;g3ea2db804dc_2_199: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ea769ebeec_4_41: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0" name="Google Shape;430;g3ea769ebeec_4_41: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ea769ebeec_4_6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8" name="Google Shape;438;g3ea769ebeec_4_6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a769ebeec_4_25: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6" name="Google Shape;446;g3ea769ebeec_4_25: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3: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3" name="Google Shape;453;p23: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ea769ebeec_4_5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2" name="Google Shape;462;g3ea769ebeec_4_5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bacfd2cf7_2_11: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0" name="Google Shape;470;g3ebacfd2cf7_2_11: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ea2db804dc_2_368: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9" name="Google Shape;479;g3ea2db804dc_2_368: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ed52cc1f5d_1_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8" name="Google Shape;488;g3ed52cc1f5d_1_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ea2db804dc_3_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7" name="Google Shape;497;g3ea2db804dc_3_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ea2db804dc_3_25: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7" name="Google Shape;507;g3ea2db804dc_3_25: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ea2db804dc_3_39: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6" name="Google Shape;516;g3ea2db804dc_3_39: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ea2db804dc_3_5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5" name="Google Shape;525;g3ea2db804dc_3_5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ea2db804dc_2_51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4" name="Google Shape;534;g3ea2db804dc_2_51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ea2db804dc_2_52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4" name="Google Shape;544;g3ea2db804dc_2_52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d9638fa23_0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3" name="Google Shape;553;g3ed9638fa23_0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ebb90867a2_0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6" name="Google Shape;566;g3ebb90867a2_0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ea2db804dc_2_53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6" name="Google Shape;576;g3ea2db804dc_2_53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ea2db804dc_3_9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5" name="Google Shape;585;g3ea2db804dc_3_9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ea2db804dc_3_11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5" name="Google Shape;595;g3ea2db804dc_3_11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a2db804dc_2_548: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5" name="Google Shape;605;g3ea2db804dc_2_548: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ea2db804dc_2_56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6" name="Google Shape;616;g3ea2db804dc_2_56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ed9638fa23_0_15: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25" name="Google Shape;625;g3ed9638fa23_0_15: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bb90867a2_0_9: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7" name="Google Shape;637;g3ebb90867a2_0_9: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a2db804dc_2_58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7" name="Google Shape;647;g3ea2db804dc_2_58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d52cc1f5d_1_4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6" name="Google Shape;656;g3ed52cc1f5d_1_4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bd96f8de9_0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68" name="Google Shape;668;g3ebd96f8de9_0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ed52cc1f5d_1_77: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8" name="Google Shape;678;g3ed52cc1f5d_1_77: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ebd96f8de9_0_9: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88" name="Google Shape;688;g3ebd96f8de9_0_9: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ea57bce605_0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98" name="Google Shape;698;g3ea57bce605_0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a2db804dc_2_59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1" name="Google Shape;711;g3ea2db804dc_2_59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a2db804dc_2_60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1" name="Google Shape;721;g3ea2db804dc_2_60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ed52cc1f5d_1_88: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0" name="Google Shape;730;g3ed52cc1f5d_1_88: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ed9638fa23_0_3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3" name="Google Shape;743;g3ed9638fa23_0_3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ebacfd2cf7_8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3" name="Google Shape;753;g3ebacfd2cf7_8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ebacfd2cf7_8_1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3" name="Google Shape;763;g3ebacfd2cf7_8_1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7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4" name="Google Shape;774;p7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ea2db804dc_2_83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2" name="Google Shape;782;g3ea2db804dc_2_83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a2db804dc_2_871: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1" name="Google Shape;791;g3ea2db804dc_2_871: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a2db804dc_2_70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1" name="Google Shape;801;g3ea2db804dc_2_70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ea2db804dc_2_889: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9" name="Google Shape;809;g3ea2db804dc_2_889: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ea2db804dc_2_909: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0" name="Google Shape;820;g3ea2db804dc_2_909: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ea2db804dc_2_92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0" name="Google Shape;830;g3ea2db804dc_2_92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a2db804dc_2_855: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1" name="Google Shape;841;g3ea2db804dc_2_855: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a2db804dc_2_94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1" name="Google Shape;851;g3ea2db804dc_2_94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ea57bce605_1_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1" name="Google Shape;861;g3ea57bce605_1_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ea57bce605_1_22: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71" name="Google Shape;871;g3ea57bce605_1_22: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ea57bce605_1_5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81" name="Google Shape;881;g3ea57bce605_1_5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ea2db804dc_2_61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90" name="Google Shape;890;g3ea2db804dc_2_61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ea2db804dc_2_62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98" name="Google Shape;898;g3ea2db804dc_2_62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ed52cc1f5d_0_4: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07" name="Google Shape;907;g3ed52cc1f5d_0_4: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ed52cc1f5d_0_18: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6" name="Google Shape;916;g3ed52cc1f5d_0_18: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a2db804dc_2_66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25" name="Google Shape;925;g3ea2db804dc_2_66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ea2db804dc_2_668: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4" name="Google Shape;934;g3ea2db804dc_2_668: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8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3" name="Google Shape;943;p8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9" name="Shape 39"/>
        <p:cNvGrpSpPr/>
        <p:nvPr/>
      </p:nvGrpSpPr>
      <p:grpSpPr>
        <a:xfrm>
          <a:off x="0" y="0"/>
          <a:ext cx="0" cy="0"/>
          <a:chOff x="0" y="0"/>
          <a:chExt cx="0" cy="0"/>
        </a:xfrm>
      </p:grpSpPr>
      <p:sp>
        <p:nvSpPr>
          <p:cNvPr id="40" name="Google Shape;40;p2"/>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2" name="Shape 4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43" name="Shape 43"/>
        <p:cNvGrpSpPr/>
        <p:nvPr/>
      </p:nvGrpSpPr>
      <p:grpSpPr>
        <a:xfrm>
          <a:off x="0" y="0"/>
          <a:ext cx="0" cy="0"/>
          <a:chOff x="0" y="0"/>
          <a:chExt cx="0" cy="0"/>
        </a:xfrm>
      </p:grpSpPr>
      <p:sp>
        <p:nvSpPr>
          <p:cNvPr id="44" name="Google Shape;44;p4"/>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
          <p:cNvSpPr txBox="1"/>
          <p:nvPr>
            <p:ph idx="1" type="subTitle"/>
          </p:nvPr>
        </p:nvSpPr>
        <p:spPr>
          <a:xfrm>
            <a:off x="609480" y="1604520"/>
            <a:ext cx="1097352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46" name="Shape 46"/>
        <p:cNvGrpSpPr/>
        <p:nvPr/>
      </p:nvGrpSpPr>
      <p:grpSpPr>
        <a:xfrm>
          <a:off x="0" y="0"/>
          <a:ext cx="0" cy="0"/>
          <a:chOff x="0" y="0"/>
          <a:chExt cx="0" cy="0"/>
        </a:xfrm>
      </p:grpSpPr>
      <p:sp>
        <p:nvSpPr>
          <p:cNvPr id="47" name="Google Shape;47;p5"/>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5"/>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6"/>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52" name="Shape 52"/>
        <p:cNvGrpSpPr/>
        <p:nvPr/>
      </p:nvGrpSpPr>
      <p:grpSpPr>
        <a:xfrm>
          <a:off x="0" y="0"/>
          <a:ext cx="0" cy="0"/>
          <a:chOff x="0" y="0"/>
          <a:chExt cx="0" cy="0"/>
        </a:xfrm>
      </p:grpSpPr>
      <p:sp>
        <p:nvSpPr>
          <p:cNvPr id="53" name="Google Shape;53;p7"/>
          <p:cNvSpPr txBox="1"/>
          <p:nvPr>
            <p:ph idx="1" type="subTitle"/>
          </p:nvPr>
        </p:nvSpPr>
        <p:spPr>
          <a:xfrm>
            <a:off x="609480" y="273600"/>
            <a:ext cx="10973520" cy="53078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54" name="Shape 54"/>
        <p:cNvGrpSpPr/>
        <p:nvPr/>
      </p:nvGrpSpPr>
      <p:grpSpPr>
        <a:xfrm>
          <a:off x="0" y="0"/>
          <a:ext cx="0" cy="0"/>
          <a:chOff x="0" y="0"/>
          <a:chExt cx="0" cy="0"/>
        </a:xfrm>
      </p:grpSpPr>
      <p:sp>
        <p:nvSpPr>
          <p:cNvPr id="55" name="Google Shape;55;p8"/>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8"/>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8"/>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9" name="Shape 59"/>
        <p:cNvGrpSpPr/>
        <p:nvPr/>
      </p:nvGrpSpPr>
      <p:grpSpPr>
        <a:xfrm>
          <a:off x="0" y="0"/>
          <a:ext cx="0" cy="0"/>
          <a:chOff x="0" y="0"/>
          <a:chExt cx="0" cy="0"/>
        </a:xfrm>
      </p:grpSpPr>
      <p:sp>
        <p:nvSpPr>
          <p:cNvPr id="60" name="Google Shape;60;p9"/>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9"/>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9"/>
          <p:cNvSpPr txBox="1"/>
          <p:nvPr>
            <p:ph idx="3"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64" name="Shape 64"/>
        <p:cNvGrpSpPr/>
        <p:nvPr/>
      </p:nvGrpSpPr>
      <p:grpSpPr>
        <a:xfrm>
          <a:off x="0" y="0"/>
          <a:ext cx="0" cy="0"/>
          <a:chOff x="0" y="0"/>
          <a:chExt cx="0" cy="0"/>
        </a:xfrm>
      </p:grpSpPr>
      <p:sp>
        <p:nvSpPr>
          <p:cNvPr id="65" name="Google Shape;65;p10"/>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7" name="Google Shape;67;p10"/>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8" name="Google Shape;68;p10"/>
          <p:cNvSpPr txBox="1"/>
          <p:nvPr>
            <p:ph idx="3"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9" name="Shape 69"/>
        <p:cNvGrpSpPr/>
        <p:nvPr/>
      </p:nvGrpSpPr>
      <p:grpSpPr>
        <a:xfrm>
          <a:off x="0" y="0"/>
          <a:ext cx="0" cy="0"/>
          <a:chOff x="0" y="0"/>
          <a:chExt cx="0" cy="0"/>
        </a:xfrm>
      </p:grpSpPr>
      <p:sp>
        <p:nvSpPr>
          <p:cNvPr id="70" name="Google Shape;70;p11"/>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 type="body"/>
          </p:nvPr>
        </p:nvSpPr>
        <p:spPr>
          <a:xfrm>
            <a:off x="609480" y="160452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2" name="Google Shape;72;p11"/>
          <p:cNvSpPr txBox="1"/>
          <p:nvPr>
            <p:ph idx="2"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73" name="Shape 73"/>
        <p:cNvGrpSpPr/>
        <p:nvPr/>
      </p:nvGrpSpPr>
      <p:grpSpPr>
        <a:xfrm>
          <a:off x="0" y="0"/>
          <a:ext cx="0" cy="0"/>
          <a:chOff x="0" y="0"/>
          <a:chExt cx="0" cy="0"/>
        </a:xfrm>
      </p:grpSpPr>
      <p:sp>
        <p:nvSpPr>
          <p:cNvPr id="74" name="Google Shape;74;p12"/>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2"/>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6" name="Google Shape;76;p12"/>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7" name="Google Shape;77;p12"/>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8" name="Google Shape;78;p12"/>
          <p:cNvSpPr txBox="1"/>
          <p:nvPr>
            <p:ph idx="4"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9" name="Shape 79"/>
        <p:cNvGrpSpPr/>
        <p:nvPr/>
      </p:nvGrpSpPr>
      <p:grpSpPr>
        <a:xfrm>
          <a:off x="0" y="0"/>
          <a:ext cx="0" cy="0"/>
          <a:chOff x="0" y="0"/>
          <a:chExt cx="0" cy="0"/>
        </a:xfrm>
      </p:grpSpPr>
      <p:sp>
        <p:nvSpPr>
          <p:cNvPr id="80" name="Google Shape;80;p13"/>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3"/>
          <p:cNvSpPr txBox="1"/>
          <p:nvPr>
            <p:ph idx="1" type="body"/>
          </p:nvPr>
        </p:nvSpPr>
        <p:spPr>
          <a:xfrm>
            <a:off x="60948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2" name="Google Shape;82;p13"/>
          <p:cNvSpPr txBox="1"/>
          <p:nvPr>
            <p:ph idx="2" type="body"/>
          </p:nvPr>
        </p:nvSpPr>
        <p:spPr>
          <a:xfrm>
            <a:off x="432000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3" name="Google Shape;83;p13"/>
          <p:cNvSpPr txBox="1"/>
          <p:nvPr>
            <p:ph idx="3" type="body"/>
          </p:nvPr>
        </p:nvSpPr>
        <p:spPr>
          <a:xfrm>
            <a:off x="803052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4" name="Google Shape;84;p13"/>
          <p:cNvSpPr txBox="1"/>
          <p:nvPr>
            <p:ph idx="4" type="body"/>
          </p:nvPr>
        </p:nvSpPr>
        <p:spPr>
          <a:xfrm>
            <a:off x="60948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5" name="Google Shape;85;p13"/>
          <p:cNvSpPr txBox="1"/>
          <p:nvPr>
            <p:ph idx="5" type="body"/>
          </p:nvPr>
        </p:nvSpPr>
        <p:spPr>
          <a:xfrm>
            <a:off x="432000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6" name="Google Shape;86;p13"/>
          <p:cNvSpPr txBox="1"/>
          <p:nvPr>
            <p:ph idx="6" type="body"/>
          </p:nvPr>
        </p:nvSpPr>
        <p:spPr>
          <a:xfrm>
            <a:off x="803052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5" name="Shape 11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6" name="Shape 116"/>
        <p:cNvGrpSpPr/>
        <p:nvPr/>
      </p:nvGrpSpPr>
      <p:grpSpPr>
        <a:xfrm>
          <a:off x="0" y="0"/>
          <a:ext cx="0" cy="0"/>
          <a:chOff x="0" y="0"/>
          <a:chExt cx="0" cy="0"/>
        </a:xfrm>
      </p:grpSpPr>
      <p:sp>
        <p:nvSpPr>
          <p:cNvPr id="117" name="Google Shape;117;p16"/>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6"/>
          <p:cNvSpPr txBox="1"/>
          <p:nvPr>
            <p:ph idx="1" type="subTitle"/>
          </p:nvPr>
        </p:nvSpPr>
        <p:spPr>
          <a:xfrm>
            <a:off x="609480" y="1604520"/>
            <a:ext cx="1097352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19" name="Shape 119"/>
        <p:cNvGrpSpPr/>
        <p:nvPr/>
      </p:nvGrpSpPr>
      <p:grpSpPr>
        <a:xfrm>
          <a:off x="0" y="0"/>
          <a:ext cx="0" cy="0"/>
          <a:chOff x="0" y="0"/>
          <a:chExt cx="0" cy="0"/>
        </a:xfrm>
      </p:grpSpPr>
      <p:sp>
        <p:nvSpPr>
          <p:cNvPr id="120" name="Google Shape;120;p17"/>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7"/>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2" name="Shape 122"/>
        <p:cNvGrpSpPr/>
        <p:nvPr/>
      </p:nvGrpSpPr>
      <p:grpSpPr>
        <a:xfrm>
          <a:off x="0" y="0"/>
          <a:ext cx="0" cy="0"/>
          <a:chOff x="0" y="0"/>
          <a:chExt cx="0" cy="0"/>
        </a:xfrm>
      </p:grpSpPr>
      <p:sp>
        <p:nvSpPr>
          <p:cNvPr id="123" name="Google Shape;123;p18"/>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8"/>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5" name="Google Shape;125;p18"/>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 name="Shape 126"/>
        <p:cNvGrpSpPr/>
        <p:nvPr/>
      </p:nvGrpSpPr>
      <p:grpSpPr>
        <a:xfrm>
          <a:off x="0" y="0"/>
          <a:ext cx="0" cy="0"/>
          <a:chOff x="0" y="0"/>
          <a:chExt cx="0" cy="0"/>
        </a:xfrm>
      </p:grpSpPr>
      <p:sp>
        <p:nvSpPr>
          <p:cNvPr id="127" name="Google Shape;127;p19"/>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28" name="Shape 128"/>
        <p:cNvGrpSpPr/>
        <p:nvPr/>
      </p:nvGrpSpPr>
      <p:grpSpPr>
        <a:xfrm>
          <a:off x="0" y="0"/>
          <a:ext cx="0" cy="0"/>
          <a:chOff x="0" y="0"/>
          <a:chExt cx="0" cy="0"/>
        </a:xfrm>
      </p:grpSpPr>
      <p:sp>
        <p:nvSpPr>
          <p:cNvPr id="129" name="Google Shape;129;p20"/>
          <p:cNvSpPr txBox="1"/>
          <p:nvPr>
            <p:ph idx="1" type="subTitle"/>
          </p:nvPr>
        </p:nvSpPr>
        <p:spPr>
          <a:xfrm>
            <a:off x="609480" y="273600"/>
            <a:ext cx="10973520" cy="53078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0" name="Shape 130"/>
        <p:cNvGrpSpPr/>
        <p:nvPr/>
      </p:nvGrpSpPr>
      <p:grpSpPr>
        <a:xfrm>
          <a:off x="0" y="0"/>
          <a:ext cx="0" cy="0"/>
          <a:chOff x="0" y="0"/>
          <a:chExt cx="0" cy="0"/>
        </a:xfrm>
      </p:grpSpPr>
      <p:sp>
        <p:nvSpPr>
          <p:cNvPr id="131" name="Google Shape;131;p21"/>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1"/>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3" name="Google Shape;133;p21"/>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4" name="Google Shape;134;p21"/>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35" name="Shape 135"/>
        <p:cNvGrpSpPr/>
        <p:nvPr/>
      </p:nvGrpSpPr>
      <p:grpSpPr>
        <a:xfrm>
          <a:off x="0" y="0"/>
          <a:ext cx="0" cy="0"/>
          <a:chOff x="0" y="0"/>
          <a:chExt cx="0" cy="0"/>
        </a:xfrm>
      </p:grpSpPr>
      <p:sp>
        <p:nvSpPr>
          <p:cNvPr id="136" name="Google Shape;136;p22"/>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2"/>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8" name="Google Shape;138;p22"/>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9" name="Google Shape;139;p22"/>
          <p:cNvSpPr txBox="1"/>
          <p:nvPr>
            <p:ph idx="3"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0" name="Shape 140"/>
        <p:cNvGrpSpPr/>
        <p:nvPr/>
      </p:nvGrpSpPr>
      <p:grpSpPr>
        <a:xfrm>
          <a:off x="0" y="0"/>
          <a:ext cx="0" cy="0"/>
          <a:chOff x="0" y="0"/>
          <a:chExt cx="0" cy="0"/>
        </a:xfrm>
      </p:grpSpPr>
      <p:sp>
        <p:nvSpPr>
          <p:cNvPr id="141" name="Google Shape;141;p23"/>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3"/>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3" name="Google Shape;143;p23"/>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4" name="Google Shape;144;p23"/>
          <p:cNvSpPr txBox="1"/>
          <p:nvPr>
            <p:ph idx="3"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45" name="Shape 145"/>
        <p:cNvGrpSpPr/>
        <p:nvPr/>
      </p:nvGrpSpPr>
      <p:grpSpPr>
        <a:xfrm>
          <a:off x="0" y="0"/>
          <a:ext cx="0" cy="0"/>
          <a:chOff x="0" y="0"/>
          <a:chExt cx="0" cy="0"/>
        </a:xfrm>
      </p:grpSpPr>
      <p:sp>
        <p:nvSpPr>
          <p:cNvPr id="146" name="Google Shape;146;p24"/>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4"/>
          <p:cNvSpPr txBox="1"/>
          <p:nvPr>
            <p:ph idx="1" type="body"/>
          </p:nvPr>
        </p:nvSpPr>
        <p:spPr>
          <a:xfrm>
            <a:off x="609480" y="160452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8" name="Google Shape;148;p24"/>
          <p:cNvSpPr txBox="1"/>
          <p:nvPr>
            <p:ph idx="2"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49" name="Shape 149"/>
        <p:cNvGrpSpPr/>
        <p:nvPr/>
      </p:nvGrpSpPr>
      <p:grpSpPr>
        <a:xfrm>
          <a:off x="0" y="0"/>
          <a:ext cx="0" cy="0"/>
          <a:chOff x="0" y="0"/>
          <a:chExt cx="0" cy="0"/>
        </a:xfrm>
      </p:grpSpPr>
      <p:sp>
        <p:nvSpPr>
          <p:cNvPr id="150" name="Google Shape;150;p25"/>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5"/>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2" name="Google Shape;152;p25"/>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3" name="Google Shape;153;p25"/>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4" name="Google Shape;154;p25"/>
          <p:cNvSpPr txBox="1"/>
          <p:nvPr>
            <p:ph idx="4"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55" name="Shape 155"/>
        <p:cNvGrpSpPr/>
        <p:nvPr/>
      </p:nvGrpSpPr>
      <p:grpSpPr>
        <a:xfrm>
          <a:off x="0" y="0"/>
          <a:ext cx="0" cy="0"/>
          <a:chOff x="0" y="0"/>
          <a:chExt cx="0" cy="0"/>
        </a:xfrm>
      </p:grpSpPr>
      <p:sp>
        <p:nvSpPr>
          <p:cNvPr id="156" name="Google Shape;156;p26"/>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6"/>
          <p:cNvSpPr txBox="1"/>
          <p:nvPr>
            <p:ph idx="1" type="body"/>
          </p:nvPr>
        </p:nvSpPr>
        <p:spPr>
          <a:xfrm>
            <a:off x="60948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26"/>
          <p:cNvSpPr txBox="1"/>
          <p:nvPr>
            <p:ph idx="2" type="body"/>
          </p:nvPr>
        </p:nvSpPr>
        <p:spPr>
          <a:xfrm>
            <a:off x="432000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26"/>
          <p:cNvSpPr txBox="1"/>
          <p:nvPr>
            <p:ph idx="3" type="body"/>
          </p:nvPr>
        </p:nvSpPr>
        <p:spPr>
          <a:xfrm>
            <a:off x="803052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0" name="Google Shape;160;p26"/>
          <p:cNvSpPr txBox="1"/>
          <p:nvPr>
            <p:ph idx="4" type="body"/>
          </p:nvPr>
        </p:nvSpPr>
        <p:spPr>
          <a:xfrm>
            <a:off x="60948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1" name="Google Shape;161;p26"/>
          <p:cNvSpPr txBox="1"/>
          <p:nvPr>
            <p:ph idx="5" type="body"/>
          </p:nvPr>
        </p:nvSpPr>
        <p:spPr>
          <a:xfrm>
            <a:off x="432000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2" name="Google Shape;162;p26"/>
          <p:cNvSpPr txBox="1"/>
          <p:nvPr>
            <p:ph idx="6" type="body"/>
          </p:nvPr>
        </p:nvSpPr>
        <p:spPr>
          <a:xfrm>
            <a:off x="803052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92" name="Shape 192"/>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93" name="Shape 193"/>
        <p:cNvGrpSpPr/>
        <p:nvPr/>
      </p:nvGrpSpPr>
      <p:grpSpPr>
        <a:xfrm>
          <a:off x="0" y="0"/>
          <a:ext cx="0" cy="0"/>
          <a:chOff x="0" y="0"/>
          <a:chExt cx="0" cy="0"/>
        </a:xfrm>
      </p:grpSpPr>
      <p:sp>
        <p:nvSpPr>
          <p:cNvPr id="194" name="Google Shape;194;p29"/>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29"/>
          <p:cNvSpPr txBox="1"/>
          <p:nvPr>
            <p:ph idx="1" type="subTitle"/>
          </p:nvPr>
        </p:nvSpPr>
        <p:spPr>
          <a:xfrm>
            <a:off x="609480" y="1604520"/>
            <a:ext cx="1097352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6" name="Shape 196"/>
        <p:cNvGrpSpPr/>
        <p:nvPr/>
      </p:nvGrpSpPr>
      <p:grpSpPr>
        <a:xfrm>
          <a:off x="0" y="0"/>
          <a:ext cx="0" cy="0"/>
          <a:chOff x="0" y="0"/>
          <a:chExt cx="0" cy="0"/>
        </a:xfrm>
      </p:grpSpPr>
      <p:sp>
        <p:nvSpPr>
          <p:cNvPr id="197" name="Google Shape;197;p30"/>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30"/>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99" name="Shape 199"/>
        <p:cNvGrpSpPr/>
        <p:nvPr/>
      </p:nvGrpSpPr>
      <p:grpSpPr>
        <a:xfrm>
          <a:off x="0" y="0"/>
          <a:ext cx="0" cy="0"/>
          <a:chOff x="0" y="0"/>
          <a:chExt cx="0" cy="0"/>
        </a:xfrm>
      </p:grpSpPr>
      <p:sp>
        <p:nvSpPr>
          <p:cNvPr id="200" name="Google Shape;200;p31"/>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1"/>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31"/>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3" name="Shape 203"/>
        <p:cNvGrpSpPr/>
        <p:nvPr/>
      </p:nvGrpSpPr>
      <p:grpSpPr>
        <a:xfrm>
          <a:off x="0" y="0"/>
          <a:ext cx="0" cy="0"/>
          <a:chOff x="0" y="0"/>
          <a:chExt cx="0" cy="0"/>
        </a:xfrm>
      </p:grpSpPr>
      <p:sp>
        <p:nvSpPr>
          <p:cNvPr id="204" name="Google Shape;204;p32"/>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05" name="Shape 205"/>
        <p:cNvGrpSpPr/>
        <p:nvPr/>
      </p:nvGrpSpPr>
      <p:grpSpPr>
        <a:xfrm>
          <a:off x="0" y="0"/>
          <a:ext cx="0" cy="0"/>
          <a:chOff x="0" y="0"/>
          <a:chExt cx="0" cy="0"/>
        </a:xfrm>
      </p:grpSpPr>
      <p:sp>
        <p:nvSpPr>
          <p:cNvPr id="206" name="Google Shape;206;p33"/>
          <p:cNvSpPr txBox="1"/>
          <p:nvPr>
            <p:ph idx="1" type="subTitle"/>
          </p:nvPr>
        </p:nvSpPr>
        <p:spPr>
          <a:xfrm>
            <a:off x="609480" y="273600"/>
            <a:ext cx="10973520" cy="53078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07" name="Shape 207"/>
        <p:cNvGrpSpPr/>
        <p:nvPr/>
      </p:nvGrpSpPr>
      <p:grpSpPr>
        <a:xfrm>
          <a:off x="0" y="0"/>
          <a:ext cx="0" cy="0"/>
          <a:chOff x="0" y="0"/>
          <a:chExt cx="0" cy="0"/>
        </a:xfrm>
      </p:grpSpPr>
      <p:sp>
        <p:nvSpPr>
          <p:cNvPr id="208" name="Google Shape;208;p34"/>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34"/>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0" name="Google Shape;210;p34"/>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34"/>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12" name="Shape 212"/>
        <p:cNvGrpSpPr/>
        <p:nvPr/>
      </p:nvGrpSpPr>
      <p:grpSpPr>
        <a:xfrm>
          <a:off x="0" y="0"/>
          <a:ext cx="0" cy="0"/>
          <a:chOff x="0" y="0"/>
          <a:chExt cx="0" cy="0"/>
        </a:xfrm>
      </p:grpSpPr>
      <p:sp>
        <p:nvSpPr>
          <p:cNvPr id="213" name="Google Shape;213;p35"/>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35"/>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5" name="Google Shape;215;p35"/>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35"/>
          <p:cNvSpPr txBox="1"/>
          <p:nvPr>
            <p:ph idx="3"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17" name="Shape 217"/>
        <p:cNvGrpSpPr/>
        <p:nvPr/>
      </p:nvGrpSpPr>
      <p:grpSpPr>
        <a:xfrm>
          <a:off x="0" y="0"/>
          <a:ext cx="0" cy="0"/>
          <a:chOff x="0" y="0"/>
          <a:chExt cx="0" cy="0"/>
        </a:xfrm>
      </p:grpSpPr>
      <p:sp>
        <p:nvSpPr>
          <p:cNvPr id="218" name="Google Shape;218;p36"/>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36"/>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0" name="Google Shape;220;p36"/>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36"/>
          <p:cNvSpPr txBox="1"/>
          <p:nvPr>
            <p:ph idx="3"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22" name="Shape 222"/>
        <p:cNvGrpSpPr/>
        <p:nvPr/>
      </p:nvGrpSpPr>
      <p:grpSpPr>
        <a:xfrm>
          <a:off x="0" y="0"/>
          <a:ext cx="0" cy="0"/>
          <a:chOff x="0" y="0"/>
          <a:chExt cx="0" cy="0"/>
        </a:xfrm>
      </p:grpSpPr>
      <p:sp>
        <p:nvSpPr>
          <p:cNvPr id="223" name="Google Shape;223;p37"/>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37"/>
          <p:cNvSpPr txBox="1"/>
          <p:nvPr>
            <p:ph idx="1" type="body"/>
          </p:nvPr>
        </p:nvSpPr>
        <p:spPr>
          <a:xfrm>
            <a:off x="609480" y="160452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5" name="Google Shape;225;p37"/>
          <p:cNvSpPr txBox="1"/>
          <p:nvPr>
            <p:ph idx="2"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26" name="Shape 226"/>
        <p:cNvGrpSpPr/>
        <p:nvPr/>
      </p:nvGrpSpPr>
      <p:grpSpPr>
        <a:xfrm>
          <a:off x="0" y="0"/>
          <a:ext cx="0" cy="0"/>
          <a:chOff x="0" y="0"/>
          <a:chExt cx="0" cy="0"/>
        </a:xfrm>
      </p:grpSpPr>
      <p:sp>
        <p:nvSpPr>
          <p:cNvPr id="227" name="Google Shape;227;p38"/>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38"/>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9" name="Google Shape;229;p38"/>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0" name="Google Shape;230;p38"/>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1" name="Google Shape;231;p38"/>
          <p:cNvSpPr txBox="1"/>
          <p:nvPr>
            <p:ph idx="4"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32" name="Shape 232"/>
        <p:cNvGrpSpPr/>
        <p:nvPr/>
      </p:nvGrpSpPr>
      <p:grpSpPr>
        <a:xfrm>
          <a:off x="0" y="0"/>
          <a:ext cx="0" cy="0"/>
          <a:chOff x="0" y="0"/>
          <a:chExt cx="0" cy="0"/>
        </a:xfrm>
      </p:grpSpPr>
      <p:sp>
        <p:nvSpPr>
          <p:cNvPr id="233" name="Google Shape;233;p39"/>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39"/>
          <p:cNvSpPr txBox="1"/>
          <p:nvPr>
            <p:ph idx="1" type="body"/>
          </p:nvPr>
        </p:nvSpPr>
        <p:spPr>
          <a:xfrm>
            <a:off x="60948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5" name="Google Shape;235;p39"/>
          <p:cNvSpPr txBox="1"/>
          <p:nvPr>
            <p:ph idx="2" type="body"/>
          </p:nvPr>
        </p:nvSpPr>
        <p:spPr>
          <a:xfrm>
            <a:off x="432000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6" name="Google Shape;236;p39"/>
          <p:cNvSpPr txBox="1"/>
          <p:nvPr>
            <p:ph idx="3" type="body"/>
          </p:nvPr>
        </p:nvSpPr>
        <p:spPr>
          <a:xfrm>
            <a:off x="803052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7" name="Google Shape;237;p39"/>
          <p:cNvSpPr txBox="1"/>
          <p:nvPr>
            <p:ph idx="4" type="body"/>
          </p:nvPr>
        </p:nvSpPr>
        <p:spPr>
          <a:xfrm>
            <a:off x="60948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8" name="Google Shape;238;p39"/>
          <p:cNvSpPr txBox="1"/>
          <p:nvPr>
            <p:ph idx="5" type="body"/>
          </p:nvPr>
        </p:nvSpPr>
        <p:spPr>
          <a:xfrm>
            <a:off x="432000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9" name="Google Shape;239;p39"/>
          <p:cNvSpPr txBox="1"/>
          <p:nvPr>
            <p:ph idx="6" type="body"/>
          </p:nvPr>
        </p:nvSpPr>
        <p:spPr>
          <a:xfrm>
            <a:off x="803052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70" name="Shape 270"/>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71" name="Shape 271"/>
        <p:cNvGrpSpPr/>
        <p:nvPr/>
      </p:nvGrpSpPr>
      <p:grpSpPr>
        <a:xfrm>
          <a:off x="0" y="0"/>
          <a:ext cx="0" cy="0"/>
          <a:chOff x="0" y="0"/>
          <a:chExt cx="0" cy="0"/>
        </a:xfrm>
      </p:grpSpPr>
      <p:sp>
        <p:nvSpPr>
          <p:cNvPr id="272" name="Google Shape;272;p42"/>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42"/>
          <p:cNvSpPr txBox="1"/>
          <p:nvPr>
            <p:ph idx="1" type="subTitle"/>
          </p:nvPr>
        </p:nvSpPr>
        <p:spPr>
          <a:xfrm>
            <a:off x="609480" y="1604520"/>
            <a:ext cx="1097352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74" name="Shape 274"/>
        <p:cNvGrpSpPr/>
        <p:nvPr/>
      </p:nvGrpSpPr>
      <p:grpSpPr>
        <a:xfrm>
          <a:off x="0" y="0"/>
          <a:ext cx="0" cy="0"/>
          <a:chOff x="0" y="0"/>
          <a:chExt cx="0" cy="0"/>
        </a:xfrm>
      </p:grpSpPr>
      <p:sp>
        <p:nvSpPr>
          <p:cNvPr id="275" name="Google Shape;275;p43"/>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p43"/>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77" name="Shape 277"/>
        <p:cNvGrpSpPr/>
        <p:nvPr/>
      </p:nvGrpSpPr>
      <p:grpSpPr>
        <a:xfrm>
          <a:off x="0" y="0"/>
          <a:ext cx="0" cy="0"/>
          <a:chOff x="0" y="0"/>
          <a:chExt cx="0" cy="0"/>
        </a:xfrm>
      </p:grpSpPr>
      <p:sp>
        <p:nvSpPr>
          <p:cNvPr id="278" name="Google Shape;278;p44"/>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9" name="Google Shape;279;p44"/>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0" name="Google Shape;280;p44"/>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1" name="Shape 281"/>
        <p:cNvGrpSpPr/>
        <p:nvPr/>
      </p:nvGrpSpPr>
      <p:grpSpPr>
        <a:xfrm>
          <a:off x="0" y="0"/>
          <a:ext cx="0" cy="0"/>
          <a:chOff x="0" y="0"/>
          <a:chExt cx="0" cy="0"/>
        </a:xfrm>
      </p:grpSpPr>
      <p:sp>
        <p:nvSpPr>
          <p:cNvPr id="282" name="Google Shape;282;p45"/>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3" name="Shape 283"/>
        <p:cNvGrpSpPr/>
        <p:nvPr/>
      </p:nvGrpSpPr>
      <p:grpSpPr>
        <a:xfrm>
          <a:off x="0" y="0"/>
          <a:ext cx="0" cy="0"/>
          <a:chOff x="0" y="0"/>
          <a:chExt cx="0" cy="0"/>
        </a:xfrm>
      </p:grpSpPr>
      <p:sp>
        <p:nvSpPr>
          <p:cNvPr id="284" name="Google Shape;284;p46"/>
          <p:cNvSpPr txBox="1"/>
          <p:nvPr>
            <p:ph idx="1" type="subTitle"/>
          </p:nvPr>
        </p:nvSpPr>
        <p:spPr>
          <a:xfrm>
            <a:off x="609480" y="273600"/>
            <a:ext cx="10973520" cy="53078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85" name="Shape 285"/>
        <p:cNvGrpSpPr/>
        <p:nvPr/>
      </p:nvGrpSpPr>
      <p:grpSpPr>
        <a:xfrm>
          <a:off x="0" y="0"/>
          <a:ext cx="0" cy="0"/>
          <a:chOff x="0" y="0"/>
          <a:chExt cx="0" cy="0"/>
        </a:xfrm>
      </p:grpSpPr>
      <p:sp>
        <p:nvSpPr>
          <p:cNvPr id="286" name="Google Shape;286;p47"/>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47"/>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8" name="Google Shape;288;p47"/>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9" name="Google Shape;289;p47"/>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0" name="Shape 290"/>
        <p:cNvGrpSpPr/>
        <p:nvPr/>
      </p:nvGrpSpPr>
      <p:grpSpPr>
        <a:xfrm>
          <a:off x="0" y="0"/>
          <a:ext cx="0" cy="0"/>
          <a:chOff x="0" y="0"/>
          <a:chExt cx="0" cy="0"/>
        </a:xfrm>
      </p:grpSpPr>
      <p:sp>
        <p:nvSpPr>
          <p:cNvPr id="291" name="Google Shape;291;p48"/>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2" name="Google Shape;292;p48"/>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3" name="Google Shape;293;p48"/>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4" name="Google Shape;294;p48"/>
          <p:cNvSpPr txBox="1"/>
          <p:nvPr>
            <p:ph idx="3"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95" name="Shape 295"/>
        <p:cNvGrpSpPr/>
        <p:nvPr/>
      </p:nvGrpSpPr>
      <p:grpSpPr>
        <a:xfrm>
          <a:off x="0" y="0"/>
          <a:ext cx="0" cy="0"/>
          <a:chOff x="0" y="0"/>
          <a:chExt cx="0" cy="0"/>
        </a:xfrm>
      </p:grpSpPr>
      <p:sp>
        <p:nvSpPr>
          <p:cNvPr id="296" name="Google Shape;296;p49"/>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49"/>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8" name="Google Shape;298;p49"/>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9" name="Google Shape;299;p49"/>
          <p:cNvSpPr txBox="1"/>
          <p:nvPr>
            <p:ph idx="3"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00" name="Shape 300"/>
        <p:cNvGrpSpPr/>
        <p:nvPr/>
      </p:nvGrpSpPr>
      <p:grpSpPr>
        <a:xfrm>
          <a:off x="0" y="0"/>
          <a:ext cx="0" cy="0"/>
          <a:chOff x="0" y="0"/>
          <a:chExt cx="0" cy="0"/>
        </a:xfrm>
      </p:grpSpPr>
      <p:sp>
        <p:nvSpPr>
          <p:cNvPr id="301" name="Google Shape;301;p50"/>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50"/>
          <p:cNvSpPr txBox="1"/>
          <p:nvPr>
            <p:ph idx="1" type="body"/>
          </p:nvPr>
        </p:nvSpPr>
        <p:spPr>
          <a:xfrm>
            <a:off x="609480" y="160452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3" name="Google Shape;303;p50"/>
          <p:cNvSpPr txBox="1"/>
          <p:nvPr>
            <p:ph idx="2"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04" name="Shape 304"/>
        <p:cNvGrpSpPr/>
        <p:nvPr/>
      </p:nvGrpSpPr>
      <p:grpSpPr>
        <a:xfrm>
          <a:off x="0" y="0"/>
          <a:ext cx="0" cy="0"/>
          <a:chOff x="0" y="0"/>
          <a:chExt cx="0" cy="0"/>
        </a:xfrm>
      </p:grpSpPr>
      <p:sp>
        <p:nvSpPr>
          <p:cNvPr id="305" name="Google Shape;305;p51"/>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51"/>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7" name="Google Shape;307;p51"/>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8" name="Google Shape;308;p51"/>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9" name="Google Shape;309;p51"/>
          <p:cNvSpPr txBox="1"/>
          <p:nvPr>
            <p:ph idx="4"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10" name="Shape 310"/>
        <p:cNvGrpSpPr/>
        <p:nvPr/>
      </p:nvGrpSpPr>
      <p:grpSpPr>
        <a:xfrm>
          <a:off x="0" y="0"/>
          <a:ext cx="0" cy="0"/>
          <a:chOff x="0" y="0"/>
          <a:chExt cx="0" cy="0"/>
        </a:xfrm>
      </p:grpSpPr>
      <p:sp>
        <p:nvSpPr>
          <p:cNvPr id="311" name="Google Shape;311;p52"/>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2" name="Google Shape;312;p52"/>
          <p:cNvSpPr txBox="1"/>
          <p:nvPr>
            <p:ph idx="1" type="body"/>
          </p:nvPr>
        </p:nvSpPr>
        <p:spPr>
          <a:xfrm>
            <a:off x="60948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3" name="Google Shape;313;p52"/>
          <p:cNvSpPr txBox="1"/>
          <p:nvPr>
            <p:ph idx="2" type="body"/>
          </p:nvPr>
        </p:nvSpPr>
        <p:spPr>
          <a:xfrm>
            <a:off x="432000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4" name="Google Shape;314;p52"/>
          <p:cNvSpPr txBox="1"/>
          <p:nvPr>
            <p:ph idx="3" type="body"/>
          </p:nvPr>
        </p:nvSpPr>
        <p:spPr>
          <a:xfrm>
            <a:off x="803052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5" name="Google Shape;315;p52"/>
          <p:cNvSpPr txBox="1"/>
          <p:nvPr>
            <p:ph idx="4" type="body"/>
          </p:nvPr>
        </p:nvSpPr>
        <p:spPr>
          <a:xfrm>
            <a:off x="60948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6" name="Google Shape;316;p52"/>
          <p:cNvSpPr txBox="1"/>
          <p:nvPr>
            <p:ph idx="5" type="body"/>
          </p:nvPr>
        </p:nvSpPr>
        <p:spPr>
          <a:xfrm>
            <a:off x="432000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7" name="Google Shape;317;p52"/>
          <p:cNvSpPr txBox="1"/>
          <p:nvPr>
            <p:ph idx="6" type="body"/>
          </p:nvPr>
        </p:nvSpPr>
        <p:spPr>
          <a:xfrm>
            <a:off x="803052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47" name="Shape 347"/>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48" name="Shape 348"/>
        <p:cNvGrpSpPr/>
        <p:nvPr/>
      </p:nvGrpSpPr>
      <p:grpSpPr>
        <a:xfrm>
          <a:off x="0" y="0"/>
          <a:ext cx="0" cy="0"/>
          <a:chOff x="0" y="0"/>
          <a:chExt cx="0" cy="0"/>
        </a:xfrm>
      </p:grpSpPr>
      <p:sp>
        <p:nvSpPr>
          <p:cNvPr id="349" name="Google Shape;349;p55"/>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55"/>
          <p:cNvSpPr txBox="1"/>
          <p:nvPr>
            <p:ph idx="1" type="subTitle"/>
          </p:nvPr>
        </p:nvSpPr>
        <p:spPr>
          <a:xfrm>
            <a:off x="609480" y="1604520"/>
            <a:ext cx="1097352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51" name="Shape 351"/>
        <p:cNvGrpSpPr/>
        <p:nvPr/>
      </p:nvGrpSpPr>
      <p:grpSpPr>
        <a:xfrm>
          <a:off x="0" y="0"/>
          <a:ext cx="0" cy="0"/>
          <a:chOff x="0" y="0"/>
          <a:chExt cx="0" cy="0"/>
        </a:xfrm>
      </p:grpSpPr>
      <p:sp>
        <p:nvSpPr>
          <p:cNvPr id="352" name="Google Shape;352;p56"/>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3" name="Google Shape;353;p56"/>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54" name="Shape 354"/>
        <p:cNvGrpSpPr/>
        <p:nvPr/>
      </p:nvGrpSpPr>
      <p:grpSpPr>
        <a:xfrm>
          <a:off x="0" y="0"/>
          <a:ext cx="0" cy="0"/>
          <a:chOff x="0" y="0"/>
          <a:chExt cx="0" cy="0"/>
        </a:xfrm>
      </p:grpSpPr>
      <p:sp>
        <p:nvSpPr>
          <p:cNvPr id="355" name="Google Shape;355;p57"/>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6" name="Google Shape;356;p57"/>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7" name="Google Shape;357;p57"/>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8" name="Shape 358"/>
        <p:cNvGrpSpPr/>
        <p:nvPr/>
      </p:nvGrpSpPr>
      <p:grpSpPr>
        <a:xfrm>
          <a:off x="0" y="0"/>
          <a:ext cx="0" cy="0"/>
          <a:chOff x="0" y="0"/>
          <a:chExt cx="0" cy="0"/>
        </a:xfrm>
      </p:grpSpPr>
      <p:sp>
        <p:nvSpPr>
          <p:cNvPr id="359" name="Google Shape;359;p58"/>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60" name="Shape 360"/>
        <p:cNvGrpSpPr/>
        <p:nvPr/>
      </p:nvGrpSpPr>
      <p:grpSpPr>
        <a:xfrm>
          <a:off x="0" y="0"/>
          <a:ext cx="0" cy="0"/>
          <a:chOff x="0" y="0"/>
          <a:chExt cx="0" cy="0"/>
        </a:xfrm>
      </p:grpSpPr>
      <p:sp>
        <p:nvSpPr>
          <p:cNvPr id="361" name="Google Shape;361;p59"/>
          <p:cNvSpPr txBox="1"/>
          <p:nvPr>
            <p:ph idx="1" type="subTitle"/>
          </p:nvPr>
        </p:nvSpPr>
        <p:spPr>
          <a:xfrm>
            <a:off x="609480" y="273600"/>
            <a:ext cx="10973520" cy="53078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62" name="Shape 362"/>
        <p:cNvGrpSpPr/>
        <p:nvPr/>
      </p:nvGrpSpPr>
      <p:grpSpPr>
        <a:xfrm>
          <a:off x="0" y="0"/>
          <a:ext cx="0" cy="0"/>
          <a:chOff x="0" y="0"/>
          <a:chExt cx="0" cy="0"/>
        </a:xfrm>
      </p:grpSpPr>
      <p:sp>
        <p:nvSpPr>
          <p:cNvPr id="363" name="Google Shape;363;p60"/>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4" name="Google Shape;364;p60"/>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5" name="Google Shape;365;p60"/>
          <p:cNvSpPr txBox="1"/>
          <p:nvPr>
            <p:ph idx="2" type="body"/>
          </p:nvPr>
        </p:nvSpPr>
        <p:spPr>
          <a:xfrm>
            <a:off x="62326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6" name="Google Shape;366;p60"/>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67" name="Shape 367"/>
        <p:cNvGrpSpPr/>
        <p:nvPr/>
      </p:nvGrpSpPr>
      <p:grpSpPr>
        <a:xfrm>
          <a:off x="0" y="0"/>
          <a:ext cx="0" cy="0"/>
          <a:chOff x="0" y="0"/>
          <a:chExt cx="0" cy="0"/>
        </a:xfrm>
      </p:grpSpPr>
      <p:sp>
        <p:nvSpPr>
          <p:cNvPr id="368" name="Google Shape;368;p61"/>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61"/>
          <p:cNvSpPr txBox="1"/>
          <p:nvPr>
            <p:ph idx="1" type="body"/>
          </p:nvPr>
        </p:nvSpPr>
        <p:spPr>
          <a:xfrm>
            <a:off x="609480" y="1604520"/>
            <a:ext cx="535500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0" name="Google Shape;370;p61"/>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1" name="Google Shape;371;p61"/>
          <p:cNvSpPr txBox="1"/>
          <p:nvPr>
            <p:ph idx="3"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72" name="Shape 372"/>
        <p:cNvGrpSpPr/>
        <p:nvPr/>
      </p:nvGrpSpPr>
      <p:grpSpPr>
        <a:xfrm>
          <a:off x="0" y="0"/>
          <a:ext cx="0" cy="0"/>
          <a:chOff x="0" y="0"/>
          <a:chExt cx="0" cy="0"/>
        </a:xfrm>
      </p:grpSpPr>
      <p:sp>
        <p:nvSpPr>
          <p:cNvPr id="373" name="Google Shape;373;p62"/>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4" name="Google Shape;374;p62"/>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5" name="Google Shape;375;p62"/>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6" name="Google Shape;376;p62"/>
          <p:cNvSpPr txBox="1"/>
          <p:nvPr>
            <p:ph idx="3"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77" name="Shape 377"/>
        <p:cNvGrpSpPr/>
        <p:nvPr/>
      </p:nvGrpSpPr>
      <p:grpSpPr>
        <a:xfrm>
          <a:off x="0" y="0"/>
          <a:ext cx="0" cy="0"/>
          <a:chOff x="0" y="0"/>
          <a:chExt cx="0" cy="0"/>
        </a:xfrm>
      </p:grpSpPr>
      <p:sp>
        <p:nvSpPr>
          <p:cNvPr id="378" name="Google Shape;378;p63"/>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9" name="Google Shape;379;p63"/>
          <p:cNvSpPr txBox="1"/>
          <p:nvPr>
            <p:ph idx="1" type="body"/>
          </p:nvPr>
        </p:nvSpPr>
        <p:spPr>
          <a:xfrm>
            <a:off x="609480" y="160452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0" name="Google Shape;380;p63"/>
          <p:cNvSpPr txBox="1"/>
          <p:nvPr>
            <p:ph idx="2" type="body"/>
          </p:nvPr>
        </p:nvSpPr>
        <p:spPr>
          <a:xfrm>
            <a:off x="609480" y="3682080"/>
            <a:ext cx="1097352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81" name="Shape 381"/>
        <p:cNvGrpSpPr/>
        <p:nvPr/>
      </p:nvGrpSpPr>
      <p:grpSpPr>
        <a:xfrm>
          <a:off x="0" y="0"/>
          <a:ext cx="0" cy="0"/>
          <a:chOff x="0" y="0"/>
          <a:chExt cx="0" cy="0"/>
        </a:xfrm>
      </p:grpSpPr>
      <p:sp>
        <p:nvSpPr>
          <p:cNvPr id="382" name="Google Shape;382;p64"/>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3" name="Google Shape;383;p64"/>
          <p:cNvSpPr txBox="1"/>
          <p:nvPr>
            <p:ph idx="1" type="body"/>
          </p:nvPr>
        </p:nvSpPr>
        <p:spPr>
          <a:xfrm>
            <a:off x="6094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4" name="Google Shape;384;p64"/>
          <p:cNvSpPr txBox="1"/>
          <p:nvPr>
            <p:ph idx="2" type="body"/>
          </p:nvPr>
        </p:nvSpPr>
        <p:spPr>
          <a:xfrm>
            <a:off x="6232680" y="160452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5" name="Google Shape;385;p64"/>
          <p:cNvSpPr txBox="1"/>
          <p:nvPr>
            <p:ph idx="3" type="body"/>
          </p:nvPr>
        </p:nvSpPr>
        <p:spPr>
          <a:xfrm>
            <a:off x="6094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6" name="Google Shape;386;p64"/>
          <p:cNvSpPr txBox="1"/>
          <p:nvPr>
            <p:ph idx="4" type="body"/>
          </p:nvPr>
        </p:nvSpPr>
        <p:spPr>
          <a:xfrm>
            <a:off x="6232680" y="3682080"/>
            <a:ext cx="53550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87" name="Shape 387"/>
        <p:cNvGrpSpPr/>
        <p:nvPr/>
      </p:nvGrpSpPr>
      <p:grpSpPr>
        <a:xfrm>
          <a:off x="0" y="0"/>
          <a:ext cx="0" cy="0"/>
          <a:chOff x="0" y="0"/>
          <a:chExt cx="0" cy="0"/>
        </a:xfrm>
      </p:grpSpPr>
      <p:sp>
        <p:nvSpPr>
          <p:cNvPr id="388" name="Google Shape;388;p65"/>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65"/>
          <p:cNvSpPr txBox="1"/>
          <p:nvPr>
            <p:ph idx="1" type="body"/>
          </p:nvPr>
        </p:nvSpPr>
        <p:spPr>
          <a:xfrm>
            <a:off x="60948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0" name="Google Shape;390;p65"/>
          <p:cNvSpPr txBox="1"/>
          <p:nvPr>
            <p:ph idx="2" type="body"/>
          </p:nvPr>
        </p:nvSpPr>
        <p:spPr>
          <a:xfrm>
            <a:off x="432000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1" name="Google Shape;391;p65"/>
          <p:cNvSpPr txBox="1"/>
          <p:nvPr>
            <p:ph idx="3" type="body"/>
          </p:nvPr>
        </p:nvSpPr>
        <p:spPr>
          <a:xfrm>
            <a:off x="8030520" y="160452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2" name="Google Shape;392;p65"/>
          <p:cNvSpPr txBox="1"/>
          <p:nvPr>
            <p:ph idx="4" type="body"/>
          </p:nvPr>
        </p:nvSpPr>
        <p:spPr>
          <a:xfrm>
            <a:off x="60948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3" name="Google Shape;393;p65"/>
          <p:cNvSpPr txBox="1"/>
          <p:nvPr>
            <p:ph idx="5" type="body"/>
          </p:nvPr>
        </p:nvSpPr>
        <p:spPr>
          <a:xfrm>
            <a:off x="432000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4" name="Google Shape;394;p65"/>
          <p:cNvSpPr txBox="1"/>
          <p:nvPr>
            <p:ph idx="6" type="body"/>
          </p:nvPr>
        </p:nvSpPr>
        <p:spPr>
          <a:xfrm>
            <a:off x="8030520" y="3682080"/>
            <a:ext cx="353340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9.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6.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9.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4.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 Type="http://schemas.openxmlformats.org/officeDocument/2006/relationships/image" Target="../media/image9.pn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5.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7.xml"/><Relationship Id="rId10" Type="http://schemas.openxmlformats.org/officeDocument/2006/relationships/slideLayout" Target="../slideLayouts/slideLayout56.xml"/><Relationship Id="rId13" Type="http://schemas.openxmlformats.org/officeDocument/2006/relationships/slideLayout" Target="../slideLayouts/slideLayout59.xml"/><Relationship Id="rId12" Type="http://schemas.openxmlformats.org/officeDocument/2006/relationships/slideLayout" Target="../slideLayouts/slideLayout58.xml"/><Relationship Id="rId1" Type="http://schemas.openxmlformats.org/officeDocument/2006/relationships/image" Target="../media/image9.png"/><Relationship Id="rId2" Type="http://schemas.openxmlformats.org/officeDocument/2006/relationships/image" Target="../media/image22.png"/><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5" Type="http://schemas.openxmlformats.org/officeDocument/2006/relationships/theme" Target="../theme/theme2.xml"/><Relationship Id="rId14" Type="http://schemas.openxmlformats.org/officeDocument/2006/relationships/slideLayout" Target="../slideLayouts/slideLayout6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p:nvPr/>
        </p:nvSpPr>
        <p:spPr>
          <a:xfrm>
            <a:off x="-2524680" y="-11160"/>
            <a:ext cx="2424240" cy="6868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2199960" y="108900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VERDE TOR VERGATA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000,125,052 (#007D34)</a:t>
            </a:r>
            <a:endParaRPr b="0" i="0" sz="900" u="none" cap="none" strike="noStrike">
              <a:latin typeface="Arial"/>
              <a:ea typeface="Arial"/>
              <a:cs typeface="Arial"/>
              <a:sym typeface="Arial"/>
            </a:endParaRPr>
          </a:p>
        </p:txBody>
      </p:sp>
      <p:sp>
        <p:nvSpPr>
          <p:cNvPr id="12" name="Google Shape;12;p1"/>
          <p:cNvSpPr/>
          <p:nvPr/>
        </p:nvSpPr>
        <p:spPr>
          <a:xfrm>
            <a:off x="-2454480" y="821880"/>
            <a:ext cx="2179440" cy="12348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FORMAT D'ATENEO 2023 (v.1)</a:t>
            </a:r>
            <a:endParaRPr b="0" i="0" sz="900" u="none" cap="none" strike="noStrike">
              <a:latin typeface="Arial"/>
              <a:ea typeface="Arial"/>
              <a:cs typeface="Arial"/>
              <a:sym typeface="Arial"/>
            </a:endParaRPr>
          </a:p>
        </p:txBody>
      </p:sp>
      <p:sp>
        <p:nvSpPr>
          <p:cNvPr id="13" name="Google Shape;13;p1"/>
          <p:cNvSpPr/>
          <p:nvPr/>
        </p:nvSpPr>
        <p:spPr>
          <a:xfrm flipH="1" rot="10800000">
            <a:off x="-2454120" y="1084680"/>
            <a:ext cx="185040" cy="19836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2453040" y="3213360"/>
            <a:ext cx="2142720" cy="34927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FONT TESTO: CIRCE REGULAR </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Copertina principale o alternativa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a:t>
            </a:r>
            <a:r>
              <a:rPr b="0" i="0" lang="en-US" sz="900" u="none" cap="none" strike="noStrike">
                <a:solidFill>
                  <a:srgbClr val="000000"/>
                </a:solidFill>
                <a:latin typeface="Arial"/>
                <a:ea typeface="Arial"/>
                <a:cs typeface="Arial"/>
                <a:sym typeface="Arial"/>
              </a:rPr>
              <a:t>: corpo 54</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28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Sommario,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Slide di contenuto</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Testo, </a:t>
            </a:r>
            <a:r>
              <a:rPr b="1" i="0" lang="en-US" sz="900" u="none" cap="none" strike="noStrike">
                <a:solidFill>
                  <a:srgbClr val="000000"/>
                </a:solidFill>
                <a:latin typeface="Arial"/>
                <a:ea typeface="Arial"/>
                <a:cs typeface="Arial"/>
                <a:sym typeface="Arial"/>
              </a:rPr>
              <a:t>NERO:</a:t>
            </a:r>
            <a:r>
              <a:rPr b="0" i="0" lang="en-US" sz="900" u="none" cap="none" strike="noStrike">
                <a:solidFill>
                  <a:srgbClr val="000000"/>
                </a:solidFill>
                <a:latin typeface="Arial"/>
                <a:ea typeface="Arial"/>
                <a:cs typeface="Arial"/>
                <a:sym typeface="Arial"/>
              </a:rPr>
              <a:t> corpo 20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Separatore di sezione</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endParaRPr b="0" i="0" sz="900" u="none" cap="none" strike="noStrike">
              <a:latin typeface="Arial"/>
              <a:ea typeface="Arial"/>
              <a:cs typeface="Arial"/>
              <a:sym typeface="Arial"/>
            </a:endParaRPr>
          </a:p>
        </p:txBody>
      </p:sp>
      <p:sp>
        <p:nvSpPr>
          <p:cNvPr id="15" name="Google Shape;15;p1"/>
          <p:cNvSpPr/>
          <p:nvPr/>
        </p:nvSpPr>
        <p:spPr>
          <a:xfrm>
            <a:off x="-2454480" y="1437120"/>
            <a:ext cx="185040" cy="175320"/>
          </a:xfrm>
          <a:prstGeom prst="rect">
            <a:avLst/>
          </a:prstGeom>
          <a:solidFill>
            <a:srgbClr val="ED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2454480" y="1766520"/>
            <a:ext cx="185040" cy="175320"/>
          </a:xfrm>
          <a:prstGeom prst="rect">
            <a:avLst/>
          </a:prstGeom>
          <a:solidFill>
            <a:srgbClr val="961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2454480" y="2096280"/>
            <a:ext cx="185040" cy="17532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381320" y="1437120"/>
            <a:ext cx="185040" cy="175320"/>
          </a:xfrm>
          <a:prstGeom prst="rect">
            <a:avLst/>
          </a:prstGeom>
          <a:solidFill>
            <a:srgbClr val="2349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1381320" y="1766520"/>
            <a:ext cx="185040" cy="175320"/>
          </a:xfrm>
          <a:prstGeom prst="rect">
            <a:avLst/>
          </a:prstGeom>
          <a:solidFill>
            <a:srgbClr val="CB8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381320" y="2096280"/>
            <a:ext cx="185040" cy="175320"/>
          </a:xfrm>
          <a:prstGeom prst="rect">
            <a:avLst/>
          </a:prstGeom>
          <a:solidFill>
            <a:srgbClr val="79C2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2219040" y="142344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MEDICINA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237,33,39</a:t>
            </a:r>
            <a:endParaRPr b="0" i="0" sz="900" u="none" cap="none" strike="noStrike">
              <a:latin typeface="Arial"/>
              <a:ea typeface="Arial"/>
              <a:cs typeface="Arial"/>
              <a:sym typeface="Arial"/>
            </a:endParaRPr>
          </a:p>
        </p:txBody>
      </p:sp>
      <p:sp>
        <p:nvSpPr>
          <p:cNvPr id="22" name="Google Shape;22;p1"/>
          <p:cNvSpPr/>
          <p:nvPr/>
        </p:nvSpPr>
        <p:spPr>
          <a:xfrm>
            <a:off x="-2219040" y="17578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ECONOMIA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150,26,58</a:t>
            </a:r>
            <a:endParaRPr b="0" i="0" sz="900" u="none" cap="none" strike="noStrike">
              <a:latin typeface="Arial"/>
              <a:ea typeface="Arial"/>
              <a:cs typeface="Arial"/>
              <a:sym typeface="Arial"/>
            </a:endParaRPr>
          </a:p>
        </p:txBody>
      </p:sp>
      <p:sp>
        <p:nvSpPr>
          <p:cNvPr id="23" name="Google Shape;23;p1"/>
          <p:cNvSpPr/>
          <p:nvPr/>
        </p:nvSpPr>
        <p:spPr>
          <a:xfrm>
            <a:off x="-221904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INGEGNERIA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 0, 0</a:t>
            </a:r>
            <a:endParaRPr b="0" i="0" sz="900" u="none" cap="none" strike="noStrike">
              <a:latin typeface="Arial"/>
              <a:ea typeface="Arial"/>
              <a:cs typeface="Arial"/>
              <a:sym typeface="Arial"/>
            </a:endParaRPr>
          </a:p>
        </p:txBody>
      </p:sp>
      <p:sp>
        <p:nvSpPr>
          <p:cNvPr id="24" name="Google Shape;24;p1"/>
          <p:cNvSpPr/>
          <p:nvPr/>
        </p:nvSpPr>
        <p:spPr>
          <a:xfrm>
            <a:off x="-1151280" y="1423440"/>
            <a:ext cx="10630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GIURISPRUDENZA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35,73,139</a:t>
            </a:r>
            <a:endParaRPr b="0" i="0" sz="900" u="none" cap="none" strike="noStrike">
              <a:latin typeface="Arial"/>
              <a:ea typeface="Arial"/>
              <a:cs typeface="Arial"/>
              <a:sym typeface="Arial"/>
            </a:endParaRPr>
          </a:p>
        </p:txBody>
      </p:sp>
      <p:sp>
        <p:nvSpPr>
          <p:cNvPr id="25" name="Google Shape;25;p1"/>
          <p:cNvSpPr/>
          <p:nvPr/>
        </p:nvSpPr>
        <p:spPr>
          <a:xfrm>
            <a:off x="-1151280" y="1757880"/>
            <a:ext cx="10936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LETTERE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203,135,186</a:t>
            </a:r>
            <a:endParaRPr b="0" i="0" sz="900" u="none" cap="none" strike="noStrike">
              <a:latin typeface="Arial"/>
              <a:ea typeface="Arial"/>
              <a:cs typeface="Arial"/>
              <a:sym typeface="Arial"/>
            </a:endParaRPr>
          </a:p>
        </p:txBody>
      </p:sp>
      <p:sp>
        <p:nvSpPr>
          <p:cNvPr id="26" name="Google Shape;26;p1"/>
          <p:cNvSpPr/>
          <p:nvPr/>
        </p:nvSpPr>
        <p:spPr>
          <a:xfrm>
            <a:off x="-115128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SCIENZE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121,194,90</a:t>
            </a:r>
            <a:endParaRPr b="0" i="0" sz="900" u="none" cap="none" strike="noStrike">
              <a:latin typeface="Arial"/>
              <a:ea typeface="Arial"/>
              <a:cs typeface="Arial"/>
              <a:sym typeface="Arial"/>
            </a:endParaRPr>
          </a:p>
        </p:txBody>
      </p:sp>
      <p:sp>
        <p:nvSpPr>
          <p:cNvPr id="27" name="Google Shape;27;p1"/>
          <p:cNvSpPr/>
          <p:nvPr/>
        </p:nvSpPr>
        <p:spPr>
          <a:xfrm>
            <a:off x="-2454120" y="2425680"/>
            <a:ext cx="184680" cy="195840"/>
          </a:xfrm>
          <a:prstGeom prst="rect">
            <a:avLst/>
          </a:prstGeom>
          <a:solidFill>
            <a:srgbClr val="8989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2199960" y="242712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GRIGIO GRAFICA</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127,127,127</a:t>
            </a:r>
            <a:endParaRPr b="0" i="0" sz="900" u="none" cap="none" strike="noStrike">
              <a:latin typeface="Arial"/>
              <a:ea typeface="Arial"/>
              <a:cs typeface="Arial"/>
              <a:sym typeface="Arial"/>
            </a:endParaRPr>
          </a:p>
        </p:txBody>
      </p:sp>
      <p:sp>
        <p:nvSpPr>
          <p:cNvPr id="29" name="Google Shape;29;p1"/>
          <p:cNvSpPr/>
          <p:nvPr/>
        </p:nvSpPr>
        <p:spPr>
          <a:xfrm>
            <a:off x="-2454480" y="2775600"/>
            <a:ext cx="184680" cy="195840"/>
          </a:xfrm>
          <a:prstGeom prst="rect">
            <a:avLst/>
          </a:prstGeom>
          <a:solidFill>
            <a:srgbClr val="F089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2200320" y="276156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ARANCIONE</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240,137,34</a:t>
            </a:r>
            <a:endParaRPr b="0" i="0" sz="900" u="none" cap="none" strike="noStrike">
              <a:latin typeface="Arial"/>
              <a:ea typeface="Arial"/>
              <a:cs typeface="Arial"/>
              <a:sym typeface="Arial"/>
            </a:endParaRPr>
          </a:p>
        </p:txBody>
      </p:sp>
      <p:sp>
        <p:nvSpPr>
          <p:cNvPr id="31" name="Google Shape;31;p1"/>
          <p:cNvSpPr/>
          <p:nvPr/>
        </p:nvSpPr>
        <p:spPr>
          <a:xfrm>
            <a:off x="-1357560" y="2778120"/>
            <a:ext cx="184680" cy="195840"/>
          </a:xfrm>
          <a:prstGeom prst="rect">
            <a:avLst/>
          </a:prstGeom>
          <a:solidFill>
            <a:srgbClr val="1D8B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1103400" y="2763000"/>
            <a:ext cx="93204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AZZURRO</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29,139,194</a:t>
            </a:r>
            <a:endParaRPr b="0" i="0" sz="900" u="none" cap="none" strike="noStrike">
              <a:latin typeface="Arial"/>
              <a:ea typeface="Arial"/>
              <a:cs typeface="Arial"/>
              <a:sym typeface="Arial"/>
            </a:endParaRPr>
          </a:p>
        </p:txBody>
      </p:sp>
      <p:pic>
        <p:nvPicPr>
          <p:cNvPr id="33" name="Google Shape;33;p1"/>
          <p:cNvPicPr preferRelativeResize="0"/>
          <p:nvPr/>
        </p:nvPicPr>
        <p:blipFill rotWithShape="1">
          <a:blip r:embed="rId1">
            <a:alphaModFix/>
          </a:blip>
          <a:srcRect b="0" l="0" r="0" t="0"/>
          <a:stretch/>
        </p:blipFill>
        <p:spPr>
          <a:xfrm>
            <a:off x="-2472840" y="69840"/>
            <a:ext cx="2307960" cy="549000"/>
          </a:xfrm>
          <a:prstGeom prst="rect">
            <a:avLst/>
          </a:prstGeom>
          <a:noFill/>
          <a:ln>
            <a:noFill/>
          </a:ln>
        </p:spPr>
      </p:pic>
      <p:sp>
        <p:nvSpPr>
          <p:cNvPr id="34" name="Google Shape;34;p1"/>
          <p:cNvSpPr/>
          <p:nvPr/>
        </p:nvSpPr>
        <p:spPr>
          <a:xfrm>
            <a:off x="0" y="3317040"/>
            <a:ext cx="12192480" cy="3536640"/>
          </a:xfrm>
          <a:prstGeom prst="rect">
            <a:avLst/>
          </a:prstGeom>
          <a:solidFill>
            <a:srgbClr val="007D34"/>
          </a:solidFill>
          <a:ln cap="flat" cmpd="sng" w="19075">
            <a:solidFill>
              <a:srgbClr val="007C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4572000" y="5010120"/>
            <a:ext cx="6754320" cy="58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 name="Google Shape;36;p1"/>
          <p:cNvPicPr preferRelativeResize="0"/>
          <p:nvPr/>
        </p:nvPicPr>
        <p:blipFill rotWithShape="1">
          <a:blip r:embed="rId1">
            <a:alphaModFix/>
          </a:blip>
          <a:srcRect b="0" l="0" r="0" t="0"/>
          <a:stretch/>
        </p:blipFill>
        <p:spPr>
          <a:xfrm>
            <a:off x="7533720" y="292680"/>
            <a:ext cx="4474800" cy="1065240"/>
          </a:xfrm>
          <a:prstGeom prst="rect">
            <a:avLst/>
          </a:prstGeom>
          <a:noFill/>
          <a:ln>
            <a:noFill/>
          </a:ln>
        </p:spPr>
      </p:pic>
      <p:sp>
        <p:nvSpPr>
          <p:cNvPr id="37" name="Google Shape;37;p1"/>
          <p:cNvSpPr txBox="1"/>
          <p:nvPr>
            <p:ph type="title"/>
          </p:nvPr>
        </p:nvSpPr>
        <p:spPr>
          <a:xfrm>
            <a:off x="609480" y="273600"/>
            <a:ext cx="10973160" cy="1144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 name="Google Shape;38;p1"/>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14"/>
          <p:cNvSpPr/>
          <p:nvPr/>
        </p:nvSpPr>
        <p:spPr>
          <a:xfrm>
            <a:off x="-2524680" y="-11160"/>
            <a:ext cx="2424240" cy="6868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2199960" y="108900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VERDE TOR VERGATA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000,125,052 (#007D34)</a:t>
            </a:r>
            <a:endParaRPr b="0" i="0" sz="900" u="none" cap="none" strike="noStrike">
              <a:latin typeface="Arial"/>
              <a:ea typeface="Arial"/>
              <a:cs typeface="Arial"/>
              <a:sym typeface="Arial"/>
            </a:endParaRPr>
          </a:p>
        </p:txBody>
      </p:sp>
      <p:sp>
        <p:nvSpPr>
          <p:cNvPr id="90" name="Google Shape;90;p14"/>
          <p:cNvSpPr/>
          <p:nvPr/>
        </p:nvSpPr>
        <p:spPr>
          <a:xfrm>
            <a:off x="-2454480" y="821880"/>
            <a:ext cx="2179440" cy="12348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FORMAT D'ATENEO 2023 (v.1)</a:t>
            </a:r>
            <a:endParaRPr b="0" i="0" sz="900" u="none" cap="none" strike="noStrike">
              <a:latin typeface="Arial"/>
              <a:ea typeface="Arial"/>
              <a:cs typeface="Arial"/>
              <a:sym typeface="Arial"/>
            </a:endParaRPr>
          </a:p>
        </p:txBody>
      </p:sp>
      <p:sp>
        <p:nvSpPr>
          <p:cNvPr id="91" name="Google Shape;91;p14"/>
          <p:cNvSpPr/>
          <p:nvPr/>
        </p:nvSpPr>
        <p:spPr>
          <a:xfrm flipH="1" rot="10800000">
            <a:off x="-2454120" y="1084680"/>
            <a:ext cx="185040" cy="19836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2453040" y="3213360"/>
            <a:ext cx="2142720" cy="34927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FONT TESTO: CIRCE REGULAR </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Copertina principale o alternativa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a:t>
            </a:r>
            <a:r>
              <a:rPr b="0" i="0" lang="en-US" sz="900" u="none" cap="none" strike="noStrike">
                <a:solidFill>
                  <a:srgbClr val="000000"/>
                </a:solidFill>
                <a:latin typeface="Arial"/>
                <a:ea typeface="Arial"/>
                <a:cs typeface="Arial"/>
                <a:sym typeface="Arial"/>
              </a:rPr>
              <a:t>: corpo 54</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28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Sommario,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Slide di contenuto</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Testo, </a:t>
            </a:r>
            <a:r>
              <a:rPr b="1" i="0" lang="en-US" sz="900" u="none" cap="none" strike="noStrike">
                <a:solidFill>
                  <a:srgbClr val="000000"/>
                </a:solidFill>
                <a:latin typeface="Arial"/>
                <a:ea typeface="Arial"/>
                <a:cs typeface="Arial"/>
                <a:sym typeface="Arial"/>
              </a:rPr>
              <a:t>NERO:</a:t>
            </a:r>
            <a:r>
              <a:rPr b="0" i="0" lang="en-US" sz="900" u="none" cap="none" strike="noStrike">
                <a:solidFill>
                  <a:srgbClr val="000000"/>
                </a:solidFill>
                <a:latin typeface="Arial"/>
                <a:ea typeface="Arial"/>
                <a:cs typeface="Arial"/>
                <a:sym typeface="Arial"/>
              </a:rPr>
              <a:t> corpo 20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Separatore di sezione</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endParaRPr b="0" i="0" sz="900" u="none" cap="none" strike="noStrike">
              <a:latin typeface="Arial"/>
              <a:ea typeface="Arial"/>
              <a:cs typeface="Arial"/>
              <a:sym typeface="Arial"/>
            </a:endParaRPr>
          </a:p>
        </p:txBody>
      </p:sp>
      <p:sp>
        <p:nvSpPr>
          <p:cNvPr id="93" name="Google Shape;93;p14"/>
          <p:cNvSpPr/>
          <p:nvPr/>
        </p:nvSpPr>
        <p:spPr>
          <a:xfrm>
            <a:off x="-2454480" y="1437120"/>
            <a:ext cx="185040" cy="175320"/>
          </a:xfrm>
          <a:prstGeom prst="rect">
            <a:avLst/>
          </a:prstGeom>
          <a:solidFill>
            <a:srgbClr val="ED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2454480" y="1766520"/>
            <a:ext cx="185040" cy="175320"/>
          </a:xfrm>
          <a:prstGeom prst="rect">
            <a:avLst/>
          </a:prstGeom>
          <a:solidFill>
            <a:srgbClr val="961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2454480" y="2096280"/>
            <a:ext cx="185040" cy="17532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1381320" y="1437120"/>
            <a:ext cx="185040" cy="175320"/>
          </a:xfrm>
          <a:prstGeom prst="rect">
            <a:avLst/>
          </a:prstGeom>
          <a:solidFill>
            <a:srgbClr val="2349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1381320" y="1766520"/>
            <a:ext cx="185040" cy="175320"/>
          </a:xfrm>
          <a:prstGeom prst="rect">
            <a:avLst/>
          </a:prstGeom>
          <a:solidFill>
            <a:srgbClr val="CB8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1381320" y="2096280"/>
            <a:ext cx="185040" cy="175320"/>
          </a:xfrm>
          <a:prstGeom prst="rect">
            <a:avLst/>
          </a:prstGeom>
          <a:solidFill>
            <a:srgbClr val="79C2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2219040" y="142344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MEDICINA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237,33,39</a:t>
            </a:r>
            <a:endParaRPr b="0" i="0" sz="900" u="none" cap="none" strike="noStrike">
              <a:latin typeface="Arial"/>
              <a:ea typeface="Arial"/>
              <a:cs typeface="Arial"/>
              <a:sym typeface="Arial"/>
            </a:endParaRPr>
          </a:p>
        </p:txBody>
      </p:sp>
      <p:sp>
        <p:nvSpPr>
          <p:cNvPr id="100" name="Google Shape;100;p14"/>
          <p:cNvSpPr/>
          <p:nvPr/>
        </p:nvSpPr>
        <p:spPr>
          <a:xfrm>
            <a:off x="-2219040" y="17578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ECONOMIA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150,26,58</a:t>
            </a:r>
            <a:endParaRPr b="0" i="0" sz="900" u="none" cap="none" strike="noStrike">
              <a:latin typeface="Arial"/>
              <a:ea typeface="Arial"/>
              <a:cs typeface="Arial"/>
              <a:sym typeface="Arial"/>
            </a:endParaRPr>
          </a:p>
        </p:txBody>
      </p:sp>
      <p:sp>
        <p:nvSpPr>
          <p:cNvPr id="101" name="Google Shape;101;p14"/>
          <p:cNvSpPr/>
          <p:nvPr/>
        </p:nvSpPr>
        <p:spPr>
          <a:xfrm>
            <a:off x="-221904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INGEGNERIA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 0, 0</a:t>
            </a:r>
            <a:endParaRPr b="0" i="0" sz="900" u="none" cap="none" strike="noStrike">
              <a:latin typeface="Arial"/>
              <a:ea typeface="Arial"/>
              <a:cs typeface="Arial"/>
              <a:sym typeface="Arial"/>
            </a:endParaRPr>
          </a:p>
        </p:txBody>
      </p:sp>
      <p:sp>
        <p:nvSpPr>
          <p:cNvPr id="102" name="Google Shape;102;p14"/>
          <p:cNvSpPr/>
          <p:nvPr/>
        </p:nvSpPr>
        <p:spPr>
          <a:xfrm>
            <a:off x="-1151280" y="1423440"/>
            <a:ext cx="10630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GIURISPRUDENZA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35,73,139</a:t>
            </a:r>
            <a:endParaRPr b="0" i="0" sz="900" u="none" cap="none" strike="noStrike">
              <a:latin typeface="Arial"/>
              <a:ea typeface="Arial"/>
              <a:cs typeface="Arial"/>
              <a:sym typeface="Arial"/>
            </a:endParaRPr>
          </a:p>
        </p:txBody>
      </p:sp>
      <p:sp>
        <p:nvSpPr>
          <p:cNvPr id="103" name="Google Shape;103;p14"/>
          <p:cNvSpPr/>
          <p:nvPr/>
        </p:nvSpPr>
        <p:spPr>
          <a:xfrm>
            <a:off x="-1151280" y="1757880"/>
            <a:ext cx="10936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LETTERE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203,135,186</a:t>
            </a:r>
            <a:endParaRPr b="0" i="0" sz="900" u="none" cap="none" strike="noStrike">
              <a:latin typeface="Arial"/>
              <a:ea typeface="Arial"/>
              <a:cs typeface="Arial"/>
              <a:sym typeface="Arial"/>
            </a:endParaRPr>
          </a:p>
        </p:txBody>
      </p:sp>
      <p:sp>
        <p:nvSpPr>
          <p:cNvPr id="104" name="Google Shape;104;p14"/>
          <p:cNvSpPr/>
          <p:nvPr/>
        </p:nvSpPr>
        <p:spPr>
          <a:xfrm>
            <a:off x="-115128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SCIENZE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121,194,90</a:t>
            </a:r>
            <a:endParaRPr b="0" i="0" sz="900" u="none" cap="none" strike="noStrike">
              <a:latin typeface="Arial"/>
              <a:ea typeface="Arial"/>
              <a:cs typeface="Arial"/>
              <a:sym typeface="Arial"/>
            </a:endParaRPr>
          </a:p>
        </p:txBody>
      </p:sp>
      <p:sp>
        <p:nvSpPr>
          <p:cNvPr id="105" name="Google Shape;105;p14"/>
          <p:cNvSpPr/>
          <p:nvPr/>
        </p:nvSpPr>
        <p:spPr>
          <a:xfrm>
            <a:off x="-2454120" y="2425680"/>
            <a:ext cx="184680" cy="195840"/>
          </a:xfrm>
          <a:prstGeom prst="rect">
            <a:avLst/>
          </a:prstGeom>
          <a:solidFill>
            <a:srgbClr val="8989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2199960" y="242712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GRIGIO GRAFICA</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127,127,127</a:t>
            </a:r>
            <a:endParaRPr b="0" i="0" sz="900" u="none" cap="none" strike="noStrike">
              <a:latin typeface="Arial"/>
              <a:ea typeface="Arial"/>
              <a:cs typeface="Arial"/>
              <a:sym typeface="Arial"/>
            </a:endParaRPr>
          </a:p>
        </p:txBody>
      </p:sp>
      <p:sp>
        <p:nvSpPr>
          <p:cNvPr id="107" name="Google Shape;107;p14"/>
          <p:cNvSpPr/>
          <p:nvPr/>
        </p:nvSpPr>
        <p:spPr>
          <a:xfrm>
            <a:off x="-2454480" y="2775600"/>
            <a:ext cx="184680" cy="195840"/>
          </a:xfrm>
          <a:prstGeom prst="rect">
            <a:avLst/>
          </a:prstGeom>
          <a:solidFill>
            <a:srgbClr val="F089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2200320" y="276156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ARANCIONE</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240,137,34</a:t>
            </a:r>
            <a:endParaRPr b="0" i="0" sz="900" u="none" cap="none" strike="noStrike">
              <a:latin typeface="Arial"/>
              <a:ea typeface="Arial"/>
              <a:cs typeface="Arial"/>
              <a:sym typeface="Arial"/>
            </a:endParaRPr>
          </a:p>
        </p:txBody>
      </p:sp>
      <p:sp>
        <p:nvSpPr>
          <p:cNvPr id="109" name="Google Shape;109;p14"/>
          <p:cNvSpPr/>
          <p:nvPr/>
        </p:nvSpPr>
        <p:spPr>
          <a:xfrm>
            <a:off x="-1357560" y="2778120"/>
            <a:ext cx="184680" cy="195840"/>
          </a:xfrm>
          <a:prstGeom prst="rect">
            <a:avLst/>
          </a:prstGeom>
          <a:solidFill>
            <a:srgbClr val="1D8B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1103400" y="2763000"/>
            <a:ext cx="93204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AZZURRO</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29,139,194</a:t>
            </a:r>
            <a:endParaRPr b="0" i="0" sz="900" u="none" cap="none" strike="noStrike">
              <a:latin typeface="Arial"/>
              <a:ea typeface="Arial"/>
              <a:cs typeface="Arial"/>
              <a:sym typeface="Arial"/>
            </a:endParaRPr>
          </a:p>
        </p:txBody>
      </p:sp>
      <p:pic>
        <p:nvPicPr>
          <p:cNvPr id="111" name="Google Shape;111;p14"/>
          <p:cNvPicPr preferRelativeResize="0"/>
          <p:nvPr/>
        </p:nvPicPr>
        <p:blipFill rotWithShape="1">
          <a:blip r:embed="rId1">
            <a:alphaModFix/>
          </a:blip>
          <a:srcRect b="0" l="0" r="0" t="0"/>
          <a:stretch/>
        </p:blipFill>
        <p:spPr>
          <a:xfrm>
            <a:off x="-2472840" y="69840"/>
            <a:ext cx="2307960" cy="549000"/>
          </a:xfrm>
          <a:prstGeom prst="rect">
            <a:avLst/>
          </a:prstGeom>
          <a:noFill/>
          <a:ln>
            <a:noFill/>
          </a:ln>
        </p:spPr>
      </p:pic>
      <p:pic>
        <p:nvPicPr>
          <p:cNvPr id="112" name="Google Shape;112;p14"/>
          <p:cNvPicPr preferRelativeResize="0"/>
          <p:nvPr/>
        </p:nvPicPr>
        <p:blipFill rotWithShape="1">
          <a:blip r:embed="rId1">
            <a:alphaModFix/>
          </a:blip>
          <a:srcRect b="0" l="0" r="0" t="0"/>
          <a:stretch/>
        </p:blipFill>
        <p:spPr>
          <a:xfrm>
            <a:off x="10042560" y="169200"/>
            <a:ext cx="2030760" cy="483120"/>
          </a:xfrm>
          <a:prstGeom prst="rect">
            <a:avLst/>
          </a:prstGeom>
          <a:noFill/>
          <a:ln>
            <a:noFill/>
          </a:ln>
        </p:spPr>
      </p:pic>
      <p:sp>
        <p:nvSpPr>
          <p:cNvPr id="113" name="Google Shape;113;p14"/>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4" name="Google Shape;114;p14"/>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27"/>
          <p:cNvSpPr/>
          <p:nvPr/>
        </p:nvSpPr>
        <p:spPr>
          <a:xfrm>
            <a:off x="-2524680" y="-11160"/>
            <a:ext cx="2424240" cy="6868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7"/>
          <p:cNvSpPr/>
          <p:nvPr/>
        </p:nvSpPr>
        <p:spPr>
          <a:xfrm>
            <a:off x="-2199960" y="108900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VERDE TOR VERGATA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000,125,052 (#007D34)</a:t>
            </a:r>
            <a:endParaRPr b="0" i="0" sz="900" u="none" cap="none" strike="noStrike">
              <a:latin typeface="Arial"/>
              <a:ea typeface="Arial"/>
              <a:cs typeface="Arial"/>
              <a:sym typeface="Arial"/>
            </a:endParaRPr>
          </a:p>
        </p:txBody>
      </p:sp>
      <p:sp>
        <p:nvSpPr>
          <p:cNvPr id="166" name="Google Shape;166;p27"/>
          <p:cNvSpPr/>
          <p:nvPr/>
        </p:nvSpPr>
        <p:spPr>
          <a:xfrm>
            <a:off x="-2454480" y="821880"/>
            <a:ext cx="2179440" cy="12348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FORMAT D'ATENEO 2023 (v.1)</a:t>
            </a:r>
            <a:endParaRPr b="0" i="0" sz="900" u="none" cap="none" strike="noStrike">
              <a:latin typeface="Arial"/>
              <a:ea typeface="Arial"/>
              <a:cs typeface="Arial"/>
              <a:sym typeface="Arial"/>
            </a:endParaRPr>
          </a:p>
        </p:txBody>
      </p:sp>
      <p:sp>
        <p:nvSpPr>
          <p:cNvPr id="167" name="Google Shape;167;p27"/>
          <p:cNvSpPr/>
          <p:nvPr/>
        </p:nvSpPr>
        <p:spPr>
          <a:xfrm flipH="1" rot="10800000">
            <a:off x="-2454120" y="1084680"/>
            <a:ext cx="185040" cy="19836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7"/>
          <p:cNvSpPr/>
          <p:nvPr/>
        </p:nvSpPr>
        <p:spPr>
          <a:xfrm>
            <a:off x="-2453040" y="3213360"/>
            <a:ext cx="2142720" cy="34927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FONT TESTO: CIRCE REGULAR </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Copertina principale o alternativa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a:t>
            </a:r>
            <a:r>
              <a:rPr b="0" i="0" lang="en-US" sz="900" u="none" cap="none" strike="noStrike">
                <a:solidFill>
                  <a:srgbClr val="000000"/>
                </a:solidFill>
                <a:latin typeface="Arial"/>
                <a:ea typeface="Arial"/>
                <a:cs typeface="Arial"/>
                <a:sym typeface="Arial"/>
              </a:rPr>
              <a:t>: corpo 54</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28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Sommario,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Slide di contenuto</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Testo, </a:t>
            </a:r>
            <a:r>
              <a:rPr b="1" i="0" lang="en-US" sz="900" u="none" cap="none" strike="noStrike">
                <a:solidFill>
                  <a:srgbClr val="000000"/>
                </a:solidFill>
                <a:latin typeface="Arial"/>
                <a:ea typeface="Arial"/>
                <a:cs typeface="Arial"/>
                <a:sym typeface="Arial"/>
              </a:rPr>
              <a:t>NERO:</a:t>
            </a:r>
            <a:r>
              <a:rPr b="0" i="0" lang="en-US" sz="900" u="none" cap="none" strike="noStrike">
                <a:solidFill>
                  <a:srgbClr val="000000"/>
                </a:solidFill>
                <a:latin typeface="Arial"/>
                <a:ea typeface="Arial"/>
                <a:cs typeface="Arial"/>
                <a:sym typeface="Arial"/>
              </a:rPr>
              <a:t> corpo 20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Separatore di sezione</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endParaRPr b="0" i="0" sz="900" u="none" cap="none" strike="noStrike">
              <a:latin typeface="Arial"/>
              <a:ea typeface="Arial"/>
              <a:cs typeface="Arial"/>
              <a:sym typeface="Arial"/>
            </a:endParaRPr>
          </a:p>
        </p:txBody>
      </p:sp>
      <p:sp>
        <p:nvSpPr>
          <p:cNvPr id="169" name="Google Shape;169;p27"/>
          <p:cNvSpPr/>
          <p:nvPr/>
        </p:nvSpPr>
        <p:spPr>
          <a:xfrm>
            <a:off x="-2454480" y="1437120"/>
            <a:ext cx="185040" cy="175320"/>
          </a:xfrm>
          <a:prstGeom prst="rect">
            <a:avLst/>
          </a:prstGeom>
          <a:solidFill>
            <a:srgbClr val="ED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7"/>
          <p:cNvSpPr/>
          <p:nvPr/>
        </p:nvSpPr>
        <p:spPr>
          <a:xfrm>
            <a:off x="-2454480" y="1766520"/>
            <a:ext cx="185040" cy="175320"/>
          </a:xfrm>
          <a:prstGeom prst="rect">
            <a:avLst/>
          </a:prstGeom>
          <a:solidFill>
            <a:srgbClr val="961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7"/>
          <p:cNvSpPr/>
          <p:nvPr/>
        </p:nvSpPr>
        <p:spPr>
          <a:xfrm>
            <a:off x="-2454480" y="2096280"/>
            <a:ext cx="185040" cy="17532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7"/>
          <p:cNvSpPr/>
          <p:nvPr/>
        </p:nvSpPr>
        <p:spPr>
          <a:xfrm>
            <a:off x="-1381320" y="1437120"/>
            <a:ext cx="185040" cy="175320"/>
          </a:xfrm>
          <a:prstGeom prst="rect">
            <a:avLst/>
          </a:prstGeom>
          <a:solidFill>
            <a:srgbClr val="2349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7"/>
          <p:cNvSpPr/>
          <p:nvPr/>
        </p:nvSpPr>
        <p:spPr>
          <a:xfrm>
            <a:off x="-1381320" y="1766520"/>
            <a:ext cx="185040" cy="175320"/>
          </a:xfrm>
          <a:prstGeom prst="rect">
            <a:avLst/>
          </a:prstGeom>
          <a:solidFill>
            <a:srgbClr val="CB8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7"/>
          <p:cNvSpPr/>
          <p:nvPr/>
        </p:nvSpPr>
        <p:spPr>
          <a:xfrm>
            <a:off x="-1381320" y="2096280"/>
            <a:ext cx="185040" cy="175320"/>
          </a:xfrm>
          <a:prstGeom prst="rect">
            <a:avLst/>
          </a:prstGeom>
          <a:solidFill>
            <a:srgbClr val="79C2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7"/>
          <p:cNvSpPr/>
          <p:nvPr/>
        </p:nvSpPr>
        <p:spPr>
          <a:xfrm>
            <a:off x="-2219040" y="142344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MEDICINA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237,33,39</a:t>
            </a:r>
            <a:endParaRPr b="0" i="0" sz="900" u="none" cap="none" strike="noStrike">
              <a:latin typeface="Arial"/>
              <a:ea typeface="Arial"/>
              <a:cs typeface="Arial"/>
              <a:sym typeface="Arial"/>
            </a:endParaRPr>
          </a:p>
        </p:txBody>
      </p:sp>
      <p:sp>
        <p:nvSpPr>
          <p:cNvPr id="176" name="Google Shape;176;p27"/>
          <p:cNvSpPr/>
          <p:nvPr/>
        </p:nvSpPr>
        <p:spPr>
          <a:xfrm>
            <a:off x="-2219040" y="17578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ECONOMIA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150,26,58</a:t>
            </a:r>
            <a:endParaRPr b="0" i="0" sz="900" u="none" cap="none" strike="noStrike">
              <a:latin typeface="Arial"/>
              <a:ea typeface="Arial"/>
              <a:cs typeface="Arial"/>
              <a:sym typeface="Arial"/>
            </a:endParaRPr>
          </a:p>
        </p:txBody>
      </p:sp>
      <p:sp>
        <p:nvSpPr>
          <p:cNvPr id="177" name="Google Shape;177;p27"/>
          <p:cNvSpPr/>
          <p:nvPr/>
        </p:nvSpPr>
        <p:spPr>
          <a:xfrm>
            <a:off x="-221904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INGEGNERIA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 0, 0</a:t>
            </a:r>
            <a:endParaRPr b="0" i="0" sz="900" u="none" cap="none" strike="noStrike">
              <a:latin typeface="Arial"/>
              <a:ea typeface="Arial"/>
              <a:cs typeface="Arial"/>
              <a:sym typeface="Arial"/>
            </a:endParaRPr>
          </a:p>
        </p:txBody>
      </p:sp>
      <p:sp>
        <p:nvSpPr>
          <p:cNvPr id="178" name="Google Shape;178;p27"/>
          <p:cNvSpPr/>
          <p:nvPr/>
        </p:nvSpPr>
        <p:spPr>
          <a:xfrm>
            <a:off x="-1151280" y="1423440"/>
            <a:ext cx="10630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GIURISPRUDENZA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35,73,139</a:t>
            </a:r>
            <a:endParaRPr b="0" i="0" sz="900" u="none" cap="none" strike="noStrike">
              <a:latin typeface="Arial"/>
              <a:ea typeface="Arial"/>
              <a:cs typeface="Arial"/>
              <a:sym typeface="Arial"/>
            </a:endParaRPr>
          </a:p>
        </p:txBody>
      </p:sp>
      <p:sp>
        <p:nvSpPr>
          <p:cNvPr id="179" name="Google Shape;179;p27"/>
          <p:cNvSpPr/>
          <p:nvPr/>
        </p:nvSpPr>
        <p:spPr>
          <a:xfrm>
            <a:off x="-1151280" y="1757880"/>
            <a:ext cx="10936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LETTERE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203,135,186</a:t>
            </a:r>
            <a:endParaRPr b="0" i="0" sz="900" u="none" cap="none" strike="noStrike">
              <a:latin typeface="Arial"/>
              <a:ea typeface="Arial"/>
              <a:cs typeface="Arial"/>
              <a:sym typeface="Arial"/>
            </a:endParaRPr>
          </a:p>
        </p:txBody>
      </p:sp>
      <p:sp>
        <p:nvSpPr>
          <p:cNvPr id="180" name="Google Shape;180;p27"/>
          <p:cNvSpPr/>
          <p:nvPr/>
        </p:nvSpPr>
        <p:spPr>
          <a:xfrm>
            <a:off x="-115128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SCIENZE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121,194,90</a:t>
            </a:r>
            <a:endParaRPr b="0" i="0" sz="900" u="none" cap="none" strike="noStrike">
              <a:latin typeface="Arial"/>
              <a:ea typeface="Arial"/>
              <a:cs typeface="Arial"/>
              <a:sym typeface="Arial"/>
            </a:endParaRPr>
          </a:p>
        </p:txBody>
      </p:sp>
      <p:sp>
        <p:nvSpPr>
          <p:cNvPr id="181" name="Google Shape;181;p27"/>
          <p:cNvSpPr/>
          <p:nvPr/>
        </p:nvSpPr>
        <p:spPr>
          <a:xfrm>
            <a:off x="-2454120" y="2425680"/>
            <a:ext cx="184680" cy="195840"/>
          </a:xfrm>
          <a:prstGeom prst="rect">
            <a:avLst/>
          </a:prstGeom>
          <a:solidFill>
            <a:srgbClr val="8989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7"/>
          <p:cNvSpPr/>
          <p:nvPr/>
        </p:nvSpPr>
        <p:spPr>
          <a:xfrm>
            <a:off x="-2199960" y="242712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GRIGIO GRAFICA</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127,127,127</a:t>
            </a:r>
            <a:endParaRPr b="0" i="0" sz="900" u="none" cap="none" strike="noStrike">
              <a:latin typeface="Arial"/>
              <a:ea typeface="Arial"/>
              <a:cs typeface="Arial"/>
              <a:sym typeface="Arial"/>
            </a:endParaRPr>
          </a:p>
        </p:txBody>
      </p:sp>
      <p:sp>
        <p:nvSpPr>
          <p:cNvPr id="183" name="Google Shape;183;p27"/>
          <p:cNvSpPr/>
          <p:nvPr/>
        </p:nvSpPr>
        <p:spPr>
          <a:xfrm>
            <a:off x="-2454480" y="2775600"/>
            <a:ext cx="184680" cy="195840"/>
          </a:xfrm>
          <a:prstGeom prst="rect">
            <a:avLst/>
          </a:prstGeom>
          <a:solidFill>
            <a:srgbClr val="F089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a:off x="-2200320" y="276156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ARANCIONE</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240,137,34</a:t>
            </a:r>
            <a:endParaRPr b="0" i="0" sz="900" u="none" cap="none" strike="noStrike">
              <a:latin typeface="Arial"/>
              <a:ea typeface="Arial"/>
              <a:cs typeface="Arial"/>
              <a:sym typeface="Arial"/>
            </a:endParaRPr>
          </a:p>
        </p:txBody>
      </p:sp>
      <p:sp>
        <p:nvSpPr>
          <p:cNvPr id="185" name="Google Shape;185;p27"/>
          <p:cNvSpPr/>
          <p:nvPr/>
        </p:nvSpPr>
        <p:spPr>
          <a:xfrm>
            <a:off x="-1357560" y="2778120"/>
            <a:ext cx="184680" cy="195840"/>
          </a:xfrm>
          <a:prstGeom prst="rect">
            <a:avLst/>
          </a:prstGeom>
          <a:solidFill>
            <a:srgbClr val="1D8B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1103400" y="2763000"/>
            <a:ext cx="93204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AZZURRO</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29,139,194</a:t>
            </a:r>
            <a:endParaRPr b="0" i="0" sz="900" u="none" cap="none" strike="noStrike">
              <a:latin typeface="Arial"/>
              <a:ea typeface="Arial"/>
              <a:cs typeface="Arial"/>
              <a:sym typeface="Arial"/>
            </a:endParaRPr>
          </a:p>
        </p:txBody>
      </p:sp>
      <p:pic>
        <p:nvPicPr>
          <p:cNvPr id="187" name="Google Shape;187;p27"/>
          <p:cNvPicPr preferRelativeResize="0"/>
          <p:nvPr/>
        </p:nvPicPr>
        <p:blipFill rotWithShape="1">
          <a:blip r:embed="rId1">
            <a:alphaModFix/>
          </a:blip>
          <a:srcRect b="0" l="0" r="0" t="0"/>
          <a:stretch/>
        </p:blipFill>
        <p:spPr>
          <a:xfrm>
            <a:off x="-2472840" y="69840"/>
            <a:ext cx="2307960" cy="549000"/>
          </a:xfrm>
          <a:prstGeom prst="rect">
            <a:avLst/>
          </a:prstGeom>
          <a:noFill/>
          <a:ln>
            <a:noFill/>
          </a:ln>
        </p:spPr>
      </p:pic>
      <p:sp>
        <p:nvSpPr>
          <p:cNvPr id="188" name="Google Shape;188;p27"/>
          <p:cNvSpPr/>
          <p:nvPr/>
        </p:nvSpPr>
        <p:spPr>
          <a:xfrm>
            <a:off x="0" y="5987880"/>
            <a:ext cx="12192480" cy="901440"/>
          </a:xfrm>
          <a:prstGeom prst="rect">
            <a:avLst/>
          </a:prstGeom>
          <a:solidFill>
            <a:srgbClr val="007C34"/>
          </a:solidFill>
          <a:ln cap="flat" cmpd="sng" w="19075">
            <a:solidFill>
              <a:srgbClr val="007C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 name="Google Shape;189;p27"/>
          <p:cNvPicPr preferRelativeResize="0"/>
          <p:nvPr/>
        </p:nvPicPr>
        <p:blipFill rotWithShape="1">
          <a:blip r:embed="rId1">
            <a:alphaModFix/>
          </a:blip>
          <a:srcRect b="0" l="0" r="0" t="0"/>
          <a:stretch/>
        </p:blipFill>
        <p:spPr>
          <a:xfrm>
            <a:off x="290520" y="321840"/>
            <a:ext cx="4474800" cy="1065240"/>
          </a:xfrm>
          <a:prstGeom prst="rect">
            <a:avLst/>
          </a:prstGeom>
          <a:noFill/>
          <a:ln>
            <a:noFill/>
          </a:ln>
        </p:spPr>
      </p:pic>
      <p:sp>
        <p:nvSpPr>
          <p:cNvPr id="190" name="Google Shape;190;p27"/>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91" name="Google Shape;191;p27"/>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40"/>
          <p:cNvSpPr/>
          <p:nvPr/>
        </p:nvSpPr>
        <p:spPr>
          <a:xfrm>
            <a:off x="-2524680" y="-11160"/>
            <a:ext cx="2424240" cy="6868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0"/>
          <p:cNvSpPr/>
          <p:nvPr/>
        </p:nvSpPr>
        <p:spPr>
          <a:xfrm>
            <a:off x="-2199960" y="108900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VERDE TOR VERGATA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000,125,052 (#007D34)</a:t>
            </a:r>
            <a:endParaRPr b="0" i="0" sz="900" u="none" cap="none" strike="noStrike">
              <a:latin typeface="Arial"/>
              <a:ea typeface="Arial"/>
              <a:cs typeface="Arial"/>
              <a:sym typeface="Arial"/>
            </a:endParaRPr>
          </a:p>
        </p:txBody>
      </p:sp>
      <p:sp>
        <p:nvSpPr>
          <p:cNvPr id="243" name="Google Shape;243;p40"/>
          <p:cNvSpPr/>
          <p:nvPr/>
        </p:nvSpPr>
        <p:spPr>
          <a:xfrm>
            <a:off x="-2454480" y="821880"/>
            <a:ext cx="2179440" cy="12348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FORMAT D'ATENEO 2023 (v.1)</a:t>
            </a:r>
            <a:endParaRPr b="0" i="0" sz="900" u="none" cap="none" strike="noStrike">
              <a:latin typeface="Arial"/>
              <a:ea typeface="Arial"/>
              <a:cs typeface="Arial"/>
              <a:sym typeface="Arial"/>
            </a:endParaRPr>
          </a:p>
        </p:txBody>
      </p:sp>
      <p:sp>
        <p:nvSpPr>
          <p:cNvPr id="244" name="Google Shape;244;p40"/>
          <p:cNvSpPr/>
          <p:nvPr/>
        </p:nvSpPr>
        <p:spPr>
          <a:xfrm flipH="1" rot="10800000">
            <a:off x="-2454120" y="1084680"/>
            <a:ext cx="185040" cy="19836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0"/>
          <p:cNvSpPr/>
          <p:nvPr/>
        </p:nvSpPr>
        <p:spPr>
          <a:xfrm>
            <a:off x="-2453040" y="3213360"/>
            <a:ext cx="2142720" cy="34927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FONT TESTO: CIRCE REGULAR </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Copertina principale o alternativa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a:t>
            </a:r>
            <a:r>
              <a:rPr b="0" i="0" lang="en-US" sz="900" u="none" cap="none" strike="noStrike">
                <a:solidFill>
                  <a:srgbClr val="000000"/>
                </a:solidFill>
                <a:latin typeface="Arial"/>
                <a:ea typeface="Arial"/>
                <a:cs typeface="Arial"/>
                <a:sym typeface="Arial"/>
              </a:rPr>
              <a:t>: corpo 54</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28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Sommario,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Slide di contenuto</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Testo, </a:t>
            </a:r>
            <a:r>
              <a:rPr b="1" i="0" lang="en-US" sz="900" u="none" cap="none" strike="noStrike">
                <a:solidFill>
                  <a:srgbClr val="000000"/>
                </a:solidFill>
                <a:latin typeface="Arial"/>
                <a:ea typeface="Arial"/>
                <a:cs typeface="Arial"/>
                <a:sym typeface="Arial"/>
              </a:rPr>
              <a:t>NERO:</a:t>
            </a:r>
            <a:r>
              <a:rPr b="0" i="0" lang="en-US" sz="900" u="none" cap="none" strike="noStrike">
                <a:solidFill>
                  <a:srgbClr val="000000"/>
                </a:solidFill>
                <a:latin typeface="Arial"/>
                <a:ea typeface="Arial"/>
                <a:cs typeface="Arial"/>
                <a:sym typeface="Arial"/>
              </a:rPr>
              <a:t> corpo 20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Separatore di sezione</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endParaRPr b="0" i="0" sz="900" u="none" cap="none" strike="noStrike">
              <a:latin typeface="Arial"/>
              <a:ea typeface="Arial"/>
              <a:cs typeface="Arial"/>
              <a:sym typeface="Arial"/>
            </a:endParaRPr>
          </a:p>
        </p:txBody>
      </p:sp>
      <p:sp>
        <p:nvSpPr>
          <p:cNvPr id="246" name="Google Shape;246;p40"/>
          <p:cNvSpPr/>
          <p:nvPr/>
        </p:nvSpPr>
        <p:spPr>
          <a:xfrm>
            <a:off x="-2454480" y="1437120"/>
            <a:ext cx="185040" cy="175320"/>
          </a:xfrm>
          <a:prstGeom prst="rect">
            <a:avLst/>
          </a:prstGeom>
          <a:solidFill>
            <a:srgbClr val="ED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0"/>
          <p:cNvSpPr/>
          <p:nvPr/>
        </p:nvSpPr>
        <p:spPr>
          <a:xfrm>
            <a:off x="-2454480" y="1766520"/>
            <a:ext cx="185040" cy="175320"/>
          </a:xfrm>
          <a:prstGeom prst="rect">
            <a:avLst/>
          </a:prstGeom>
          <a:solidFill>
            <a:srgbClr val="961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0"/>
          <p:cNvSpPr/>
          <p:nvPr/>
        </p:nvSpPr>
        <p:spPr>
          <a:xfrm>
            <a:off x="-2454480" y="2096280"/>
            <a:ext cx="185040" cy="17532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0"/>
          <p:cNvSpPr/>
          <p:nvPr/>
        </p:nvSpPr>
        <p:spPr>
          <a:xfrm>
            <a:off x="-1381320" y="1437120"/>
            <a:ext cx="185040" cy="175320"/>
          </a:xfrm>
          <a:prstGeom prst="rect">
            <a:avLst/>
          </a:prstGeom>
          <a:solidFill>
            <a:srgbClr val="2349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0"/>
          <p:cNvSpPr/>
          <p:nvPr/>
        </p:nvSpPr>
        <p:spPr>
          <a:xfrm>
            <a:off x="-1381320" y="1766520"/>
            <a:ext cx="185040" cy="175320"/>
          </a:xfrm>
          <a:prstGeom prst="rect">
            <a:avLst/>
          </a:prstGeom>
          <a:solidFill>
            <a:srgbClr val="CB8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0"/>
          <p:cNvSpPr/>
          <p:nvPr/>
        </p:nvSpPr>
        <p:spPr>
          <a:xfrm>
            <a:off x="-1381320" y="2096280"/>
            <a:ext cx="185040" cy="175320"/>
          </a:xfrm>
          <a:prstGeom prst="rect">
            <a:avLst/>
          </a:prstGeom>
          <a:solidFill>
            <a:srgbClr val="79C2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0"/>
          <p:cNvSpPr/>
          <p:nvPr/>
        </p:nvSpPr>
        <p:spPr>
          <a:xfrm>
            <a:off x="-2219040" y="142344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MEDICINA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237,33,39</a:t>
            </a:r>
            <a:endParaRPr b="0" i="0" sz="900" u="none" cap="none" strike="noStrike">
              <a:latin typeface="Arial"/>
              <a:ea typeface="Arial"/>
              <a:cs typeface="Arial"/>
              <a:sym typeface="Arial"/>
            </a:endParaRPr>
          </a:p>
        </p:txBody>
      </p:sp>
      <p:sp>
        <p:nvSpPr>
          <p:cNvPr id="253" name="Google Shape;253;p40"/>
          <p:cNvSpPr/>
          <p:nvPr/>
        </p:nvSpPr>
        <p:spPr>
          <a:xfrm>
            <a:off x="-2219040" y="17578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ECONOMIA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150,26,58</a:t>
            </a:r>
            <a:endParaRPr b="0" i="0" sz="900" u="none" cap="none" strike="noStrike">
              <a:latin typeface="Arial"/>
              <a:ea typeface="Arial"/>
              <a:cs typeface="Arial"/>
              <a:sym typeface="Arial"/>
            </a:endParaRPr>
          </a:p>
        </p:txBody>
      </p:sp>
      <p:sp>
        <p:nvSpPr>
          <p:cNvPr id="254" name="Google Shape;254;p40"/>
          <p:cNvSpPr/>
          <p:nvPr/>
        </p:nvSpPr>
        <p:spPr>
          <a:xfrm>
            <a:off x="-221904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INGEGNERIA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 0, 0</a:t>
            </a:r>
            <a:endParaRPr b="0" i="0" sz="900" u="none" cap="none" strike="noStrike">
              <a:latin typeface="Arial"/>
              <a:ea typeface="Arial"/>
              <a:cs typeface="Arial"/>
              <a:sym typeface="Arial"/>
            </a:endParaRPr>
          </a:p>
        </p:txBody>
      </p:sp>
      <p:sp>
        <p:nvSpPr>
          <p:cNvPr id="255" name="Google Shape;255;p40"/>
          <p:cNvSpPr/>
          <p:nvPr/>
        </p:nvSpPr>
        <p:spPr>
          <a:xfrm>
            <a:off x="-1151280" y="1423440"/>
            <a:ext cx="10630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GIURISPRUDENZA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35,73,139</a:t>
            </a:r>
            <a:endParaRPr b="0" i="0" sz="900" u="none" cap="none" strike="noStrike">
              <a:latin typeface="Arial"/>
              <a:ea typeface="Arial"/>
              <a:cs typeface="Arial"/>
              <a:sym typeface="Arial"/>
            </a:endParaRPr>
          </a:p>
        </p:txBody>
      </p:sp>
      <p:sp>
        <p:nvSpPr>
          <p:cNvPr id="256" name="Google Shape;256;p40"/>
          <p:cNvSpPr/>
          <p:nvPr/>
        </p:nvSpPr>
        <p:spPr>
          <a:xfrm>
            <a:off x="-1151280" y="1757880"/>
            <a:ext cx="10936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LETTERE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203,135,186</a:t>
            </a:r>
            <a:endParaRPr b="0" i="0" sz="900" u="none" cap="none" strike="noStrike">
              <a:latin typeface="Arial"/>
              <a:ea typeface="Arial"/>
              <a:cs typeface="Arial"/>
              <a:sym typeface="Arial"/>
            </a:endParaRPr>
          </a:p>
        </p:txBody>
      </p:sp>
      <p:sp>
        <p:nvSpPr>
          <p:cNvPr id="257" name="Google Shape;257;p40"/>
          <p:cNvSpPr/>
          <p:nvPr/>
        </p:nvSpPr>
        <p:spPr>
          <a:xfrm>
            <a:off x="-115128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SCIENZE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121,194,90</a:t>
            </a:r>
            <a:endParaRPr b="0" i="0" sz="900" u="none" cap="none" strike="noStrike">
              <a:latin typeface="Arial"/>
              <a:ea typeface="Arial"/>
              <a:cs typeface="Arial"/>
              <a:sym typeface="Arial"/>
            </a:endParaRPr>
          </a:p>
        </p:txBody>
      </p:sp>
      <p:sp>
        <p:nvSpPr>
          <p:cNvPr id="258" name="Google Shape;258;p40"/>
          <p:cNvSpPr/>
          <p:nvPr/>
        </p:nvSpPr>
        <p:spPr>
          <a:xfrm>
            <a:off x="-2454120" y="2425680"/>
            <a:ext cx="184680" cy="195840"/>
          </a:xfrm>
          <a:prstGeom prst="rect">
            <a:avLst/>
          </a:prstGeom>
          <a:solidFill>
            <a:srgbClr val="8989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0"/>
          <p:cNvSpPr/>
          <p:nvPr/>
        </p:nvSpPr>
        <p:spPr>
          <a:xfrm>
            <a:off x="-2199960" y="242712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GRIGIO GRAFICA</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127,127,127</a:t>
            </a:r>
            <a:endParaRPr b="0" i="0" sz="900" u="none" cap="none" strike="noStrike">
              <a:latin typeface="Arial"/>
              <a:ea typeface="Arial"/>
              <a:cs typeface="Arial"/>
              <a:sym typeface="Arial"/>
            </a:endParaRPr>
          </a:p>
        </p:txBody>
      </p:sp>
      <p:sp>
        <p:nvSpPr>
          <p:cNvPr id="260" name="Google Shape;260;p40"/>
          <p:cNvSpPr/>
          <p:nvPr/>
        </p:nvSpPr>
        <p:spPr>
          <a:xfrm>
            <a:off x="-2454480" y="2775600"/>
            <a:ext cx="184680" cy="195840"/>
          </a:xfrm>
          <a:prstGeom prst="rect">
            <a:avLst/>
          </a:prstGeom>
          <a:solidFill>
            <a:srgbClr val="F089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0"/>
          <p:cNvSpPr/>
          <p:nvPr/>
        </p:nvSpPr>
        <p:spPr>
          <a:xfrm>
            <a:off x="-2200320" y="276156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ARANCIONE</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240,137,34</a:t>
            </a:r>
            <a:endParaRPr b="0" i="0" sz="900" u="none" cap="none" strike="noStrike">
              <a:latin typeface="Arial"/>
              <a:ea typeface="Arial"/>
              <a:cs typeface="Arial"/>
              <a:sym typeface="Arial"/>
            </a:endParaRPr>
          </a:p>
        </p:txBody>
      </p:sp>
      <p:sp>
        <p:nvSpPr>
          <p:cNvPr id="262" name="Google Shape;262;p40"/>
          <p:cNvSpPr/>
          <p:nvPr/>
        </p:nvSpPr>
        <p:spPr>
          <a:xfrm>
            <a:off x="-1357560" y="2778120"/>
            <a:ext cx="184680" cy="195840"/>
          </a:xfrm>
          <a:prstGeom prst="rect">
            <a:avLst/>
          </a:prstGeom>
          <a:solidFill>
            <a:srgbClr val="1D8B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0"/>
          <p:cNvSpPr/>
          <p:nvPr/>
        </p:nvSpPr>
        <p:spPr>
          <a:xfrm>
            <a:off x="-1103400" y="2763000"/>
            <a:ext cx="93204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AZZURRO</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29,139,194</a:t>
            </a:r>
            <a:endParaRPr b="0" i="0" sz="900" u="none" cap="none" strike="noStrike">
              <a:latin typeface="Arial"/>
              <a:ea typeface="Arial"/>
              <a:cs typeface="Arial"/>
              <a:sym typeface="Arial"/>
            </a:endParaRPr>
          </a:p>
        </p:txBody>
      </p:sp>
      <p:pic>
        <p:nvPicPr>
          <p:cNvPr id="264" name="Google Shape;264;p40"/>
          <p:cNvPicPr preferRelativeResize="0"/>
          <p:nvPr/>
        </p:nvPicPr>
        <p:blipFill rotWithShape="1">
          <a:blip r:embed="rId1">
            <a:alphaModFix/>
          </a:blip>
          <a:srcRect b="0" l="0" r="0" t="0"/>
          <a:stretch/>
        </p:blipFill>
        <p:spPr>
          <a:xfrm>
            <a:off x="-2472840" y="69840"/>
            <a:ext cx="2307960" cy="549000"/>
          </a:xfrm>
          <a:prstGeom prst="rect">
            <a:avLst/>
          </a:prstGeom>
          <a:noFill/>
          <a:ln>
            <a:noFill/>
          </a:ln>
        </p:spPr>
      </p:pic>
      <p:sp>
        <p:nvSpPr>
          <p:cNvPr id="265" name="Google Shape;265;p40"/>
          <p:cNvSpPr/>
          <p:nvPr/>
        </p:nvSpPr>
        <p:spPr>
          <a:xfrm>
            <a:off x="0" y="5987880"/>
            <a:ext cx="12192480" cy="901440"/>
          </a:xfrm>
          <a:prstGeom prst="rect">
            <a:avLst/>
          </a:prstGeom>
          <a:solidFill>
            <a:srgbClr val="007C34"/>
          </a:solidFill>
          <a:ln cap="flat" cmpd="sng" w="19075">
            <a:solidFill>
              <a:srgbClr val="007C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0"/>
          <p:cNvSpPr/>
          <p:nvPr/>
        </p:nvSpPr>
        <p:spPr>
          <a:xfrm>
            <a:off x="413280" y="4357800"/>
            <a:ext cx="4454640" cy="5868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7" name="Google Shape;267;p40"/>
          <p:cNvPicPr preferRelativeResize="0"/>
          <p:nvPr/>
        </p:nvPicPr>
        <p:blipFill rotWithShape="1">
          <a:blip r:embed="rId1">
            <a:alphaModFix/>
          </a:blip>
          <a:srcRect b="0" l="0" r="0" t="0"/>
          <a:stretch/>
        </p:blipFill>
        <p:spPr>
          <a:xfrm>
            <a:off x="290520" y="321840"/>
            <a:ext cx="4474800" cy="1065240"/>
          </a:xfrm>
          <a:prstGeom prst="rect">
            <a:avLst/>
          </a:prstGeom>
          <a:noFill/>
          <a:ln>
            <a:noFill/>
          </a:ln>
        </p:spPr>
      </p:pic>
      <p:sp>
        <p:nvSpPr>
          <p:cNvPr id="268" name="Google Shape;268;p40"/>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69" name="Google Shape;269;p40"/>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53"/>
          <p:cNvSpPr/>
          <p:nvPr/>
        </p:nvSpPr>
        <p:spPr>
          <a:xfrm>
            <a:off x="-2524680" y="-11160"/>
            <a:ext cx="2424240" cy="6868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3"/>
          <p:cNvSpPr/>
          <p:nvPr/>
        </p:nvSpPr>
        <p:spPr>
          <a:xfrm>
            <a:off x="-2199960" y="108900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VERDE TOR VERGATA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000,125,052 (#007D34)</a:t>
            </a:r>
            <a:endParaRPr b="0" i="0" sz="900" u="none" cap="none" strike="noStrike">
              <a:latin typeface="Arial"/>
              <a:ea typeface="Arial"/>
              <a:cs typeface="Arial"/>
              <a:sym typeface="Arial"/>
            </a:endParaRPr>
          </a:p>
        </p:txBody>
      </p:sp>
      <p:sp>
        <p:nvSpPr>
          <p:cNvPr id="321" name="Google Shape;321;p53"/>
          <p:cNvSpPr/>
          <p:nvPr/>
        </p:nvSpPr>
        <p:spPr>
          <a:xfrm>
            <a:off x="-2454480" y="821880"/>
            <a:ext cx="2179440" cy="12348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FORMAT D'ATENEO 2023 (v.1)</a:t>
            </a:r>
            <a:endParaRPr b="0" i="0" sz="900" u="none" cap="none" strike="noStrike">
              <a:latin typeface="Arial"/>
              <a:ea typeface="Arial"/>
              <a:cs typeface="Arial"/>
              <a:sym typeface="Arial"/>
            </a:endParaRPr>
          </a:p>
        </p:txBody>
      </p:sp>
      <p:sp>
        <p:nvSpPr>
          <p:cNvPr id="322" name="Google Shape;322;p53"/>
          <p:cNvSpPr/>
          <p:nvPr/>
        </p:nvSpPr>
        <p:spPr>
          <a:xfrm flipH="1" rot="10800000">
            <a:off x="-2454120" y="1084680"/>
            <a:ext cx="185040" cy="19836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3"/>
          <p:cNvSpPr/>
          <p:nvPr/>
        </p:nvSpPr>
        <p:spPr>
          <a:xfrm>
            <a:off x="-2453040" y="3213360"/>
            <a:ext cx="2142720" cy="34927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900" u="none" cap="none" strike="noStrike">
                <a:solidFill>
                  <a:srgbClr val="000000"/>
                </a:solidFill>
                <a:latin typeface="Arial"/>
                <a:ea typeface="Arial"/>
                <a:cs typeface="Arial"/>
                <a:sym typeface="Arial"/>
              </a:rPr>
              <a:t>FONT TESTO: CIRCE REGULAR </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Copertina principale o alternativa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a:t>
            </a:r>
            <a:r>
              <a:rPr b="0" i="0" lang="en-US" sz="900" u="none" cap="none" strike="noStrike">
                <a:solidFill>
                  <a:srgbClr val="000000"/>
                </a:solidFill>
                <a:latin typeface="Arial"/>
                <a:ea typeface="Arial"/>
                <a:cs typeface="Arial"/>
                <a:sym typeface="Arial"/>
              </a:rPr>
              <a:t>: corpo 54</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28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Sommario, </a:t>
            </a:r>
            <a:r>
              <a:rPr b="1" i="0" lang="en-US" sz="900" u="none" cap="none" strike="noStrike">
                <a:solidFill>
                  <a:srgbClr val="7F7F7F"/>
                </a:solidFill>
                <a:latin typeface="Arial"/>
                <a:ea typeface="Arial"/>
                <a:cs typeface="Arial"/>
                <a:sym typeface="Arial"/>
              </a:rPr>
              <a:t>GRIGIO o BIANCO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Slide di contenuto</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Testo, </a:t>
            </a:r>
            <a:r>
              <a:rPr b="1" i="0" lang="en-US" sz="900" u="none" cap="none" strike="noStrike">
                <a:solidFill>
                  <a:srgbClr val="000000"/>
                </a:solidFill>
                <a:latin typeface="Arial"/>
                <a:ea typeface="Arial"/>
                <a:cs typeface="Arial"/>
                <a:sym typeface="Arial"/>
              </a:rPr>
              <a:t>NERO:</a:t>
            </a:r>
            <a:r>
              <a:rPr b="0" i="0" lang="en-US" sz="900" u="none" cap="none" strike="noStrike">
                <a:solidFill>
                  <a:srgbClr val="000000"/>
                </a:solidFill>
                <a:latin typeface="Arial"/>
                <a:ea typeface="Arial"/>
                <a:cs typeface="Arial"/>
                <a:sym typeface="Arial"/>
              </a:rPr>
              <a:t> corpo 20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br>
              <a:rPr b="0" i="0" lang="en-US" sz="1800" u="none" cap="none" strike="noStrike">
                <a:latin typeface="Arial"/>
                <a:ea typeface="Arial"/>
                <a:cs typeface="Arial"/>
                <a:sym typeface="Arial"/>
              </a:rPr>
            </a:br>
            <a:br>
              <a:rPr b="0" i="0" lang="en-US" sz="1800" u="none" cap="none" strike="noStrike">
                <a:latin typeface="Arial"/>
                <a:ea typeface="Arial"/>
                <a:cs typeface="Arial"/>
                <a:sym typeface="Arial"/>
              </a:rPr>
            </a:br>
            <a:r>
              <a:rPr b="1" i="0" lang="en-US" sz="900" u="none" cap="none" strike="noStrike">
                <a:solidFill>
                  <a:srgbClr val="000000"/>
                </a:solidFill>
                <a:latin typeface="Arial"/>
                <a:ea typeface="Arial"/>
                <a:cs typeface="Arial"/>
                <a:sym typeface="Arial"/>
              </a:rPr>
              <a:t>Separatore di sezione</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Titolo, </a:t>
            </a:r>
            <a:r>
              <a:rPr b="1" i="0" lang="en-US" sz="900" u="none" cap="none" strike="noStrike">
                <a:solidFill>
                  <a:srgbClr val="007D34"/>
                </a:solidFill>
                <a:latin typeface="Arial"/>
                <a:ea typeface="Arial"/>
                <a:cs typeface="Arial"/>
                <a:sym typeface="Arial"/>
              </a:rPr>
              <a:t>VERDE TOR VERGATA </a:t>
            </a:r>
            <a:r>
              <a:rPr b="0" i="0" lang="en-US" sz="900" u="none" cap="none" strike="noStrike">
                <a:solidFill>
                  <a:srgbClr val="000000"/>
                </a:solidFill>
                <a:latin typeface="Arial"/>
                <a:ea typeface="Arial"/>
                <a:cs typeface="Arial"/>
                <a:sym typeface="Arial"/>
              </a:rPr>
              <a:t>: corpo 36</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 allineato a sinistra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Sottotitolo, </a:t>
            </a:r>
            <a:r>
              <a:rPr b="1" i="0" lang="en-US" sz="900" u="none" cap="none" strike="noStrike">
                <a:solidFill>
                  <a:srgbClr val="7F7F7F"/>
                </a:solidFill>
                <a:latin typeface="Arial"/>
                <a:ea typeface="Arial"/>
                <a:cs typeface="Arial"/>
                <a:sym typeface="Arial"/>
              </a:rPr>
              <a:t>GRIGIO:</a:t>
            </a:r>
            <a:r>
              <a:rPr b="0" i="0" lang="en-US" sz="900" u="none" cap="none" strike="noStrike">
                <a:solidFill>
                  <a:srgbClr val="000000"/>
                </a:solidFill>
                <a:latin typeface="Arial"/>
                <a:ea typeface="Arial"/>
                <a:cs typeface="Arial"/>
                <a:sym typeface="Arial"/>
              </a:rPr>
              <a:t> corpo 18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Iniziale maiuscola</a:t>
            </a:r>
            <a:endParaRPr b="0" i="0" sz="900" u="none" cap="none" strike="noStrike">
              <a:latin typeface="Arial"/>
              <a:ea typeface="Arial"/>
              <a:cs typeface="Arial"/>
              <a:sym typeface="Arial"/>
            </a:endParaRPr>
          </a:p>
          <a:p>
            <a:pPr indent="0" lvl="0" marL="0" marR="0" rtl="0" algn="l">
              <a:lnSpc>
                <a:spcPct val="90000"/>
              </a:lnSpc>
              <a:spcBef>
                <a:spcPts val="363"/>
              </a:spcBef>
              <a:spcAft>
                <a:spcPts val="0"/>
              </a:spcAft>
              <a:buNone/>
            </a:pPr>
            <a:r>
              <a:rPr b="0" i="0" lang="en-US" sz="900" u="none" cap="none" strike="noStrike">
                <a:solidFill>
                  <a:srgbClr val="000000"/>
                </a:solidFill>
                <a:latin typeface="Arial"/>
                <a:ea typeface="Arial"/>
                <a:cs typeface="Arial"/>
                <a:sym typeface="Arial"/>
              </a:rPr>
              <a:t>Piè pagina </a:t>
            </a:r>
            <a:r>
              <a:rPr b="1" i="0" lang="en-US" sz="900" u="none" cap="none" strike="noStrike">
                <a:solidFill>
                  <a:srgbClr val="898989"/>
                </a:solidFill>
                <a:latin typeface="Arial"/>
                <a:ea typeface="Arial"/>
                <a:cs typeface="Arial"/>
                <a:sym typeface="Arial"/>
              </a:rPr>
              <a:t>GRIGIO</a:t>
            </a:r>
            <a:r>
              <a:rPr b="1" i="0" lang="en-US" sz="900" u="none" cap="none" strike="noStrike">
                <a:solidFill>
                  <a:srgbClr val="000000"/>
                </a:solidFill>
                <a:latin typeface="Arial"/>
                <a:ea typeface="Arial"/>
                <a:cs typeface="Arial"/>
                <a:sym typeface="Arial"/>
              </a:rPr>
              <a:t>:</a:t>
            </a:r>
            <a:r>
              <a:rPr b="0" i="0" lang="en-US" sz="900" u="none" cap="none" strike="noStrike">
                <a:solidFill>
                  <a:srgbClr val="000000"/>
                </a:solidFill>
                <a:latin typeface="Arial"/>
                <a:ea typeface="Arial"/>
                <a:cs typeface="Arial"/>
                <a:sym typeface="Arial"/>
              </a:rPr>
              <a:t> corpo 9 </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Note allineate a destra</a:t>
            </a:r>
            <a:endParaRPr b="0" i="0" sz="900" u="none" cap="none" strike="noStrike">
              <a:latin typeface="Arial"/>
              <a:ea typeface="Arial"/>
              <a:cs typeface="Arial"/>
              <a:sym typeface="Arial"/>
            </a:endParaRPr>
          </a:p>
        </p:txBody>
      </p:sp>
      <p:sp>
        <p:nvSpPr>
          <p:cNvPr id="324" name="Google Shape;324;p53"/>
          <p:cNvSpPr/>
          <p:nvPr/>
        </p:nvSpPr>
        <p:spPr>
          <a:xfrm>
            <a:off x="-2454480" y="1437120"/>
            <a:ext cx="185040" cy="175320"/>
          </a:xfrm>
          <a:prstGeom prst="rect">
            <a:avLst/>
          </a:prstGeom>
          <a:solidFill>
            <a:srgbClr val="ED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53"/>
          <p:cNvSpPr/>
          <p:nvPr/>
        </p:nvSpPr>
        <p:spPr>
          <a:xfrm>
            <a:off x="-2454480" y="1766520"/>
            <a:ext cx="185040" cy="175320"/>
          </a:xfrm>
          <a:prstGeom prst="rect">
            <a:avLst/>
          </a:prstGeom>
          <a:solidFill>
            <a:srgbClr val="961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53"/>
          <p:cNvSpPr/>
          <p:nvPr/>
        </p:nvSpPr>
        <p:spPr>
          <a:xfrm>
            <a:off x="-2454480" y="2096280"/>
            <a:ext cx="185040" cy="17532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3"/>
          <p:cNvSpPr/>
          <p:nvPr/>
        </p:nvSpPr>
        <p:spPr>
          <a:xfrm>
            <a:off x="-1381320" y="1437120"/>
            <a:ext cx="185040" cy="175320"/>
          </a:xfrm>
          <a:prstGeom prst="rect">
            <a:avLst/>
          </a:prstGeom>
          <a:solidFill>
            <a:srgbClr val="2349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53"/>
          <p:cNvSpPr/>
          <p:nvPr/>
        </p:nvSpPr>
        <p:spPr>
          <a:xfrm>
            <a:off x="-1381320" y="1766520"/>
            <a:ext cx="185040" cy="175320"/>
          </a:xfrm>
          <a:prstGeom prst="rect">
            <a:avLst/>
          </a:prstGeom>
          <a:solidFill>
            <a:srgbClr val="CB87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3"/>
          <p:cNvSpPr/>
          <p:nvPr/>
        </p:nvSpPr>
        <p:spPr>
          <a:xfrm>
            <a:off x="-1381320" y="2096280"/>
            <a:ext cx="185040" cy="175320"/>
          </a:xfrm>
          <a:prstGeom prst="rect">
            <a:avLst/>
          </a:prstGeom>
          <a:solidFill>
            <a:srgbClr val="79C2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3"/>
          <p:cNvSpPr/>
          <p:nvPr/>
        </p:nvSpPr>
        <p:spPr>
          <a:xfrm>
            <a:off x="-2219040" y="142344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MEDICINA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237,33,39</a:t>
            </a:r>
            <a:endParaRPr b="0" i="0" sz="900" u="none" cap="none" strike="noStrike">
              <a:latin typeface="Arial"/>
              <a:ea typeface="Arial"/>
              <a:cs typeface="Arial"/>
              <a:sym typeface="Arial"/>
            </a:endParaRPr>
          </a:p>
        </p:txBody>
      </p:sp>
      <p:sp>
        <p:nvSpPr>
          <p:cNvPr id="331" name="Google Shape;331;p53"/>
          <p:cNvSpPr/>
          <p:nvPr/>
        </p:nvSpPr>
        <p:spPr>
          <a:xfrm>
            <a:off x="-2219040" y="17578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ECONOMIA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150,26,58</a:t>
            </a:r>
            <a:endParaRPr b="0" i="0" sz="900" u="none" cap="none" strike="noStrike">
              <a:latin typeface="Arial"/>
              <a:ea typeface="Arial"/>
              <a:cs typeface="Arial"/>
              <a:sym typeface="Arial"/>
            </a:endParaRPr>
          </a:p>
        </p:txBody>
      </p:sp>
      <p:sp>
        <p:nvSpPr>
          <p:cNvPr id="332" name="Google Shape;332;p53"/>
          <p:cNvSpPr/>
          <p:nvPr/>
        </p:nvSpPr>
        <p:spPr>
          <a:xfrm>
            <a:off x="-221904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INGEGNERIA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0, 0, 0</a:t>
            </a:r>
            <a:endParaRPr b="0" i="0" sz="900" u="none" cap="none" strike="noStrike">
              <a:latin typeface="Arial"/>
              <a:ea typeface="Arial"/>
              <a:cs typeface="Arial"/>
              <a:sym typeface="Arial"/>
            </a:endParaRPr>
          </a:p>
        </p:txBody>
      </p:sp>
      <p:sp>
        <p:nvSpPr>
          <p:cNvPr id="333" name="Google Shape;333;p53"/>
          <p:cNvSpPr/>
          <p:nvPr/>
        </p:nvSpPr>
        <p:spPr>
          <a:xfrm>
            <a:off x="-1151280" y="1423440"/>
            <a:ext cx="10630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GIURISPRUDENZA</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35,73,139</a:t>
            </a:r>
            <a:endParaRPr b="0" i="0" sz="900" u="none" cap="none" strike="noStrike">
              <a:latin typeface="Arial"/>
              <a:ea typeface="Arial"/>
              <a:cs typeface="Arial"/>
              <a:sym typeface="Arial"/>
            </a:endParaRPr>
          </a:p>
        </p:txBody>
      </p:sp>
      <p:sp>
        <p:nvSpPr>
          <p:cNvPr id="334" name="Google Shape;334;p53"/>
          <p:cNvSpPr/>
          <p:nvPr/>
        </p:nvSpPr>
        <p:spPr>
          <a:xfrm>
            <a:off x="-1151280" y="1757880"/>
            <a:ext cx="109368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LETTERE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203,135,186</a:t>
            </a:r>
            <a:endParaRPr b="0" i="0" sz="900" u="none" cap="none" strike="noStrike">
              <a:latin typeface="Arial"/>
              <a:ea typeface="Arial"/>
              <a:cs typeface="Arial"/>
              <a:sym typeface="Arial"/>
            </a:endParaRPr>
          </a:p>
        </p:txBody>
      </p:sp>
      <p:sp>
        <p:nvSpPr>
          <p:cNvPr id="335" name="Google Shape;335;p53"/>
          <p:cNvSpPr/>
          <p:nvPr/>
        </p:nvSpPr>
        <p:spPr>
          <a:xfrm>
            <a:off x="-1151280" y="2092680"/>
            <a:ext cx="99900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SCIENZE</a:t>
            </a:r>
            <a:endParaRPr b="0" i="0" sz="900" u="none" cap="none" strike="noStrike">
              <a:latin typeface="Arial"/>
              <a:ea typeface="Arial"/>
              <a:cs typeface="Arial"/>
              <a:sym typeface="Arial"/>
            </a:endParaRPr>
          </a:p>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RGB 121,194,90</a:t>
            </a:r>
            <a:endParaRPr b="0" i="0" sz="900" u="none" cap="none" strike="noStrike">
              <a:latin typeface="Arial"/>
              <a:ea typeface="Arial"/>
              <a:cs typeface="Arial"/>
              <a:sym typeface="Arial"/>
            </a:endParaRPr>
          </a:p>
        </p:txBody>
      </p:sp>
      <p:sp>
        <p:nvSpPr>
          <p:cNvPr id="336" name="Google Shape;336;p53"/>
          <p:cNvSpPr/>
          <p:nvPr/>
        </p:nvSpPr>
        <p:spPr>
          <a:xfrm>
            <a:off x="-2454120" y="2425680"/>
            <a:ext cx="184680" cy="195840"/>
          </a:xfrm>
          <a:prstGeom prst="rect">
            <a:avLst/>
          </a:prstGeom>
          <a:solidFill>
            <a:srgbClr val="8989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3"/>
          <p:cNvSpPr/>
          <p:nvPr/>
        </p:nvSpPr>
        <p:spPr>
          <a:xfrm>
            <a:off x="-2199960" y="242712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GRIGIO GRAFICA</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127,127,127</a:t>
            </a:r>
            <a:endParaRPr b="0" i="0" sz="900" u="none" cap="none" strike="noStrike">
              <a:latin typeface="Arial"/>
              <a:ea typeface="Arial"/>
              <a:cs typeface="Arial"/>
              <a:sym typeface="Arial"/>
            </a:endParaRPr>
          </a:p>
        </p:txBody>
      </p:sp>
      <p:sp>
        <p:nvSpPr>
          <p:cNvPr id="338" name="Google Shape;338;p53"/>
          <p:cNvSpPr/>
          <p:nvPr/>
        </p:nvSpPr>
        <p:spPr>
          <a:xfrm>
            <a:off x="-2454480" y="2775600"/>
            <a:ext cx="184680" cy="195840"/>
          </a:xfrm>
          <a:prstGeom prst="rect">
            <a:avLst/>
          </a:prstGeom>
          <a:solidFill>
            <a:srgbClr val="F089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3"/>
          <p:cNvSpPr/>
          <p:nvPr/>
        </p:nvSpPr>
        <p:spPr>
          <a:xfrm>
            <a:off x="-2200320" y="2761560"/>
            <a:ext cx="214272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ARANCIONE</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240,137,34</a:t>
            </a:r>
            <a:endParaRPr b="0" i="0" sz="900" u="none" cap="none" strike="noStrike">
              <a:latin typeface="Arial"/>
              <a:ea typeface="Arial"/>
              <a:cs typeface="Arial"/>
              <a:sym typeface="Arial"/>
            </a:endParaRPr>
          </a:p>
        </p:txBody>
      </p:sp>
      <p:sp>
        <p:nvSpPr>
          <p:cNvPr id="340" name="Google Shape;340;p53"/>
          <p:cNvSpPr/>
          <p:nvPr/>
        </p:nvSpPr>
        <p:spPr>
          <a:xfrm>
            <a:off x="-1357560" y="2778120"/>
            <a:ext cx="184680" cy="195840"/>
          </a:xfrm>
          <a:prstGeom prst="rect">
            <a:avLst/>
          </a:prstGeom>
          <a:solidFill>
            <a:srgbClr val="1D8B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3"/>
          <p:cNvSpPr/>
          <p:nvPr/>
        </p:nvSpPr>
        <p:spPr>
          <a:xfrm>
            <a:off x="-1103400" y="2763000"/>
            <a:ext cx="932040" cy="2466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0" i="0" lang="en-US" sz="900" u="none" cap="none" strike="noStrike">
                <a:solidFill>
                  <a:srgbClr val="000000"/>
                </a:solidFill>
                <a:latin typeface="Arial"/>
                <a:ea typeface="Arial"/>
                <a:cs typeface="Arial"/>
                <a:sym typeface="Arial"/>
              </a:rPr>
              <a:t>AZZURRO</a:t>
            </a:r>
            <a:br>
              <a:rPr b="0" i="0" lang="en-US" sz="1800" u="none" cap="none" strike="noStrike">
                <a:latin typeface="Arial"/>
                <a:ea typeface="Arial"/>
                <a:cs typeface="Arial"/>
                <a:sym typeface="Arial"/>
              </a:rPr>
            </a:br>
            <a:r>
              <a:rPr b="0" i="0" lang="en-US" sz="900" u="none" cap="none" strike="noStrike">
                <a:solidFill>
                  <a:srgbClr val="000000"/>
                </a:solidFill>
                <a:latin typeface="Arial"/>
                <a:ea typeface="Arial"/>
                <a:cs typeface="Arial"/>
                <a:sym typeface="Arial"/>
              </a:rPr>
              <a:t>RGB 29,139,194</a:t>
            </a:r>
            <a:endParaRPr b="0" i="0" sz="900" u="none" cap="none" strike="noStrike">
              <a:latin typeface="Arial"/>
              <a:ea typeface="Arial"/>
              <a:cs typeface="Arial"/>
              <a:sym typeface="Arial"/>
            </a:endParaRPr>
          </a:p>
        </p:txBody>
      </p:sp>
      <p:pic>
        <p:nvPicPr>
          <p:cNvPr id="342" name="Google Shape;342;p53"/>
          <p:cNvPicPr preferRelativeResize="0"/>
          <p:nvPr/>
        </p:nvPicPr>
        <p:blipFill rotWithShape="1">
          <a:blip r:embed="rId1">
            <a:alphaModFix/>
          </a:blip>
          <a:srcRect b="0" l="0" r="0" t="0"/>
          <a:stretch/>
        </p:blipFill>
        <p:spPr>
          <a:xfrm>
            <a:off x="-2472840" y="69840"/>
            <a:ext cx="2307960" cy="549000"/>
          </a:xfrm>
          <a:prstGeom prst="rect">
            <a:avLst/>
          </a:prstGeom>
          <a:noFill/>
          <a:ln>
            <a:noFill/>
          </a:ln>
        </p:spPr>
      </p:pic>
      <p:sp>
        <p:nvSpPr>
          <p:cNvPr id="343" name="Google Shape;343;p53"/>
          <p:cNvSpPr/>
          <p:nvPr/>
        </p:nvSpPr>
        <p:spPr>
          <a:xfrm>
            <a:off x="0" y="0"/>
            <a:ext cx="12192480" cy="6857280"/>
          </a:xfrm>
          <a:prstGeom prst="rect">
            <a:avLst/>
          </a:prstGeom>
          <a:solidFill>
            <a:srgbClr val="007D34"/>
          </a:solidFill>
          <a:ln cap="flat" cmpd="sng" w="19075">
            <a:solidFill>
              <a:srgbClr val="007C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4" name="Google Shape;344;p53"/>
          <p:cNvPicPr preferRelativeResize="0"/>
          <p:nvPr/>
        </p:nvPicPr>
        <p:blipFill rotWithShape="1">
          <a:blip r:embed="rId2">
            <a:alphaModFix/>
          </a:blip>
          <a:srcRect b="0" l="0" r="0" t="0"/>
          <a:stretch/>
        </p:blipFill>
        <p:spPr>
          <a:xfrm>
            <a:off x="2332800" y="2532600"/>
            <a:ext cx="7526520" cy="1792080"/>
          </a:xfrm>
          <a:prstGeom prst="rect">
            <a:avLst/>
          </a:prstGeom>
          <a:noFill/>
          <a:ln>
            <a:noFill/>
          </a:ln>
        </p:spPr>
      </p:pic>
      <p:sp>
        <p:nvSpPr>
          <p:cNvPr id="345" name="Google Shape;345;p53"/>
          <p:cNvSpPr txBox="1"/>
          <p:nvPr>
            <p:ph type="title"/>
          </p:nvPr>
        </p:nvSpPr>
        <p:spPr>
          <a:xfrm>
            <a:off x="609480" y="273600"/>
            <a:ext cx="1097352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46" name="Google Shape;346;p53"/>
          <p:cNvSpPr txBox="1"/>
          <p:nvPr>
            <p:ph idx="1" type="body"/>
          </p:nvPr>
        </p:nvSpPr>
        <p:spPr>
          <a:xfrm>
            <a:off x="609480" y="1604520"/>
            <a:ext cx="1097352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14.png"/><Relationship Id="rId5"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6"/>
          <p:cNvSpPr/>
          <p:nvPr/>
        </p:nvSpPr>
        <p:spPr>
          <a:xfrm>
            <a:off x="253986" y="3445359"/>
            <a:ext cx="11211000" cy="1406700"/>
          </a:xfrm>
          <a:prstGeom prst="rect">
            <a:avLst/>
          </a:prstGeom>
          <a:noFill/>
          <a:ln>
            <a:noFill/>
          </a:ln>
        </p:spPr>
        <p:txBody>
          <a:bodyPr anchorCtr="0" anchor="b" bIns="45700" lIns="91425" spcFirstLastPara="1" rIns="91425" wrap="square" tIns="45700">
            <a:noAutofit/>
          </a:bodyPr>
          <a:lstStyle/>
          <a:p>
            <a:pPr indent="0" lvl="0" marL="0" marR="0" rtl="0" algn="ctr">
              <a:lnSpc>
                <a:spcPct val="80000"/>
              </a:lnSpc>
              <a:spcBef>
                <a:spcPts val="0"/>
              </a:spcBef>
              <a:spcAft>
                <a:spcPts val="0"/>
              </a:spcAft>
              <a:buNone/>
            </a:pPr>
            <a:r>
              <a:rPr lang="en-US" sz="4700">
                <a:solidFill>
                  <a:srgbClr val="FFFFFF"/>
                </a:solidFill>
              </a:rPr>
              <a:t>Progetto 1:</a:t>
            </a:r>
            <a:endParaRPr sz="4700">
              <a:solidFill>
                <a:srgbClr val="FFFFFF"/>
              </a:solidFill>
            </a:endParaRPr>
          </a:p>
          <a:p>
            <a:pPr indent="0" lvl="0" marL="0" marR="0" rtl="0" algn="ctr">
              <a:lnSpc>
                <a:spcPct val="80000"/>
              </a:lnSpc>
              <a:spcBef>
                <a:spcPts val="0"/>
              </a:spcBef>
              <a:spcAft>
                <a:spcPts val="0"/>
              </a:spcAft>
              <a:buNone/>
            </a:pPr>
            <a:r>
              <a:rPr i="1" lang="en-US" sz="4700">
                <a:solidFill>
                  <a:srgbClr val="FFFFFF"/>
                </a:solidFill>
              </a:rPr>
              <a:t> Analisi di dati sui voli con Apache Spark</a:t>
            </a:r>
            <a:endParaRPr b="0" i="1" sz="4700" cap="none" strike="noStrike">
              <a:latin typeface="Arial"/>
              <a:ea typeface="Arial"/>
              <a:cs typeface="Arial"/>
              <a:sym typeface="Arial"/>
            </a:endParaRPr>
          </a:p>
        </p:txBody>
      </p:sp>
      <p:sp>
        <p:nvSpPr>
          <p:cNvPr id="401" name="Google Shape;401;p66"/>
          <p:cNvSpPr/>
          <p:nvPr/>
        </p:nvSpPr>
        <p:spPr>
          <a:xfrm>
            <a:off x="115560" y="5192640"/>
            <a:ext cx="11211000" cy="499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2800" u="none" cap="none" strike="noStrike">
                <a:solidFill>
                  <a:srgbClr val="FFFFFF"/>
                </a:solidFill>
                <a:latin typeface="Arial"/>
                <a:ea typeface="Arial"/>
                <a:cs typeface="Arial"/>
                <a:sym typeface="Arial"/>
              </a:rPr>
              <a:t>Corso di </a:t>
            </a:r>
            <a:r>
              <a:rPr lang="en-US" sz="2800">
                <a:solidFill>
                  <a:srgbClr val="FFFFFF"/>
                </a:solidFill>
              </a:rPr>
              <a:t>Sistemi e Architetture per Big Data - A.A. 2025/26</a:t>
            </a:r>
            <a:endParaRPr b="0" i="0" sz="2800" u="none" cap="none" strike="noStrike">
              <a:latin typeface="Arial"/>
              <a:ea typeface="Arial"/>
              <a:cs typeface="Arial"/>
              <a:sym typeface="Arial"/>
            </a:endParaRPr>
          </a:p>
        </p:txBody>
      </p:sp>
      <p:sp>
        <p:nvSpPr>
          <p:cNvPr id="402" name="Google Shape;402;p66"/>
          <p:cNvSpPr/>
          <p:nvPr/>
        </p:nvSpPr>
        <p:spPr>
          <a:xfrm>
            <a:off x="115560" y="5815440"/>
            <a:ext cx="11238600" cy="597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1" lang="en-US" sz="1800">
                <a:solidFill>
                  <a:srgbClr val="FFFFFF"/>
                </a:solidFill>
              </a:rPr>
              <a:t>Luca Carloni</a:t>
            </a:r>
            <a:r>
              <a:rPr lang="en-US" sz="1800">
                <a:solidFill>
                  <a:srgbClr val="FFFFFF"/>
                </a:solidFill>
              </a:rPr>
              <a:t> 0366574</a:t>
            </a:r>
            <a:r>
              <a:rPr b="0" i="0" lang="en-US" sz="1800" u="none" cap="none" strike="noStrike">
                <a:solidFill>
                  <a:srgbClr val="FFFFFF"/>
                </a:solidFill>
                <a:latin typeface="Arial"/>
                <a:ea typeface="Arial"/>
                <a:cs typeface="Arial"/>
                <a:sym typeface="Arial"/>
              </a:rPr>
              <a:t>,</a:t>
            </a:r>
            <a:r>
              <a:rPr b="0" i="0" lang="en-US" sz="1800" u="none" cap="none" strike="noStrike">
                <a:solidFill>
                  <a:srgbClr val="FFFFFF"/>
                </a:solidFill>
                <a:latin typeface="Arial"/>
                <a:ea typeface="Arial"/>
                <a:cs typeface="Arial"/>
                <a:sym typeface="Arial"/>
              </a:rPr>
              <a:t> </a:t>
            </a:r>
            <a:r>
              <a:rPr b="1" i="1" lang="en-US" sz="1800" u="none" cap="none" strike="noStrike">
                <a:solidFill>
                  <a:srgbClr val="FFFFFF"/>
                </a:solidFill>
              </a:rPr>
              <a:t>Alessandro Vassallo</a:t>
            </a:r>
            <a:r>
              <a:rPr b="0" i="0" lang="en-US" sz="1800" u="none" cap="none" strike="noStrike">
                <a:solidFill>
                  <a:srgbClr val="FFFFFF"/>
                </a:solidFill>
                <a:latin typeface="Arial"/>
                <a:ea typeface="Arial"/>
                <a:cs typeface="Arial"/>
                <a:sym typeface="Arial"/>
              </a:rPr>
              <a:t> 0366572,</a:t>
            </a:r>
            <a:r>
              <a:rPr b="0" i="0" lang="en-US" sz="1800" u="none" cap="none" strike="noStrike">
                <a:solidFill>
                  <a:srgbClr val="FFFFFF"/>
                </a:solidFill>
                <a:latin typeface="Arial"/>
                <a:ea typeface="Arial"/>
                <a:cs typeface="Arial"/>
                <a:sym typeface="Arial"/>
              </a:rPr>
              <a:t> </a:t>
            </a:r>
            <a:r>
              <a:rPr b="1" i="1" lang="en-US" sz="1800">
                <a:solidFill>
                  <a:srgbClr val="FFFFFF"/>
                </a:solidFill>
              </a:rPr>
              <a:t>Andrea Galluzzi</a:t>
            </a:r>
            <a:r>
              <a:rPr lang="en-US" sz="1800">
                <a:solidFill>
                  <a:srgbClr val="FFFFFF"/>
                </a:solidFill>
              </a:rPr>
              <a:t> 0365026 </a:t>
            </a:r>
            <a:endParaRPr b="0" i="0" sz="1800" u="none" cap="none" strike="noStrike">
              <a:latin typeface="Arial"/>
              <a:ea typeface="Arial"/>
              <a:cs typeface="Arial"/>
              <a:sym typeface="Arial"/>
            </a:endParaRPr>
          </a:p>
        </p:txBody>
      </p:sp>
      <p:sp>
        <p:nvSpPr>
          <p:cNvPr id="403" name="Google Shape;403;p66"/>
          <p:cNvSpPr/>
          <p:nvPr/>
        </p:nvSpPr>
        <p:spPr>
          <a:xfrm>
            <a:off x="4541425" y="4936454"/>
            <a:ext cx="7016400" cy="256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7"/>
          <p:cNvSpPr/>
          <p:nvPr/>
        </p:nvSpPr>
        <p:spPr>
          <a:xfrm>
            <a:off x="314280" y="2749680"/>
            <a:ext cx="10972800" cy="16455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Introduzione</a:t>
            </a:r>
            <a:endParaRPr b="1" i="0" sz="3600" u="none" cap="none" strike="noStrike"/>
          </a:p>
        </p:txBody>
      </p:sp>
      <p:sp>
        <p:nvSpPr>
          <p:cNvPr id="409" name="Google Shape;409;p67"/>
          <p:cNvSpPr/>
          <p:nvPr/>
        </p:nvSpPr>
        <p:spPr>
          <a:xfrm>
            <a:off x="290520" y="6494400"/>
            <a:ext cx="27429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7"/>
          <p:cNvSpPr/>
          <p:nvPr/>
        </p:nvSpPr>
        <p:spPr>
          <a:xfrm>
            <a:off x="323280" y="4446720"/>
            <a:ext cx="10328100" cy="59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67"/>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67"/>
          <p:cNvSpPr/>
          <p:nvPr/>
        </p:nvSpPr>
        <p:spPr>
          <a:xfrm>
            <a:off x="413650" y="4357800"/>
            <a:ext cx="2722800" cy="654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8"/>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Obiettivi</a:t>
            </a:r>
            <a:endParaRPr b="1" i="0" sz="3600" u="none" cap="none" strike="noStrike"/>
          </a:p>
        </p:txBody>
      </p:sp>
      <p:sp>
        <p:nvSpPr>
          <p:cNvPr id="418" name="Google Shape;418;p68"/>
          <p:cNvSpPr/>
          <p:nvPr/>
        </p:nvSpPr>
        <p:spPr>
          <a:xfrm>
            <a:off x="450350" y="1436175"/>
            <a:ext cx="11168400" cy="4991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2200"/>
              <a:t>Lo studio presentato consiste nella progettazione e realizzazione di un'architettura di </a:t>
            </a:r>
            <a:r>
              <a:rPr b="1" lang="en-US" sz="2200"/>
              <a:t>batch processing</a:t>
            </a:r>
            <a:r>
              <a:rPr lang="en-US" sz="2200"/>
              <a:t>, che simuli un contesto reale di elaborazione Big Data, dalla </a:t>
            </a:r>
            <a:r>
              <a:rPr b="1" lang="en-US" sz="2200"/>
              <a:t>Data Ingestion</a:t>
            </a:r>
            <a:r>
              <a:rPr lang="en-US" sz="2200"/>
              <a:t> fino alla visualizzazione dei risultati.</a:t>
            </a:r>
            <a:endParaRPr sz="2200"/>
          </a:p>
          <a:p>
            <a:pPr indent="0" lvl="0" marL="0" rtl="0" algn="l">
              <a:lnSpc>
                <a:spcPct val="115000"/>
              </a:lnSpc>
              <a:spcBef>
                <a:spcPts val="1200"/>
              </a:spcBef>
              <a:spcAft>
                <a:spcPts val="0"/>
              </a:spcAft>
              <a:buNone/>
            </a:pPr>
            <a:r>
              <a:rPr lang="en-US" sz="2200">
                <a:solidFill>
                  <a:schemeClr val="dk1"/>
                </a:solidFill>
              </a:rPr>
              <a:t>Gli </a:t>
            </a:r>
            <a:r>
              <a:rPr b="1" lang="en-US" sz="2200">
                <a:solidFill>
                  <a:schemeClr val="dk1"/>
                </a:solidFill>
              </a:rPr>
              <a:t>obiettivi </a:t>
            </a:r>
            <a:r>
              <a:rPr lang="en-US" sz="2200">
                <a:solidFill>
                  <a:schemeClr val="dk1"/>
                </a:solidFill>
              </a:rPr>
              <a:t>dello studio sono volti a:</a:t>
            </a:r>
            <a:endParaRPr sz="2200">
              <a:solidFill>
                <a:schemeClr val="dk1"/>
              </a:solidFill>
            </a:endParaRPr>
          </a:p>
          <a:p>
            <a:pPr indent="-368300" lvl="0" marL="457200" rtl="0" algn="l">
              <a:lnSpc>
                <a:spcPct val="115000"/>
              </a:lnSpc>
              <a:spcBef>
                <a:spcPts val="1200"/>
              </a:spcBef>
              <a:spcAft>
                <a:spcPts val="0"/>
              </a:spcAft>
              <a:buSzPts val="2200"/>
              <a:buChar char="●"/>
            </a:pPr>
            <a:r>
              <a:rPr lang="en-US" sz="2200"/>
              <a:t>R</a:t>
            </a:r>
            <a:r>
              <a:rPr lang="en-US" sz="2200"/>
              <a:t>ealizzare di tre </a:t>
            </a:r>
            <a:r>
              <a:rPr b="1" lang="en-US" sz="2200"/>
              <a:t>query</a:t>
            </a:r>
            <a:r>
              <a:rPr lang="en-US" sz="2200"/>
              <a:t> richieste dalla specifica, confrontando diverse implementazioni basate sulle seguenti API: </a:t>
            </a:r>
            <a:r>
              <a:rPr b="1" lang="en-US" sz="2200"/>
              <a:t>RDD</a:t>
            </a:r>
            <a:r>
              <a:rPr lang="en-US" sz="2200"/>
              <a:t>, </a:t>
            </a:r>
            <a:r>
              <a:rPr b="1" lang="en-US" sz="2200"/>
              <a:t>DataFrame</a:t>
            </a:r>
            <a:r>
              <a:rPr lang="en-US" sz="2200"/>
              <a:t> e </a:t>
            </a:r>
            <a:r>
              <a:rPr b="1" lang="en-US" sz="2200"/>
              <a:t>SQL</a:t>
            </a:r>
            <a:r>
              <a:rPr lang="en-US" sz="2200"/>
              <a:t>.</a:t>
            </a:r>
            <a:endParaRPr sz="2200"/>
          </a:p>
          <a:p>
            <a:pPr indent="-368300" lvl="0" marL="457200" rtl="0" algn="l">
              <a:lnSpc>
                <a:spcPct val="115000"/>
              </a:lnSpc>
              <a:spcBef>
                <a:spcPts val="0"/>
              </a:spcBef>
              <a:spcAft>
                <a:spcPts val="0"/>
              </a:spcAft>
              <a:buSzPts val="2200"/>
              <a:buChar char="●"/>
            </a:pPr>
            <a:r>
              <a:rPr lang="en-US" sz="2200"/>
              <a:t>Effettuare un’</a:t>
            </a:r>
            <a:r>
              <a:rPr b="1" lang="en-US" sz="2200"/>
              <a:t>analisi di clustering</a:t>
            </a:r>
            <a:r>
              <a:rPr lang="en-US" sz="2200"/>
              <a:t> per individuare gruppi di compagnie aeree con comportamenti operativi simili.</a:t>
            </a:r>
            <a:endParaRPr sz="2200"/>
          </a:p>
        </p:txBody>
      </p:sp>
      <p:sp>
        <p:nvSpPr>
          <p:cNvPr id="419" name="Google Shape;419;p68"/>
          <p:cNvSpPr/>
          <p:nvPr/>
        </p:nvSpPr>
        <p:spPr>
          <a:xfrm>
            <a:off x="450349" y="1142525"/>
            <a:ext cx="1779600" cy="54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9"/>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Architettura del sistema</a:t>
            </a:r>
            <a:endParaRPr b="1" i="0" sz="3600" u="none" cap="none" strike="noStrike"/>
          </a:p>
        </p:txBody>
      </p:sp>
      <p:sp>
        <p:nvSpPr>
          <p:cNvPr id="425" name="Google Shape;425;p69"/>
          <p:cNvSpPr/>
          <p:nvPr/>
        </p:nvSpPr>
        <p:spPr>
          <a:xfrm>
            <a:off x="423000" y="1371600"/>
            <a:ext cx="5544000" cy="5239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14"/>
              </a:spcBef>
              <a:spcAft>
                <a:spcPts val="0"/>
              </a:spcAft>
              <a:buNone/>
            </a:pPr>
            <a:r>
              <a:rPr lang="en-US" sz="2200"/>
              <a:t>L’architettura è composta da più servizi </a:t>
            </a:r>
            <a:r>
              <a:rPr i="1" lang="en-US" sz="2200"/>
              <a:t>containerizzati</a:t>
            </a:r>
            <a:r>
              <a:rPr lang="en-US" sz="2200"/>
              <a:t>:</a:t>
            </a:r>
            <a:endParaRPr sz="2200"/>
          </a:p>
          <a:p>
            <a:pPr indent="-368300" lvl="0" marL="457200" rtl="0" algn="l">
              <a:lnSpc>
                <a:spcPct val="115000"/>
              </a:lnSpc>
              <a:spcBef>
                <a:spcPts val="1414"/>
              </a:spcBef>
              <a:spcAft>
                <a:spcPts val="0"/>
              </a:spcAft>
              <a:buClr>
                <a:schemeClr val="dk1"/>
              </a:buClr>
              <a:buSzPts val="2200"/>
              <a:buChar char="●"/>
            </a:pPr>
            <a:r>
              <a:rPr b="1" lang="en-US" sz="2200">
                <a:solidFill>
                  <a:schemeClr val="dk1"/>
                </a:solidFill>
              </a:rPr>
              <a:t>NiFi </a:t>
            </a:r>
            <a:r>
              <a:rPr lang="en-US" sz="2200">
                <a:solidFill>
                  <a:schemeClr val="dk1"/>
                </a:solidFill>
              </a:rPr>
              <a:t>gestisce l’ingestione e il preprocessing dei </a:t>
            </a:r>
            <a:r>
              <a:rPr i="1" lang="en-US" sz="2200">
                <a:solidFill>
                  <a:schemeClr val="dk1"/>
                </a:solidFill>
              </a:rPr>
              <a:t>CSV</a:t>
            </a:r>
            <a:r>
              <a:rPr lang="en-US" sz="2200">
                <a:solidFill>
                  <a:schemeClr val="dk1"/>
                </a:solidFill>
              </a:rPr>
              <a:t>.</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HDFS</a:t>
            </a:r>
            <a:r>
              <a:rPr lang="en-US" sz="2200">
                <a:solidFill>
                  <a:schemeClr val="dk1"/>
                </a:solidFill>
              </a:rPr>
              <a:t> memorizza in modo persistente sia il dataset pre-processato in formato </a:t>
            </a:r>
            <a:r>
              <a:rPr i="1" lang="en-US" sz="2200">
                <a:solidFill>
                  <a:schemeClr val="dk1"/>
                </a:solidFill>
              </a:rPr>
              <a:t>Apache Parquet</a:t>
            </a:r>
            <a:r>
              <a:rPr lang="en-US" sz="2200">
                <a:solidFill>
                  <a:schemeClr val="dk1"/>
                </a:solidFill>
              </a:rPr>
              <a:t>, sia risultati delle query</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Spark</a:t>
            </a:r>
            <a:r>
              <a:rPr lang="en-US" sz="2200">
                <a:solidFill>
                  <a:schemeClr val="dk1"/>
                </a:solidFill>
              </a:rPr>
              <a:t> legge i dati Parquet da HDFS ed esegue le elaborazioni analitiche.</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Redis </a:t>
            </a:r>
            <a:r>
              <a:rPr lang="en-US" sz="2200">
                <a:solidFill>
                  <a:schemeClr val="dk1"/>
                </a:solidFill>
              </a:rPr>
              <a:t>memorizza i risultati finali.</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Grafana </a:t>
            </a:r>
            <a:r>
              <a:rPr lang="en-US" sz="2200">
                <a:solidFill>
                  <a:schemeClr val="dk1"/>
                </a:solidFill>
              </a:rPr>
              <a:t>permette la visualizzazione grafica dei risultati prodotti.</a:t>
            </a:r>
            <a:endParaRPr sz="2200">
              <a:solidFill>
                <a:schemeClr val="dk1"/>
              </a:solidFill>
            </a:endParaRPr>
          </a:p>
          <a:p>
            <a:pPr indent="0" lvl="0" marL="0" rtl="0" algn="l">
              <a:lnSpc>
                <a:spcPct val="115000"/>
              </a:lnSpc>
              <a:spcBef>
                <a:spcPts val="1414"/>
              </a:spcBef>
              <a:spcAft>
                <a:spcPts val="0"/>
              </a:spcAft>
              <a:buNone/>
            </a:pPr>
            <a:r>
              <a:t/>
            </a:r>
            <a:endParaRPr sz="2200"/>
          </a:p>
          <a:p>
            <a:pPr indent="0" lvl="0" marL="0" rtl="0" algn="l">
              <a:lnSpc>
                <a:spcPct val="115000"/>
              </a:lnSpc>
              <a:spcBef>
                <a:spcPts val="1414"/>
              </a:spcBef>
              <a:spcAft>
                <a:spcPts val="0"/>
              </a:spcAft>
              <a:buNone/>
            </a:pPr>
            <a:r>
              <a:t/>
            </a:r>
            <a:endParaRPr sz="2200"/>
          </a:p>
          <a:p>
            <a:pPr indent="0" lvl="0" marL="0" rtl="0" algn="l">
              <a:lnSpc>
                <a:spcPct val="115000"/>
              </a:lnSpc>
              <a:spcBef>
                <a:spcPts val="1414"/>
              </a:spcBef>
              <a:spcAft>
                <a:spcPts val="0"/>
              </a:spcAft>
              <a:buNone/>
            </a:pPr>
            <a:r>
              <a:t/>
            </a:r>
            <a:endParaRPr sz="2200"/>
          </a:p>
          <a:p>
            <a:pPr indent="0" lvl="0" marL="0" rtl="0" algn="l">
              <a:lnSpc>
                <a:spcPct val="115000"/>
              </a:lnSpc>
              <a:spcBef>
                <a:spcPts val="1414"/>
              </a:spcBef>
              <a:spcAft>
                <a:spcPts val="0"/>
              </a:spcAft>
              <a:buNone/>
            </a:pPr>
            <a:r>
              <a:t/>
            </a:r>
            <a:endParaRPr sz="2200"/>
          </a:p>
          <a:p>
            <a:pPr indent="0" lvl="0" marL="0" rtl="0" algn="l">
              <a:lnSpc>
                <a:spcPct val="115000"/>
              </a:lnSpc>
              <a:spcBef>
                <a:spcPts val="1414"/>
              </a:spcBef>
              <a:spcAft>
                <a:spcPts val="0"/>
              </a:spcAft>
              <a:buNone/>
            </a:pPr>
            <a:r>
              <a:t/>
            </a:r>
            <a:endParaRPr sz="2200"/>
          </a:p>
          <a:p>
            <a:pPr indent="0" lvl="0" marL="0" rtl="0" algn="l">
              <a:lnSpc>
                <a:spcPct val="115000"/>
              </a:lnSpc>
              <a:spcBef>
                <a:spcPts val="1414"/>
              </a:spcBef>
              <a:spcAft>
                <a:spcPts val="0"/>
              </a:spcAft>
              <a:buNone/>
            </a:pPr>
            <a:r>
              <a:t/>
            </a:r>
            <a:endParaRPr sz="2200"/>
          </a:p>
          <a:p>
            <a:pPr indent="0" lvl="0" marL="0" rtl="0" algn="l">
              <a:lnSpc>
                <a:spcPct val="115000"/>
              </a:lnSpc>
              <a:spcBef>
                <a:spcPts val="1414"/>
              </a:spcBef>
              <a:spcAft>
                <a:spcPts val="0"/>
              </a:spcAft>
              <a:buNone/>
            </a:pPr>
            <a:r>
              <a:t/>
            </a:r>
            <a:endParaRPr sz="2200"/>
          </a:p>
        </p:txBody>
      </p:sp>
      <p:sp>
        <p:nvSpPr>
          <p:cNvPr id="426" name="Google Shape;426;p69"/>
          <p:cNvSpPr/>
          <p:nvPr/>
        </p:nvSpPr>
        <p:spPr>
          <a:xfrm>
            <a:off x="450350" y="1138675"/>
            <a:ext cx="5186100" cy="49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7" name="Google Shape;427;p69"/>
          <p:cNvPicPr preferRelativeResize="0"/>
          <p:nvPr/>
        </p:nvPicPr>
        <p:blipFill rotWithShape="1">
          <a:blip r:embed="rId3">
            <a:alphaModFix/>
          </a:blip>
          <a:srcRect b="-1790" l="0" r="0" t="1790"/>
          <a:stretch/>
        </p:blipFill>
        <p:spPr>
          <a:xfrm>
            <a:off x="6121075" y="1371600"/>
            <a:ext cx="5795275" cy="4682825"/>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0"/>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Data Ingestion: Apache NiFi</a:t>
            </a:r>
            <a:endParaRPr b="1" i="0" sz="3600" u="none" cap="none" strike="noStrike"/>
          </a:p>
        </p:txBody>
      </p:sp>
      <p:sp>
        <p:nvSpPr>
          <p:cNvPr id="433" name="Google Shape;433;p70"/>
          <p:cNvSpPr/>
          <p:nvPr/>
        </p:nvSpPr>
        <p:spPr>
          <a:xfrm>
            <a:off x="423000" y="1371600"/>
            <a:ext cx="11366100" cy="4991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14"/>
              </a:spcBef>
              <a:spcAft>
                <a:spcPts val="0"/>
              </a:spcAft>
              <a:buNone/>
            </a:pPr>
            <a:r>
              <a:rPr lang="en-US" sz="2200"/>
              <a:t>Il </a:t>
            </a:r>
            <a:r>
              <a:rPr b="1" lang="en-US" sz="2200"/>
              <a:t>NiFi Flow</a:t>
            </a:r>
            <a:r>
              <a:rPr lang="en-US" sz="2200"/>
              <a:t> definito gestisce la Data Ingestion dai file sorgente fino a HDFS, con una fase di pre-processamento. La pipeline è composta da cinque processori in sequenza:</a:t>
            </a:r>
            <a:endParaRPr sz="2200"/>
          </a:p>
          <a:p>
            <a:pPr indent="-368300" lvl="0" marL="457200" rtl="0" algn="l">
              <a:lnSpc>
                <a:spcPct val="115000"/>
              </a:lnSpc>
              <a:spcBef>
                <a:spcPts val="1414"/>
              </a:spcBef>
              <a:spcAft>
                <a:spcPts val="0"/>
              </a:spcAft>
              <a:buSzPts val="2200"/>
              <a:buChar char="●"/>
            </a:pPr>
            <a:r>
              <a:rPr b="1" lang="en-US" sz="2200"/>
              <a:t>Recupero dei file</a:t>
            </a:r>
            <a:endParaRPr b="1" sz="2200"/>
          </a:p>
          <a:p>
            <a:pPr indent="-368300" lvl="1" marL="914400" rtl="0" algn="l">
              <a:lnSpc>
                <a:spcPct val="115000"/>
              </a:lnSpc>
              <a:spcBef>
                <a:spcPts val="0"/>
              </a:spcBef>
              <a:spcAft>
                <a:spcPts val="0"/>
              </a:spcAft>
              <a:buSzPts val="2200"/>
              <a:buChar char="○"/>
            </a:pPr>
            <a:r>
              <a:rPr lang="en-US" sz="2200">
                <a:latin typeface="Roboto Mono"/>
                <a:ea typeface="Roboto Mono"/>
                <a:cs typeface="Roboto Mono"/>
                <a:sym typeface="Roboto Mono"/>
              </a:rPr>
              <a:t>ListFile</a:t>
            </a:r>
            <a:r>
              <a:rPr lang="en-US" sz="2200"/>
              <a:t> per selezionare i file grezzi interessanti </a:t>
            </a:r>
            <a:r>
              <a:rPr lang="en-US" sz="2200">
                <a:solidFill>
                  <a:schemeClr val="dk1"/>
                </a:solidFill>
              </a:rPr>
              <a:t>per lo studio</a:t>
            </a:r>
            <a:r>
              <a:rPr lang="en-US" sz="2200"/>
              <a:t> dal dataset originale. Inoltre, per ognuno di questi, genera un </a:t>
            </a:r>
            <a:r>
              <a:rPr b="1" lang="en-US" sz="2200"/>
              <a:t>FlowFile</a:t>
            </a:r>
            <a:r>
              <a:rPr lang="en-US" sz="2200"/>
              <a:t> contenente </a:t>
            </a:r>
            <a:r>
              <a:rPr b="1" lang="en-US" sz="2200"/>
              <a:t>metadati</a:t>
            </a:r>
            <a:r>
              <a:rPr lang="en-US" sz="2200"/>
              <a:t>.</a:t>
            </a:r>
            <a:endParaRPr sz="2200"/>
          </a:p>
          <a:p>
            <a:pPr indent="-368300" lvl="1" marL="914400" rtl="0" algn="l">
              <a:lnSpc>
                <a:spcPct val="115000"/>
              </a:lnSpc>
              <a:spcBef>
                <a:spcPts val="0"/>
              </a:spcBef>
              <a:spcAft>
                <a:spcPts val="0"/>
              </a:spcAft>
              <a:buSzPts val="2200"/>
              <a:buChar char="○"/>
            </a:pPr>
            <a:r>
              <a:rPr lang="en-US" sz="2200">
                <a:latin typeface="Roboto Mono"/>
                <a:ea typeface="Roboto Mono"/>
                <a:cs typeface="Roboto Mono"/>
                <a:sym typeface="Roboto Mono"/>
              </a:rPr>
              <a:t>FetchFile</a:t>
            </a:r>
            <a:r>
              <a:rPr lang="en-US" sz="2200"/>
              <a:t> legge il contenuto effettivo di ciascun file e lo aggiunge al FlowFile.</a:t>
            </a:r>
            <a:endParaRPr sz="2200"/>
          </a:p>
          <a:p>
            <a:pPr indent="-368300" lvl="0" marL="457200" rtl="0" algn="l">
              <a:lnSpc>
                <a:spcPct val="115000"/>
              </a:lnSpc>
              <a:spcBef>
                <a:spcPts val="0"/>
              </a:spcBef>
              <a:spcAft>
                <a:spcPts val="0"/>
              </a:spcAft>
              <a:buSzPts val="2200"/>
              <a:buChar char="●"/>
            </a:pPr>
            <a:r>
              <a:rPr b="1" lang="en-US" sz="2200"/>
              <a:t>Pre-processamento e Conversione dei file</a:t>
            </a:r>
            <a:endParaRPr sz="2200"/>
          </a:p>
          <a:p>
            <a:pPr indent="-368300" lvl="1" marL="914400" rtl="0" algn="l">
              <a:lnSpc>
                <a:spcPct val="115000"/>
              </a:lnSpc>
              <a:spcBef>
                <a:spcPts val="0"/>
              </a:spcBef>
              <a:spcAft>
                <a:spcPts val="0"/>
              </a:spcAft>
              <a:buSzPts val="2200"/>
              <a:buChar char="○"/>
            </a:pPr>
            <a:r>
              <a:rPr lang="en-US" sz="2200">
                <a:latin typeface="Roboto Mono"/>
                <a:ea typeface="Roboto Mono"/>
                <a:cs typeface="Roboto Mono"/>
                <a:sym typeface="Roboto Mono"/>
              </a:rPr>
              <a:t>PartitionRecord</a:t>
            </a:r>
            <a:r>
              <a:rPr b="1" lang="en-US" sz="2200"/>
              <a:t> </a:t>
            </a:r>
            <a:r>
              <a:rPr lang="en-US" sz="2200"/>
              <a:t>realizza la conversione dal formato CSV ad Apache Parquet, </a:t>
            </a:r>
            <a:r>
              <a:rPr b="1" lang="en-US" sz="2200"/>
              <a:t>partizionando</a:t>
            </a:r>
            <a:r>
              <a:rPr lang="en-US" sz="2200"/>
              <a:t> secondo il record path. Il processore ha due controller service:</a:t>
            </a:r>
            <a:endParaRPr sz="2200"/>
          </a:p>
          <a:p>
            <a:pPr indent="-368300" lvl="2" marL="1371600" rtl="0" algn="l">
              <a:lnSpc>
                <a:spcPct val="115000"/>
              </a:lnSpc>
              <a:spcBef>
                <a:spcPts val="0"/>
              </a:spcBef>
              <a:spcAft>
                <a:spcPts val="0"/>
              </a:spcAft>
              <a:buSzPts val="2200"/>
              <a:buChar char="■"/>
            </a:pPr>
            <a:r>
              <a:rPr b="1" lang="en-US" sz="2200"/>
              <a:t>Record Reader </a:t>
            </a:r>
            <a:r>
              <a:rPr lang="en-US" sz="2200"/>
              <a:t>che </a:t>
            </a:r>
            <a:r>
              <a:rPr lang="en-US" sz="2200"/>
              <a:t>adotta un</a:t>
            </a:r>
            <a:r>
              <a:rPr b="1" lang="en-US" sz="2200"/>
              <a:t> </a:t>
            </a:r>
            <a:r>
              <a:rPr lang="en-US" sz="2200">
                <a:latin typeface="Roboto Mono"/>
                <a:ea typeface="Roboto Mono"/>
                <a:cs typeface="Roboto Mono"/>
                <a:sym typeface="Roboto Mono"/>
              </a:rPr>
              <a:t>CSVReader</a:t>
            </a:r>
            <a:r>
              <a:rPr b="1" lang="en-US" sz="2200"/>
              <a:t> </a:t>
            </a:r>
            <a:endParaRPr b="1" sz="2200"/>
          </a:p>
          <a:p>
            <a:pPr indent="-368300" lvl="2" marL="1371600" rtl="0" algn="l">
              <a:lnSpc>
                <a:spcPct val="115000"/>
              </a:lnSpc>
              <a:spcBef>
                <a:spcPts val="0"/>
              </a:spcBef>
              <a:spcAft>
                <a:spcPts val="0"/>
              </a:spcAft>
              <a:buSzPts val="2200"/>
              <a:buChar char="■"/>
            </a:pPr>
            <a:r>
              <a:rPr b="1" lang="en-US" sz="2200"/>
              <a:t>Record Writer </a:t>
            </a:r>
            <a:r>
              <a:rPr lang="en-US" sz="2200"/>
              <a:t>che adotta un</a:t>
            </a:r>
            <a:r>
              <a:rPr b="1" lang="en-US" sz="2200"/>
              <a:t> </a:t>
            </a:r>
            <a:r>
              <a:rPr lang="en-US" sz="2200">
                <a:latin typeface="Roboto Mono"/>
                <a:ea typeface="Roboto Mono"/>
                <a:cs typeface="Roboto Mono"/>
                <a:sym typeface="Roboto Mono"/>
              </a:rPr>
              <a:t>ParquetRecordSetWriter</a:t>
            </a:r>
            <a:endParaRPr sz="2200">
              <a:latin typeface="Roboto Mono"/>
              <a:ea typeface="Roboto Mono"/>
              <a:cs typeface="Roboto Mono"/>
              <a:sym typeface="Roboto Mono"/>
            </a:endParaRPr>
          </a:p>
        </p:txBody>
      </p:sp>
      <p:sp>
        <p:nvSpPr>
          <p:cNvPr id="434" name="Google Shape;434;p70"/>
          <p:cNvSpPr/>
          <p:nvPr/>
        </p:nvSpPr>
        <p:spPr>
          <a:xfrm>
            <a:off x="450325" y="1138675"/>
            <a:ext cx="6022500" cy="49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70"/>
          <p:cNvSpPr/>
          <p:nvPr/>
        </p:nvSpPr>
        <p:spPr>
          <a:xfrm>
            <a:off x="12992000" y="431425"/>
            <a:ext cx="11366100" cy="4991400"/>
          </a:xfrm>
          <a:prstGeom prst="rect">
            <a:avLst/>
          </a:prstGeom>
          <a:noFill/>
          <a:ln>
            <a:noFill/>
          </a:ln>
        </p:spPr>
        <p:txBody>
          <a:bodyPr anchorCtr="0" anchor="t" bIns="45700" lIns="91425" spcFirstLastPara="1" rIns="91425" wrap="square" tIns="45700">
            <a:noAutofit/>
          </a:bodyPr>
          <a:lstStyle/>
          <a:p>
            <a:pPr indent="0" lvl="0" marL="0" rtl="0" algn="l">
              <a:spcBef>
                <a:spcPts val="1414"/>
              </a:spcBef>
              <a:spcAft>
                <a:spcPts val="0"/>
              </a:spcAft>
              <a:buNone/>
            </a:pPr>
            <a:r>
              <a:rPr b="1" lang="en-US" sz="2200"/>
              <a:t>NiFi Flow</a:t>
            </a:r>
            <a:r>
              <a:rPr lang="en-US" sz="2200"/>
              <a:t> Il flusso gestisce l’ingestione dei dati dai file sorgente fino a HDFS, con una fase di preprocessing. La pipeline è composta da cinque processori in sequenza:</a:t>
            </a:r>
            <a:endParaRPr sz="2200"/>
          </a:p>
          <a:p>
            <a:pPr indent="0" lvl="0" marL="0" rtl="0" algn="l">
              <a:spcBef>
                <a:spcPts val="1414"/>
              </a:spcBef>
              <a:spcAft>
                <a:spcPts val="0"/>
              </a:spcAft>
              <a:buNone/>
            </a:pPr>
            <a:r>
              <a:rPr lang="en-US" sz="2200"/>
              <a:t>1) </a:t>
            </a:r>
            <a:r>
              <a:rPr b="1" lang="en-US" sz="2200"/>
              <a:t>ListFile</a:t>
            </a:r>
            <a:r>
              <a:rPr lang="en-US" sz="2200"/>
              <a:t> monitora la directory locale in modo ricorsivo e genera un FlowFile per ogni file il cui nome soddisfa una certa espressione regolare, selezionando così i quattro file mensili di reporting (gennaio-aprile 2025). Il listing permette un’ingestione singola, per cui i file già elencati non vengono rielaborati. Il FlowFile prodotto contiene solo i metadati del file, non ancora il contenuto.</a:t>
            </a:r>
            <a:endParaRPr sz="2200"/>
          </a:p>
          <a:p>
            <a:pPr indent="0" lvl="0" marL="0" rtl="0" algn="l">
              <a:spcBef>
                <a:spcPts val="1414"/>
              </a:spcBef>
              <a:spcAft>
                <a:spcPts val="0"/>
              </a:spcAft>
              <a:buNone/>
            </a:pPr>
            <a:r>
              <a:rPr lang="en-US" sz="2200"/>
              <a:t>2) </a:t>
            </a:r>
            <a:r>
              <a:rPr b="1" lang="en-US" sz="2200"/>
              <a:t>FetchFile</a:t>
            </a:r>
            <a:r>
              <a:rPr lang="en-US" sz="2200"/>
              <a:t> legge il contenuto effettivo di ciascun file sfruttando i metadati recuperati dal Processor precedente e lo carica nel FlowFile.</a:t>
            </a:r>
            <a:endParaRPr sz="2200"/>
          </a:p>
          <a:p>
            <a:pPr indent="0" lvl="0" marL="0" rtl="0" algn="l">
              <a:spcBef>
                <a:spcPts val="1414"/>
              </a:spcBef>
              <a:spcAft>
                <a:spcPts val="0"/>
              </a:spcAft>
              <a:buNone/>
            </a:pPr>
            <a:r>
              <a:rPr lang="en-US" sz="2200"/>
              <a:t>3) </a:t>
            </a:r>
            <a:r>
              <a:rPr b="1" lang="en-US" sz="2200"/>
              <a:t>PartitionRecord</a:t>
            </a:r>
            <a:r>
              <a:rPr lang="en-US" sz="2200"/>
              <a:t> è il cuore della trasformazione e assol- ve due compiti contemporaneamente. In lettura adotta un CSVReader e in scrittura un ParquetRecordSetW- riter, realizzando la conversione da CSV a Parquet. Contestualmente ripartiziona i record in base al valore della compagnia aerea (OP_UNIQUE_CARRIER), producendo un FlowFile Parquet distinto per ciascun vettore presente nel file mensile. La selezione delle colonne avviene proprio in questa fase: il CSVReader impiega uno schema Avro che mantiene le sole 14 colonne utili al progetto, scartando tutte le restanti colonne della sor- gente. Lo schema di scrittura ne conserva 13, omettendo OP_UNIQUE_CARRIER, poiché tale informazione vie- ne promossa a chiave di partizionamento e codificata nel percorso delle directory, evitando così la ridondanza del dato. Il tipo OP_UNIQUE_CARRIER, che è una stringa, verrà inferita automaticamente da Spark quando andrà a fare partition discovery, seguendo lo standard Hive.</a:t>
            </a:r>
            <a:endParaRPr sz="2200"/>
          </a:p>
          <a:p>
            <a:pPr indent="0" lvl="0" marL="0" rtl="0" algn="l">
              <a:spcBef>
                <a:spcPts val="1414"/>
              </a:spcBef>
              <a:spcAft>
                <a:spcPts val="0"/>
              </a:spcAft>
              <a:buNone/>
            </a:pPr>
            <a:r>
              <a:rPr lang="en-US" sz="2200"/>
              <a:t>4) </a:t>
            </a:r>
            <a:r>
              <a:rPr b="1" lang="en-US" sz="2200"/>
              <a:t>UpdateAttribute</a:t>
            </a:r>
            <a:r>
              <a:rPr lang="en-US" sz="2200"/>
              <a:t> imposta l’attributo filename del Flow- File risultante assegnando un nome significativo al file Parquet unificato.</a:t>
            </a:r>
            <a:endParaRPr sz="2200"/>
          </a:p>
          <a:p>
            <a:pPr indent="0" lvl="0" marL="0" rtl="0" algn="l">
              <a:spcBef>
                <a:spcPts val="1414"/>
              </a:spcBef>
              <a:spcAft>
                <a:spcPts val="0"/>
              </a:spcAft>
              <a:buNone/>
            </a:pPr>
            <a:r>
              <a:rPr lang="en-US" sz="2200"/>
              <a:t>5) </a:t>
            </a:r>
            <a:r>
              <a:rPr b="1" lang="en-US" sz="2200"/>
              <a:t>PutHDFS</a:t>
            </a:r>
            <a:r>
              <a:rPr lang="en-US" sz="2200"/>
              <a:t> salva infine il file Parquet su HDFS. Al termine, i dati sono disponibili in modo persistente su HDFS per il processing tramite Apache Spark.</a:t>
            </a:r>
            <a:endParaRPr sz="2200"/>
          </a:p>
          <a:p>
            <a:pPr indent="0" lvl="0" marL="0" rtl="0" algn="l">
              <a:spcBef>
                <a:spcPts val="1414"/>
              </a:spcBef>
              <a:spcAft>
                <a:spcPts val="0"/>
              </a:spcAft>
              <a:buNone/>
            </a:pPr>
            <a:r>
              <a:t/>
            </a:r>
            <a:endParaRPr sz="2200"/>
          </a:p>
          <a:p>
            <a:pPr indent="0" lvl="0" marL="0" marR="0" rtl="0" algn="l">
              <a:lnSpc>
                <a:spcPct val="100000"/>
              </a:lnSpc>
              <a:spcBef>
                <a:spcPts val="1414"/>
              </a:spcBef>
              <a:spcAft>
                <a:spcPts val="0"/>
              </a:spcAft>
              <a:buNone/>
            </a:pPr>
            <a:r>
              <a:t/>
            </a:r>
            <a:endParaRPr sz="220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1"/>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Data Ingestion: Apache NiFi</a:t>
            </a:r>
            <a:endParaRPr b="1" i="0" sz="3600" u="none" cap="none" strike="noStrike"/>
          </a:p>
        </p:txBody>
      </p:sp>
      <p:sp>
        <p:nvSpPr>
          <p:cNvPr id="441" name="Google Shape;441;p71"/>
          <p:cNvSpPr/>
          <p:nvPr/>
        </p:nvSpPr>
        <p:spPr>
          <a:xfrm>
            <a:off x="423000" y="1371600"/>
            <a:ext cx="11366100" cy="4991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14"/>
              </a:spcBef>
              <a:spcAft>
                <a:spcPts val="0"/>
              </a:spcAft>
              <a:buNone/>
            </a:pPr>
            <a:r>
              <a:rPr lang="en-US" sz="2200"/>
              <a:t>Il </a:t>
            </a:r>
            <a:r>
              <a:rPr b="1" lang="en-US" sz="2200"/>
              <a:t>NiFi Flow</a:t>
            </a:r>
            <a:r>
              <a:rPr lang="en-US" sz="2200"/>
              <a:t> definito gestisce la Data Ingestion dai file sorgente fino a HDFS, con una fase di pre-processamento. La pipeline è composta da cinque processori in sequenza:</a:t>
            </a:r>
            <a:endParaRPr sz="2200">
              <a:latin typeface="Roboto Mono"/>
              <a:ea typeface="Roboto Mono"/>
              <a:cs typeface="Roboto Mono"/>
              <a:sym typeface="Roboto Mono"/>
            </a:endParaRPr>
          </a:p>
          <a:p>
            <a:pPr indent="-368300" lvl="0" marL="457200" rtl="0" algn="l">
              <a:lnSpc>
                <a:spcPct val="115000"/>
              </a:lnSpc>
              <a:spcBef>
                <a:spcPts val="1414"/>
              </a:spcBef>
              <a:spcAft>
                <a:spcPts val="0"/>
              </a:spcAft>
              <a:buSzPts val="2200"/>
              <a:buChar char="●"/>
            </a:pPr>
            <a:r>
              <a:rPr b="1" lang="en-US" sz="2200"/>
              <a:t>Storage</a:t>
            </a:r>
            <a:endParaRPr b="1" sz="2200"/>
          </a:p>
          <a:p>
            <a:pPr indent="-368300" lvl="1" marL="914400" rtl="0" algn="l">
              <a:lnSpc>
                <a:spcPct val="115000"/>
              </a:lnSpc>
              <a:spcBef>
                <a:spcPts val="0"/>
              </a:spcBef>
              <a:spcAft>
                <a:spcPts val="0"/>
              </a:spcAft>
              <a:buSzPts val="2200"/>
              <a:buChar char="○"/>
            </a:pPr>
            <a:r>
              <a:rPr lang="en-US" sz="2200">
                <a:latin typeface="Roboto Mono"/>
                <a:ea typeface="Roboto Mono"/>
                <a:cs typeface="Roboto Mono"/>
                <a:sym typeface="Roboto Mono"/>
              </a:rPr>
              <a:t>UpdateAttribute</a:t>
            </a:r>
            <a:r>
              <a:rPr b="1" lang="en-US" sz="2200"/>
              <a:t> </a:t>
            </a:r>
            <a:r>
              <a:rPr lang="en-US" sz="2200"/>
              <a:t>va a impostare un nome significativo per ciascun file Parquet.</a:t>
            </a:r>
            <a:endParaRPr sz="2200"/>
          </a:p>
          <a:p>
            <a:pPr indent="-368300" lvl="1" marL="914400" rtl="0" algn="l">
              <a:lnSpc>
                <a:spcPct val="115000"/>
              </a:lnSpc>
              <a:spcBef>
                <a:spcPts val="0"/>
              </a:spcBef>
              <a:spcAft>
                <a:spcPts val="0"/>
              </a:spcAft>
              <a:buSzPts val="2200"/>
              <a:buFont typeface="Roboto Mono"/>
              <a:buChar char="○"/>
            </a:pPr>
            <a:r>
              <a:rPr lang="en-US" sz="2200">
                <a:latin typeface="Roboto Mono"/>
                <a:ea typeface="Roboto Mono"/>
                <a:cs typeface="Roboto Mono"/>
                <a:sym typeface="Roboto Mono"/>
              </a:rPr>
              <a:t>PutHDFS </a:t>
            </a:r>
            <a:r>
              <a:rPr lang="en-US" sz="2200">
                <a:solidFill>
                  <a:schemeClr val="dk1"/>
                </a:solidFill>
              </a:rPr>
              <a:t>scrive i file Parquet su HDFS.</a:t>
            </a:r>
            <a:endParaRPr sz="2200">
              <a:latin typeface="Roboto Mono"/>
              <a:ea typeface="Roboto Mono"/>
              <a:cs typeface="Roboto Mono"/>
              <a:sym typeface="Roboto Mono"/>
            </a:endParaRPr>
          </a:p>
        </p:txBody>
      </p:sp>
      <p:sp>
        <p:nvSpPr>
          <p:cNvPr id="442" name="Google Shape;442;p71"/>
          <p:cNvSpPr/>
          <p:nvPr/>
        </p:nvSpPr>
        <p:spPr>
          <a:xfrm>
            <a:off x="450325" y="1138675"/>
            <a:ext cx="6022500" cy="49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71"/>
          <p:cNvSpPr/>
          <p:nvPr/>
        </p:nvSpPr>
        <p:spPr>
          <a:xfrm>
            <a:off x="12992000" y="431425"/>
            <a:ext cx="11366100" cy="4991400"/>
          </a:xfrm>
          <a:prstGeom prst="rect">
            <a:avLst/>
          </a:prstGeom>
          <a:noFill/>
          <a:ln>
            <a:noFill/>
          </a:ln>
        </p:spPr>
        <p:txBody>
          <a:bodyPr anchorCtr="0" anchor="t" bIns="45700" lIns="91425" spcFirstLastPara="1" rIns="91425" wrap="square" tIns="45700">
            <a:noAutofit/>
          </a:bodyPr>
          <a:lstStyle/>
          <a:p>
            <a:pPr indent="0" lvl="0" marL="0" rtl="0" algn="l">
              <a:spcBef>
                <a:spcPts val="1414"/>
              </a:spcBef>
              <a:spcAft>
                <a:spcPts val="0"/>
              </a:spcAft>
              <a:buNone/>
            </a:pPr>
            <a:r>
              <a:rPr b="1" lang="en-US" sz="2200"/>
              <a:t>NiFi Flow</a:t>
            </a:r>
            <a:r>
              <a:rPr lang="en-US" sz="2200"/>
              <a:t> Il flusso gestisce l’ingestione dei dati dai file sorgente fino a HDFS, con una fase di preprocessing. La pipeline è composta da cinque processori in sequenza:</a:t>
            </a:r>
            <a:endParaRPr sz="2200"/>
          </a:p>
          <a:p>
            <a:pPr indent="0" lvl="0" marL="0" rtl="0" algn="l">
              <a:spcBef>
                <a:spcPts val="1414"/>
              </a:spcBef>
              <a:spcAft>
                <a:spcPts val="0"/>
              </a:spcAft>
              <a:buNone/>
            </a:pPr>
            <a:r>
              <a:rPr lang="en-US" sz="2200"/>
              <a:t>1) </a:t>
            </a:r>
            <a:r>
              <a:rPr b="1" lang="en-US" sz="2200"/>
              <a:t>ListFile</a:t>
            </a:r>
            <a:r>
              <a:rPr lang="en-US" sz="2200"/>
              <a:t> monitora la directory locale in modo ricorsivo e genera un FlowFile per ogni file il cui nome soddisfa una certa espressione regolare, selezionando così i quattro file mensili di reporting (gennaio-aprile 2025). Il listing permette un’ingestione singola, per cui i file già elencati non vengono rielaborati. Il FlowFile prodotto contiene solo i metadati del file, non ancora il contenuto.</a:t>
            </a:r>
            <a:endParaRPr sz="2200"/>
          </a:p>
          <a:p>
            <a:pPr indent="0" lvl="0" marL="0" rtl="0" algn="l">
              <a:spcBef>
                <a:spcPts val="1414"/>
              </a:spcBef>
              <a:spcAft>
                <a:spcPts val="0"/>
              </a:spcAft>
              <a:buNone/>
            </a:pPr>
            <a:r>
              <a:rPr lang="en-US" sz="2200"/>
              <a:t>2) </a:t>
            </a:r>
            <a:r>
              <a:rPr b="1" lang="en-US" sz="2200"/>
              <a:t>FetchFile</a:t>
            </a:r>
            <a:r>
              <a:rPr lang="en-US" sz="2200"/>
              <a:t> legge il contenuto effettivo di ciascun file sfruttando i metadati recuperati dal Processor precedente e lo carica nel FlowFile.</a:t>
            </a:r>
            <a:endParaRPr sz="2200"/>
          </a:p>
          <a:p>
            <a:pPr indent="0" lvl="0" marL="0" rtl="0" algn="l">
              <a:spcBef>
                <a:spcPts val="1414"/>
              </a:spcBef>
              <a:spcAft>
                <a:spcPts val="0"/>
              </a:spcAft>
              <a:buNone/>
            </a:pPr>
            <a:r>
              <a:rPr lang="en-US" sz="2200"/>
              <a:t>3) </a:t>
            </a:r>
            <a:r>
              <a:rPr b="1" lang="en-US" sz="2200"/>
              <a:t>PartitionRecord</a:t>
            </a:r>
            <a:r>
              <a:rPr lang="en-US" sz="2200"/>
              <a:t> è il cuore della trasformazione e assol- ve due compiti contemporaneamente. In lettura adotta un CSVReader e in scrittura un ParquetRecordSetW- riter, realizzando la conversione da CSV a Parquet. Contestualmente ripartiziona i record in base al valore della compagnia aerea (OP_UNIQUE_CARRIER), producendo un FlowFile Parquet distinto per ciascun vettore presente nel file mensile. La selezione delle colonne avviene proprio in questa fase: il CSVReader impiega uno schema Avro che mantiene le sole 14 colonne utili al progetto, scartando tutte le restanti colonne della sor- gente. Lo schema di scrittura ne conserva 13, omettendo OP_UNIQUE_CARRIER, poiché tale informazione vie- ne promossa a chiave di partizionamento e codificata nel percorso delle directory, evitando così la ridondanza del dato. Il tipo OP_UNIQUE_CARRIER, che è una stringa, verrà inferita automaticamente da Spark quando andrà a fare partition discovery, seguendo lo standard Hive.</a:t>
            </a:r>
            <a:endParaRPr sz="2200"/>
          </a:p>
          <a:p>
            <a:pPr indent="0" lvl="0" marL="0" rtl="0" algn="l">
              <a:spcBef>
                <a:spcPts val="1414"/>
              </a:spcBef>
              <a:spcAft>
                <a:spcPts val="0"/>
              </a:spcAft>
              <a:buNone/>
            </a:pPr>
            <a:r>
              <a:rPr lang="en-US" sz="2200"/>
              <a:t>4) </a:t>
            </a:r>
            <a:r>
              <a:rPr b="1" lang="en-US" sz="2200"/>
              <a:t>UpdateAttribute</a:t>
            </a:r>
            <a:r>
              <a:rPr lang="en-US" sz="2200"/>
              <a:t> imposta l’attributo filename del Flow- File risultante assegnando un nome significativo al file Parquet unificato.</a:t>
            </a:r>
            <a:endParaRPr sz="2200"/>
          </a:p>
          <a:p>
            <a:pPr indent="0" lvl="0" marL="0" rtl="0" algn="l">
              <a:spcBef>
                <a:spcPts val="1414"/>
              </a:spcBef>
              <a:spcAft>
                <a:spcPts val="0"/>
              </a:spcAft>
              <a:buNone/>
            </a:pPr>
            <a:r>
              <a:rPr lang="en-US" sz="2200"/>
              <a:t>5) </a:t>
            </a:r>
            <a:r>
              <a:rPr b="1" lang="en-US" sz="2200"/>
              <a:t>PutHDFS</a:t>
            </a:r>
            <a:r>
              <a:rPr lang="en-US" sz="2200"/>
              <a:t> salva infine il file Parquet su HDFS. Al termine, i dati sono disponibili in modo persistente su HDFS per il processing tramite Apache Spark.</a:t>
            </a:r>
            <a:endParaRPr sz="2200"/>
          </a:p>
          <a:p>
            <a:pPr indent="0" lvl="0" marL="0" rtl="0" algn="l">
              <a:spcBef>
                <a:spcPts val="1414"/>
              </a:spcBef>
              <a:spcAft>
                <a:spcPts val="0"/>
              </a:spcAft>
              <a:buNone/>
            </a:pPr>
            <a:r>
              <a:t/>
            </a:r>
            <a:endParaRPr sz="2200"/>
          </a:p>
          <a:p>
            <a:pPr indent="0" lvl="0" marL="0" marR="0" rtl="0" algn="l">
              <a:lnSpc>
                <a:spcPct val="100000"/>
              </a:lnSpc>
              <a:spcBef>
                <a:spcPts val="1414"/>
              </a:spcBef>
              <a:spcAft>
                <a:spcPts val="0"/>
              </a:spcAft>
              <a:buNone/>
            </a:pPr>
            <a:r>
              <a:t/>
            </a:r>
            <a:endParaRPr sz="220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2"/>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Data Ingestion: Apache Parquet</a:t>
            </a:r>
            <a:endParaRPr b="1" i="0" sz="3600" u="none" cap="none" strike="noStrike"/>
          </a:p>
        </p:txBody>
      </p:sp>
      <p:sp>
        <p:nvSpPr>
          <p:cNvPr id="449" name="Google Shape;449;p72"/>
          <p:cNvSpPr/>
          <p:nvPr/>
        </p:nvSpPr>
        <p:spPr>
          <a:xfrm>
            <a:off x="423000" y="1371600"/>
            <a:ext cx="11069400" cy="4991400"/>
          </a:xfrm>
          <a:prstGeom prst="rect">
            <a:avLst/>
          </a:prstGeom>
          <a:noFill/>
          <a:ln>
            <a:noFill/>
          </a:ln>
        </p:spPr>
        <p:txBody>
          <a:bodyPr anchorCtr="0" anchor="t" bIns="45700" lIns="91425" spcFirstLastPara="1" rIns="91425" wrap="square" tIns="45700">
            <a:noAutofit/>
          </a:bodyPr>
          <a:lstStyle/>
          <a:p>
            <a:pPr indent="0" lvl="0" marL="0" rtl="0" algn="l">
              <a:spcBef>
                <a:spcPts val="1414"/>
              </a:spcBef>
              <a:spcAft>
                <a:spcPts val="0"/>
              </a:spcAft>
              <a:buNone/>
            </a:pPr>
            <a:r>
              <a:rPr lang="en-US" sz="2200"/>
              <a:t>La scelta del formato per la conversione del dataset è ricaduta sul formato </a:t>
            </a:r>
            <a:r>
              <a:rPr b="1" lang="en-US" sz="2200"/>
              <a:t>Apache Parquet</a:t>
            </a:r>
            <a:r>
              <a:rPr lang="en-US" sz="2200"/>
              <a:t>, un formato colonnare progettato per storage e recupero efficiente, </a:t>
            </a:r>
            <a:r>
              <a:rPr lang="en-US" sz="2200">
                <a:solidFill>
                  <a:schemeClr val="dk1"/>
                </a:solidFill>
              </a:rPr>
              <a:t>per la </a:t>
            </a:r>
            <a:r>
              <a:rPr lang="en-US" sz="2200">
                <a:solidFill>
                  <a:schemeClr val="dk1"/>
                </a:solidFill>
              </a:rPr>
              <a:t>natura stessa del progetto</a:t>
            </a:r>
            <a:r>
              <a:rPr lang="en-US" sz="2200"/>
              <a:t>.</a:t>
            </a:r>
            <a:endParaRPr sz="2200"/>
          </a:p>
          <a:p>
            <a:pPr indent="-368300" lvl="0" marL="457200" rtl="0" algn="l">
              <a:spcBef>
                <a:spcPts val="1414"/>
              </a:spcBef>
              <a:spcAft>
                <a:spcPts val="0"/>
              </a:spcAft>
              <a:buSzPts val="2200"/>
              <a:buChar char="●"/>
            </a:pPr>
            <a:r>
              <a:rPr lang="en-US" sz="2200">
                <a:solidFill>
                  <a:schemeClr val="dk1"/>
                </a:solidFill>
              </a:rPr>
              <a:t>Parquet è molto più efficiente in lettura che in scrittura</a:t>
            </a:r>
            <a:endParaRPr sz="2200">
              <a:solidFill>
                <a:schemeClr val="dk1"/>
              </a:solidFill>
            </a:endParaRPr>
          </a:p>
          <a:p>
            <a:pPr indent="-368300" lvl="0" marL="457200" rtl="0" algn="l">
              <a:spcBef>
                <a:spcPts val="0"/>
              </a:spcBef>
              <a:spcAft>
                <a:spcPts val="0"/>
              </a:spcAft>
              <a:buClr>
                <a:schemeClr val="dk1"/>
              </a:buClr>
              <a:buSzPts val="2200"/>
              <a:buChar char="●"/>
            </a:pPr>
            <a:r>
              <a:rPr lang="en-US" sz="2200">
                <a:solidFill>
                  <a:schemeClr val="dk1"/>
                </a:solidFill>
              </a:rPr>
              <a:t>Parquet infatti è più veloce e occupa meno spazio di altri formati, attuando una filosofia di </a:t>
            </a:r>
            <a:r>
              <a:rPr b="1" lang="en-US" sz="2200">
                <a:solidFill>
                  <a:schemeClr val="dk1"/>
                </a:solidFill>
              </a:rPr>
              <a:t>column pruning</a:t>
            </a:r>
            <a:r>
              <a:rPr lang="en-US" sz="2200">
                <a:solidFill>
                  <a:schemeClr val="dk1"/>
                </a:solidFill>
              </a:rPr>
              <a:t>, per cui permette di leggere solo le colonne richieste.</a:t>
            </a:r>
            <a:endParaRPr sz="2200">
              <a:solidFill>
                <a:schemeClr val="dk1"/>
              </a:solidFill>
            </a:endParaRPr>
          </a:p>
          <a:p>
            <a:pPr indent="0" lvl="0" marL="0" rtl="0" algn="l">
              <a:spcBef>
                <a:spcPts val="1414"/>
              </a:spcBef>
              <a:spcAft>
                <a:spcPts val="0"/>
              </a:spcAft>
              <a:buNone/>
            </a:pPr>
            <a:r>
              <a:rPr lang="en-US" sz="2200">
                <a:solidFill>
                  <a:schemeClr val="dk1"/>
                </a:solidFill>
              </a:rPr>
              <a:t>La conversione trasforma i file in formato Parquet e li partiziona fisicamente per compagnia aerea, adottando una struttura a directory/partizionamento in </a:t>
            </a:r>
            <a:r>
              <a:rPr b="1" lang="en-US" sz="2200">
                <a:solidFill>
                  <a:schemeClr val="dk1"/>
                </a:solidFill>
              </a:rPr>
              <a:t>stile Hive</a:t>
            </a:r>
            <a:r>
              <a:rPr lang="en-US" sz="2200">
                <a:solidFill>
                  <a:schemeClr val="dk1"/>
                </a:solidFill>
              </a:rPr>
              <a:t>: </a:t>
            </a:r>
            <a:endParaRPr sz="2200">
              <a:solidFill>
                <a:schemeClr val="dk1"/>
              </a:solidFill>
            </a:endParaRPr>
          </a:p>
          <a:p>
            <a:pPr indent="0" lvl="0" marL="0" rtl="0" algn="l">
              <a:spcBef>
                <a:spcPts val="1414"/>
              </a:spcBef>
              <a:spcAft>
                <a:spcPts val="0"/>
              </a:spcAft>
              <a:buNone/>
            </a:pPr>
            <a:r>
              <a:rPr lang="en-US" sz="2200">
                <a:solidFill>
                  <a:schemeClr val="dk1"/>
                </a:solidFill>
                <a:latin typeface="Roboto Mono"/>
                <a:ea typeface="Roboto Mono"/>
                <a:cs typeface="Roboto Mono"/>
                <a:sym typeface="Roboto Mono"/>
              </a:rPr>
              <a:t>/sabd/processed</a:t>
            </a:r>
            <a:r>
              <a:rPr lang="en-US" sz="2200">
                <a:solidFill>
                  <a:srgbClr val="0000F0"/>
                </a:solidFill>
                <a:latin typeface="Roboto Mono"/>
                <a:ea typeface="Roboto Mono"/>
                <a:cs typeface="Roboto Mono"/>
                <a:sym typeface="Roboto Mono"/>
              </a:rPr>
              <a:t>/OP_UNIQUE_CARRIER</a:t>
            </a:r>
            <a:r>
              <a:rPr b="1" lang="en-US" sz="2200">
                <a:solidFill>
                  <a:srgbClr val="EE11FF"/>
                </a:solidFill>
                <a:latin typeface="Roboto Mono"/>
                <a:ea typeface="Roboto Mono"/>
                <a:cs typeface="Roboto Mono"/>
                <a:sym typeface="Roboto Mono"/>
              </a:rPr>
              <a:t>=</a:t>
            </a:r>
            <a:r>
              <a:rPr lang="en-US" sz="2200">
                <a:solidFill>
                  <a:schemeClr val="dk1"/>
                </a:solidFill>
                <a:latin typeface="Roboto Mono"/>
                <a:ea typeface="Roboto Mono"/>
                <a:cs typeface="Roboto Mono"/>
                <a:sym typeface="Roboto Mono"/>
              </a:rPr>
              <a:t>&lt;carrier&gt;</a:t>
            </a:r>
            <a:r>
              <a:rPr lang="en-US" sz="2200">
                <a:solidFill>
                  <a:schemeClr val="dk1"/>
                </a:solidFill>
              </a:rPr>
              <a:t>.</a:t>
            </a:r>
            <a:endParaRPr sz="2200">
              <a:solidFill>
                <a:schemeClr val="dk1"/>
              </a:solidFill>
            </a:endParaRPr>
          </a:p>
          <a:p>
            <a:pPr indent="0" lvl="0" marL="0" rtl="0" algn="l">
              <a:spcBef>
                <a:spcPts val="1414"/>
              </a:spcBef>
              <a:spcAft>
                <a:spcPts val="0"/>
              </a:spcAft>
              <a:buNone/>
            </a:pPr>
            <a:r>
              <a:rPr lang="en-US" sz="2200">
                <a:solidFill>
                  <a:schemeClr val="dk1"/>
                </a:solidFill>
              </a:rPr>
              <a:t>Spark sfrutta il </a:t>
            </a:r>
            <a:r>
              <a:rPr b="1" lang="en-US" sz="2200">
                <a:solidFill>
                  <a:schemeClr val="dk1"/>
                </a:solidFill>
              </a:rPr>
              <a:t>partition discovery</a:t>
            </a:r>
            <a:r>
              <a:rPr lang="en-US" sz="2200">
                <a:solidFill>
                  <a:schemeClr val="dk1"/>
                </a:solidFill>
              </a:rPr>
              <a:t> per ricostruire i campi di partizione.</a:t>
            </a:r>
            <a:endParaRPr sz="2200">
              <a:solidFill>
                <a:schemeClr val="dk1"/>
              </a:solidFill>
            </a:endParaRPr>
          </a:p>
          <a:p>
            <a:pPr indent="0" lvl="0" marL="0" rtl="0" algn="l">
              <a:spcBef>
                <a:spcPts val="1414"/>
              </a:spcBef>
              <a:spcAft>
                <a:spcPts val="0"/>
              </a:spcAft>
              <a:buNone/>
            </a:pPr>
            <a:r>
              <a:rPr lang="en-US" sz="2200">
                <a:solidFill>
                  <a:schemeClr val="dk1"/>
                </a:solidFill>
              </a:rPr>
              <a:t>La scelta della chiave di partizionamento non è casuale, ma ha lo scopo principale di sfruttare la capacità di Spark di leggere unicamente le directory pertinenti a una certa query, ignorando le restanti, che prende il nome di </a:t>
            </a:r>
            <a:r>
              <a:rPr b="1" lang="en-US" sz="2200">
                <a:solidFill>
                  <a:schemeClr val="dk1"/>
                </a:solidFill>
              </a:rPr>
              <a:t>partition pruning</a:t>
            </a:r>
            <a:r>
              <a:rPr lang="en-US" sz="2200">
                <a:solidFill>
                  <a:schemeClr val="dk1"/>
                </a:solidFill>
              </a:rPr>
              <a:t>.</a:t>
            </a:r>
            <a:endParaRPr sz="2200"/>
          </a:p>
          <a:p>
            <a:pPr indent="0" lvl="0" marL="0" marR="0" rtl="0" algn="l">
              <a:lnSpc>
                <a:spcPct val="100000"/>
              </a:lnSpc>
              <a:spcBef>
                <a:spcPts val="1414"/>
              </a:spcBef>
              <a:spcAft>
                <a:spcPts val="0"/>
              </a:spcAft>
              <a:buNone/>
            </a:pPr>
            <a:r>
              <a:t/>
            </a:r>
            <a:endParaRPr sz="2200"/>
          </a:p>
        </p:txBody>
      </p:sp>
      <p:sp>
        <p:nvSpPr>
          <p:cNvPr id="450" name="Google Shape;450;p72"/>
          <p:cNvSpPr/>
          <p:nvPr/>
        </p:nvSpPr>
        <p:spPr>
          <a:xfrm>
            <a:off x="450325" y="1138675"/>
            <a:ext cx="6886200" cy="49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3"/>
          <p:cNvSpPr/>
          <p:nvPr/>
        </p:nvSpPr>
        <p:spPr>
          <a:xfrm>
            <a:off x="314280" y="2749680"/>
            <a:ext cx="10972800" cy="16455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Processing Layer</a:t>
            </a:r>
            <a:endParaRPr b="1" i="0" sz="3600" u="none" cap="none" strike="noStrike"/>
          </a:p>
        </p:txBody>
      </p:sp>
      <p:sp>
        <p:nvSpPr>
          <p:cNvPr id="456" name="Google Shape;456;p73"/>
          <p:cNvSpPr/>
          <p:nvPr/>
        </p:nvSpPr>
        <p:spPr>
          <a:xfrm>
            <a:off x="290520" y="6494400"/>
            <a:ext cx="27429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73"/>
          <p:cNvSpPr/>
          <p:nvPr/>
        </p:nvSpPr>
        <p:spPr>
          <a:xfrm>
            <a:off x="323280" y="4446720"/>
            <a:ext cx="10328100" cy="59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73"/>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73"/>
          <p:cNvSpPr/>
          <p:nvPr/>
        </p:nvSpPr>
        <p:spPr>
          <a:xfrm>
            <a:off x="413650" y="4357800"/>
            <a:ext cx="3791100" cy="88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4"/>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Processing Layer: </a:t>
            </a:r>
            <a:r>
              <a:rPr b="1" lang="en-US" sz="3600">
                <a:solidFill>
                  <a:srgbClr val="008236"/>
                </a:solidFill>
              </a:rPr>
              <a:t>Apache Spark</a:t>
            </a:r>
            <a:endParaRPr b="1" i="0" sz="3600" u="none" cap="none" strike="noStrike"/>
          </a:p>
        </p:txBody>
      </p:sp>
      <p:sp>
        <p:nvSpPr>
          <p:cNvPr id="465" name="Google Shape;465;p74"/>
          <p:cNvSpPr/>
          <p:nvPr/>
        </p:nvSpPr>
        <p:spPr>
          <a:xfrm>
            <a:off x="423000" y="1371600"/>
            <a:ext cx="110694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414"/>
              </a:spcBef>
              <a:spcAft>
                <a:spcPts val="0"/>
              </a:spcAft>
              <a:buNone/>
            </a:pPr>
            <a:r>
              <a:rPr lang="en-US" sz="2200"/>
              <a:t>Lanciato con:</a:t>
            </a:r>
            <a:endParaRPr sz="2200"/>
          </a:p>
          <a:p>
            <a:pPr indent="-368300" lvl="0" marL="457200" marR="0" rtl="0" algn="l">
              <a:lnSpc>
                <a:spcPct val="115000"/>
              </a:lnSpc>
              <a:spcBef>
                <a:spcPts val="1414"/>
              </a:spcBef>
              <a:spcAft>
                <a:spcPts val="0"/>
              </a:spcAft>
              <a:buSzPts val="2200"/>
              <a:buChar char="●"/>
            </a:pPr>
            <a:r>
              <a:rPr lang="en-US" sz="2200"/>
              <a:t>Un nodo </a:t>
            </a:r>
            <a:r>
              <a:rPr b="1" lang="en-US" sz="2200"/>
              <a:t>Spark Master</a:t>
            </a:r>
            <a:endParaRPr b="1" sz="2200"/>
          </a:p>
          <a:p>
            <a:pPr indent="-368300" lvl="0" marL="457200" marR="0" rtl="0" algn="l">
              <a:lnSpc>
                <a:spcPct val="115000"/>
              </a:lnSpc>
              <a:spcBef>
                <a:spcPts val="0"/>
              </a:spcBef>
              <a:spcAft>
                <a:spcPts val="0"/>
              </a:spcAft>
              <a:buSzPts val="2200"/>
              <a:buChar char="●"/>
            </a:pPr>
            <a:r>
              <a:rPr lang="en-US" sz="2200"/>
              <a:t>Un nodo </a:t>
            </a:r>
            <a:r>
              <a:rPr b="1" lang="en-US" sz="2200"/>
              <a:t>Spark Worker</a:t>
            </a:r>
            <a:endParaRPr b="1" sz="2200"/>
          </a:p>
          <a:p>
            <a:pPr indent="-368300" lvl="0" marL="457200" marR="0" rtl="0" algn="l">
              <a:lnSpc>
                <a:spcPct val="115000"/>
              </a:lnSpc>
              <a:spcBef>
                <a:spcPts val="0"/>
              </a:spcBef>
              <a:spcAft>
                <a:spcPts val="0"/>
              </a:spcAft>
              <a:buSzPts val="2200"/>
              <a:buChar char="●"/>
            </a:pPr>
            <a:r>
              <a:rPr lang="en-US" sz="2200"/>
              <a:t>Cluster Manager </a:t>
            </a:r>
            <a:r>
              <a:rPr b="1" lang="en-US" sz="2200"/>
              <a:t>Standalone</a:t>
            </a:r>
            <a:r>
              <a:rPr lang="en-US" sz="2200"/>
              <a:t>, built-in di Spark</a:t>
            </a:r>
            <a:endParaRPr sz="2200"/>
          </a:p>
          <a:p>
            <a:pPr indent="0" lvl="0" marL="0" marR="0" rtl="0" algn="l">
              <a:lnSpc>
                <a:spcPct val="115000"/>
              </a:lnSpc>
              <a:spcBef>
                <a:spcPts val="1414"/>
              </a:spcBef>
              <a:spcAft>
                <a:spcPts val="0"/>
              </a:spcAft>
              <a:buNone/>
            </a:pPr>
            <a:r>
              <a:rPr lang="en-US" sz="2200"/>
              <a:t>Delle caratteristiche peculiari dello stack Spark abbiamo sfruttato:</a:t>
            </a:r>
            <a:endParaRPr sz="2200"/>
          </a:p>
          <a:p>
            <a:pPr indent="-368300" lvl="0" marL="457200" marR="0" rtl="0" algn="l">
              <a:lnSpc>
                <a:spcPct val="115000"/>
              </a:lnSpc>
              <a:spcBef>
                <a:spcPts val="1414"/>
              </a:spcBef>
              <a:spcAft>
                <a:spcPts val="0"/>
              </a:spcAft>
              <a:buSzPts val="2200"/>
              <a:buChar char="●"/>
            </a:pPr>
            <a:r>
              <a:rPr lang="en-US" sz="2200"/>
              <a:t>Compatibilità con partizionamento in </a:t>
            </a:r>
            <a:r>
              <a:rPr b="1" lang="en-US" sz="2200"/>
              <a:t>stile Hive</a:t>
            </a:r>
            <a:endParaRPr b="1" sz="2200"/>
          </a:p>
          <a:p>
            <a:pPr indent="-368300" lvl="0" marL="457200" marR="0" rtl="0" algn="l">
              <a:lnSpc>
                <a:spcPct val="115000"/>
              </a:lnSpc>
              <a:spcBef>
                <a:spcPts val="0"/>
              </a:spcBef>
              <a:spcAft>
                <a:spcPts val="0"/>
              </a:spcAft>
              <a:buSzPts val="2200"/>
              <a:buChar char="●"/>
            </a:pPr>
            <a:r>
              <a:rPr b="1" lang="en-US" sz="2200"/>
              <a:t>Spark Core</a:t>
            </a:r>
            <a:r>
              <a:rPr lang="en-US" sz="2200"/>
              <a:t>, che implementa</a:t>
            </a:r>
            <a:r>
              <a:rPr lang="en-US" sz="2200"/>
              <a:t> ed espone API per </a:t>
            </a:r>
            <a:r>
              <a:rPr lang="en-US" sz="2200"/>
              <a:t>le funzionalità di base di Spark</a:t>
            </a:r>
            <a:endParaRPr sz="2200"/>
          </a:p>
          <a:p>
            <a:pPr indent="-368300" lvl="0" marL="457200" marR="0" rtl="0" algn="l">
              <a:lnSpc>
                <a:spcPct val="115000"/>
              </a:lnSpc>
              <a:spcBef>
                <a:spcPts val="0"/>
              </a:spcBef>
              <a:spcAft>
                <a:spcPts val="0"/>
              </a:spcAft>
              <a:buSzPts val="2200"/>
              <a:buChar char="●"/>
            </a:pPr>
            <a:r>
              <a:rPr b="1" lang="en-US" sz="2200"/>
              <a:t>PySpark</a:t>
            </a:r>
            <a:r>
              <a:rPr lang="en-US" sz="2200"/>
              <a:t>, dato che i nostri Driver Program sono scritti in Python.</a:t>
            </a:r>
            <a:endParaRPr sz="2200"/>
          </a:p>
          <a:p>
            <a:pPr indent="-368300" lvl="0" marL="457200" marR="0" rtl="0" algn="l">
              <a:lnSpc>
                <a:spcPct val="115000"/>
              </a:lnSpc>
              <a:spcBef>
                <a:spcPts val="0"/>
              </a:spcBef>
              <a:spcAft>
                <a:spcPts val="0"/>
              </a:spcAft>
              <a:buSzPts val="2200"/>
              <a:buChar char="●"/>
            </a:pPr>
            <a:r>
              <a:rPr b="1" lang="en-US" sz="2200"/>
              <a:t>Spark SQL</a:t>
            </a:r>
            <a:r>
              <a:rPr lang="en-US" sz="2200"/>
              <a:t>, per lo sfruttamento delle API SQL, che eseguono su Dataframe.</a:t>
            </a:r>
            <a:endParaRPr sz="2200"/>
          </a:p>
          <a:p>
            <a:pPr indent="-368300" lvl="0" marL="457200" marR="0" rtl="0" algn="l">
              <a:lnSpc>
                <a:spcPct val="115000"/>
              </a:lnSpc>
              <a:spcBef>
                <a:spcPts val="0"/>
              </a:spcBef>
              <a:spcAft>
                <a:spcPts val="0"/>
              </a:spcAft>
              <a:buSzPts val="2200"/>
              <a:buChar char="●"/>
            </a:pPr>
            <a:r>
              <a:rPr b="1" lang="en-US" sz="2200"/>
              <a:t>Spark MLlib</a:t>
            </a:r>
            <a:r>
              <a:rPr lang="en-US" sz="2200"/>
              <a:t>, per lo sviluppo dell’analisi del clustering</a:t>
            </a:r>
            <a:endParaRPr sz="2200"/>
          </a:p>
        </p:txBody>
      </p:sp>
      <p:sp>
        <p:nvSpPr>
          <p:cNvPr id="466" name="Google Shape;466;p74"/>
          <p:cNvSpPr/>
          <p:nvPr/>
        </p:nvSpPr>
        <p:spPr>
          <a:xfrm>
            <a:off x="450325" y="1138675"/>
            <a:ext cx="68862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74"/>
          <p:cNvSpPr txBox="1"/>
          <p:nvPr/>
        </p:nvSpPr>
        <p:spPr>
          <a:xfrm>
            <a:off x="12545225" y="1138675"/>
            <a:ext cx="3000000" cy="9126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1414"/>
              </a:spcBef>
              <a:spcAft>
                <a:spcPts val="0"/>
              </a:spcAft>
              <a:buClr>
                <a:schemeClr val="dk1"/>
              </a:buClr>
              <a:buSzPts val="2200"/>
              <a:buChar char="●"/>
            </a:pPr>
            <a:r>
              <a:rPr lang="en-US" sz="2200">
                <a:solidFill>
                  <a:schemeClr val="dk1"/>
                </a:solidFill>
              </a:rPr>
              <a:t>Perchè un solo worker?</a:t>
            </a:r>
            <a:endParaRPr sz="2200">
              <a:solidFill>
                <a:schemeClr val="dk1"/>
              </a:solidFil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5"/>
          <p:cNvSpPr/>
          <p:nvPr/>
        </p:nvSpPr>
        <p:spPr>
          <a:xfrm>
            <a:off x="314280" y="2749680"/>
            <a:ext cx="10972800" cy="16455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e Risultati</a:t>
            </a:r>
            <a:endParaRPr b="1" i="0" sz="3600" u="none" cap="none" strike="noStrike"/>
          </a:p>
        </p:txBody>
      </p:sp>
      <p:sp>
        <p:nvSpPr>
          <p:cNvPr id="473" name="Google Shape;473;p75"/>
          <p:cNvSpPr/>
          <p:nvPr/>
        </p:nvSpPr>
        <p:spPr>
          <a:xfrm>
            <a:off x="290520" y="6494400"/>
            <a:ext cx="27429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75"/>
          <p:cNvSpPr/>
          <p:nvPr/>
        </p:nvSpPr>
        <p:spPr>
          <a:xfrm>
            <a:off x="323280" y="4446720"/>
            <a:ext cx="10328100" cy="59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75"/>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75"/>
          <p:cNvSpPr/>
          <p:nvPr/>
        </p:nvSpPr>
        <p:spPr>
          <a:xfrm>
            <a:off x="413650" y="4357800"/>
            <a:ext cx="3610800" cy="88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6"/>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e Risultati</a:t>
            </a:r>
            <a:endParaRPr b="1" i="0" sz="3600" u="none" cap="none" strike="noStrike"/>
          </a:p>
        </p:txBody>
      </p:sp>
      <p:sp>
        <p:nvSpPr>
          <p:cNvPr id="482" name="Google Shape;482;p76"/>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14"/>
              </a:spcBef>
              <a:spcAft>
                <a:spcPts val="0"/>
              </a:spcAft>
              <a:buNone/>
            </a:pPr>
            <a:r>
              <a:t/>
            </a:r>
            <a:endParaRPr sz="2200"/>
          </a:p>
          <a:p>
            <a:pPr indent="0" lvl="0" marL="0" rtl="0" algn="l">
              <a:lnSpc>
                <a:spcPct val="115000"/>
              </a:lnSpc>
              <a:spcBef>
                <a:spcPts val="1200"/>
              </a:spcBef>
              <a:spcAft>
                <a:spcPts val="0"/>
              </a:spcAft>
              <a:buNone/>
            </a:pPr>
            <a:r>
              <a:rPr lang="en-US" sz="2200">
                <a:solidFill>
                  <a:schemeClr val="dk1"/>
                </a:solidFill>
              </a:rPr>
              <a:t>Per ciascuna delle query richieste </a:t>
            </a:r>
            <a:r>
              <a:rPr lang="en-US" sz="2200">
                <a:solidFill>
                  <a:schemeClr val="dk1"/>
                </a:solidFill>
              </a:rPr>
              <a:t>dallo studio sono state create diverse implementazioni sfruttando le API offerte da Spark:</a:t>
            </a:r>
            <a:endParaRPr sz="2200">
              <a:solidFill>
                <a:schemeClr val="dk1"/>
              </a:solidFill>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rPr>
              <a:t>RDD</a:t>
            </a:r>
            <a:endParaRPr b="1" sz="2200">
              <a:solidFill>
                <a:schemeClr val="dk1"/>
              </a:solidFill>
            </a:endParaRPr>
          </a:p>
          <a:p>
            <a:pPr indent="-368300" lvl="1" marL="914400" rtl="0" algn="l">
              <a:lnSpc>
                <a:spcPct val="115000"/>
              </a:lnSpc>
              <a:spcBef>
                <a:spcPts val="0"/>
              </a:spcBef>
              <a:spcAft>
                <a:spcPts val="0"/>
              </a:spcAft>
              <a:buClr>
                <a:schemeClr val="dk1"/>
              </a:buClr>
              <a:buSzPts val="2200"/>
              <a:buChar char="○"/>
            </a:pPr>
            <a:r>
              <a:rPr lang="en-US" sz="2200">
                <a:solidFill>
                  <a:schemeClr val="dk1"/>
                </a:solidFill>
              </a:rPr>
              <a:t>Astrazione fondamentale di Spark</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Dataframe</a:t>
            </a:r>
            <a:r>
              <a:rPr lang="en-US" sz="2200">
                <a:solidFill>
                  <a:schemeClr val="dk1"/>
                </a:solidFill>
              </a:rPr>
              <a:t>	</a:t>
            </a:r>
            <a:endParaRPr sz="2200">
              <a:solidFill>
                <a:schemeClr val="dk1"/>
              </a:solidFill>
            </a:endParaRPr>
          </a:p>
          <a:p>
            <a:pPr indent="-368300" lvl="1" marL="914400" rtl="0" algn="l">
              <a:lnSpc>
                <a:spcPct val="115000"/>
              </a:lnSpc>
              <a:spcBef>
                <a:spcPts val="0"/>
              </a:spcBef>
              <a:spcAft>
                <a:spcPts val="0"/>
              </a:spcAft>
              <a:buClr>
                <a:schemeClr val="dk1"/>
              </a:buClr>
              <a:buSzPts val="2200"/>
              <a:buChar char="○"/>
            </a:pPr>
            <a:r>
              <a:rPr lang="en-US" sz="2200">
                <a:solidFill>
                  <a:schemeClr val="dk1"/>
                </a:solidFill>
              </a:rPr>
              <a:t>API di programmazione che permette di manipolare dati strutturati usando metodi concatenabili</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SQL</a:t>
            </a:r>
            <a:endParaRPr b="1" sz="2200">
              <a:solidFill>
                <a:schemeClr val="dk1"/>
              </a:solidFill>
            </a:endParaRPr>
          </a:p>
          <a:p>
            <a:pPr indent="-368300" lvl="1" marL="914400" rtl="0" algn="l">
              <a:lnSpc>
                <a:spcPct val="115000"/>
              </a:lnSpc>
              <a:spcBef>
                <a:spcPts val="0"/>
              </a:spcBef>
              <a:spcAft>
                <a:spcPts val="0"/>
              </a:spcAft>
              <a:buClr>
                <a:schemeClr val="dk1"/>
              </a:buClr>
              <a:buSzPts val="2200"/>
              <a:buChar char="○"/>
            </a:pPr>
            <a:r>
              <a:rPr lang="en-US" sz="2200">
                <a:solidFill>
                  <a:schemeClr val="dk1"/>
                </a:solidFill>
              </a:rPr>
              <a:t>Linguaggio dichiarativo integrato in Spark tramite il modulo SparkSQL, che utilizzeremo sulla base di una view esposta da quest’ultimo</a:t>
            </a:r>
            <a:endParaRPr sz="2200">
              <a:solidFill>
                <a:schemeClr val="dk1"/>
              </a:solidFill>
            </a:endParaRPr>
          </a:p>
        </p:txBody>
      </p:sp>
      <p:sp>
        <p:nvSpPr>
          <p:cNvPr id="483" name="Google Shape;483;p76"/>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6"/>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485" name="Google Shape;485;p76"/>
          <p:cNvSpPr/>
          <p:nvPr/>
        </p:nvSpPr>
        <p:spPr>
          <a:xfrm>
            <a:off x="450353" y="1138675"/>
            <a:ext cx="3588000" cy="58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7"/>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1 - Introduzione</a:t>
            </a:r>
            <a:endParaRPr b="1" i="0" sz="3600" u="none" cap="none" strike="noStrike"/>
          </a:p>
        </p:txBody>
      </p:sp>
      <p:sp>
        <p:nvSpPr>
          <p:cNvPr id="491" name="Google Shape;491;p77"/>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14"/>
              </a:spcBef>
              <a:spcAft>
                <a:spcPts val="0"/>
              </a:spcAft>
              <a:buNone/>
            </a:pPr>
            <a:r>
              <a:t/>
            </a:r>
            <a:endParaRPr sz="2200"/>
          </a:p>
          <a:p>
            <a:pPr indent="0" lvl="0" marL="0" marR="0" rtl="0" algn="l">
              <a:lnSpc>
                <a:spcPct val="100000"/>
              </a:lnSpc>
              <a:spcBef>
                <a:spcPts val="1414"/>
              </a:spcBef>
              <a:spcAft>
                <a:spcPts val="0"/>
              </a:spcAft>
              <a:buNone/>
            </a:pPr>
            <a:r>
              <a:rPr lang="en-US" sz="2200"/>
              <a:t>La prima query calcola, per le sole compagnie aeree con carrier operator “AA” &amp; “DL” delle statistiche aggregate per mese:</a:t>
            </a:r>
            <a:endParaRPr sz="2200"/>
          </a:p>
          <a:p>
            <a:pPr indent="-368300" lvl="0" marL="457200" marR="0" rtl="0" algn="l">
              <a:lnSpc>
                <a:spcPct val="100000"/>
              </a:lnSpc>
              <a:spcBef>
                <a:spcPts val="1414"/>
              </a:spcBef>
              <a:spcAft>
                <a:spcPts val="0"/>
              </a:spcAft>
              <a:buSzPts val="2200"/>
              <a:buChar char="●"/>
            </a:pPr>
            <a:r>
              <a:rPr lang="en-US" sz="2200"/>
              <a:t>Numero totale dei voli</a:t>
            </a:r>
            <a:endParaRPr sz="2200"/>
          </a:p>
          <a:p>
            <a:pPr indent="-368300" lvl="0" marL="457200" marR="0" rtl="0" algn="l">
              <a:lnSpc>
                <a:spcPct val="100000"/>
              </a:lnSpc>
              <a:spcBef>
                <a:spcPts val="0"/>
              </a:spcBef>
              <a:spcAft>
                <a:spcPts val="0"/>
              </a:spcAft>
              <a:buSzPts val="2200"/>
              <a:buChar char="●"/>
            </a:pPr>
            <a:r>
              <a:rPr lang="en-US" sz="2200"/>
              <a:t>Numero voli cancellati</a:t>
            </a:r>
            <a:endParaRPr sz="2200"/>
          </a:p>
          <a:p>
            <a:pPr indent="-368300" lvl="0" marL="457200" marR="0" rtl="0" algn="l">
              <a:lnSpc>
                <a:spcPct val="100000"/>
              </a:lnSpc>
              <a:spcBef>
                <a:spcPts val="0"/>
              </a:spcBef>
              <a:spcAft>
                <a:spcPts val="0"/>
              </a:spcAft>
              <a:buSzPts val="2200"/>
              <a:buChar char="●"/>
            </a:pPr>
            <a:r>
              <a:rPr lang="en-US" sz="2200"/>
              <a:t>Rateo di cancellazione</a:t>
            </a:r>
            <a:endParaRPr sz="2200"/>
          </a:p>
          <a:p>
            <a:pPr indent="0" lvl="0" marL="0" marR="0" rtl="0" algn="l">
              <a:lnSpc>
                <a:spcPct val="100000"/>
              </a:lnSpc>
              <a:spcBef>
                <a:spcPts val="1414"/>
              </a:spcBef>
              <a:spcAft>
                <a:spcPts val="0"/>
              </a:spcAft>
              <a:buNone/>
            </a:pPr>
            <a:r>
              <a:rPr lang="en-US" sz="2200"/>
              <a:t>E riguardo al ritardo in partenza:</a:t>
            </a:r>
            <a:endParaRPr sz="2200"/>
          </a:p>
          <a:p>
            <a:pPr indent="-368300" lvl="0" marL="457200" marR="0" rtl="0" algn="l">
              <a:lnSpc>
                <a:spcPct val="100000"/>
              </a:lnSpc>
              <a:spcBef>
                <a:spcPts val="1414"/>
              </a:spcBef>
              <a:spcAft>
                <a:spcPts val="0"/>
              </a:spcAft>
              <a:buSzPts val="2200"/>
              <a:buChar char="●"/>
            </a:pPr>
            <a:r>
              <a:rPr lang="en-US" sz="2200"/>
              <a:t>Media</a:t>
            </a:r>
            <a:endParaRPr sz="2200"/>
          </a:p>
          <a:p>
            <a:pPr indent="-368300" lvl="0" marL="457200" marR="0" rtl="0" algn="l">
              <a:lnSpc>
                <a:spcPct val="100000"/>
              </a:lnSpc>
              <a:spcBef>
                <a:spcPts val="0"/>
              </a:spcBef>
              <a:spcAft>
                <a:spcPts val="0"/>
              </a:spcAft>
              <a:buSzPts val="2200"/>
              <a:buChar char="●"/>
            </a:pPr>
            <a:r>
              <a:rPr lang="en-US" sz="2200"/>
              <a:t>Minimo</a:t>
            </a:r>
            <a:endParaRPr sz="2200"/>
          </a:p>
          <a:p>
            <a:pPr indent="-368300" lvl="0" marL="457200" marR="0" rtl="0" algn="l">
              <a:lnSpc>
                <a:spcPct val="100000"/>
              </a:lnSpc>
              <a:spcBef>
                <a:spcPts val="0"/>
              </a:spcBef>
              <a:spcAft>
                <a:spcPts val="0"/>
              </a:spcAft>
              <a:buSzPts val="2200"/>
              <a:buChar char="●"/>
            </a:pPr>
            <a:r>
              <a:rPr lang="en-US" sz="2200"/>
              <a:t>Massimo</a:t>
            </a:r>
            <a:endParaRPr sz="2200"/>
          </a:p>
        </p:txBody>
      </p:sp>
      <p:sp>
        <p:nvSpPr>
          <p:cNvPr id="492" name="Google Shape;492;p77"/>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77"/>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494" name="Google Shape;494;p77"/>
          <p:cNvSpPr/>
          <p:nvPr/>
        </p:nvSpPr>
        <p:spPr>
          <a:xfrm>
            <a:off x="450350" y="1138675"/>
            <a:ext cx="4779300" cy="58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8"/>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1 - RDD</a:t>
            </a:r>
            <a:endParaRPr b="1" i="0" sz="3600" u="none" cap="none" strike="noStrike"/>
          </a:p>
        </p:txBody>
      </p:sp>
      <p:sp>
        <p:nvSpPr>
          <p:cNvPr id="500" name="Google Shape;500;p78"/>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t>
            </a:r>
            <a:r>
              <a:rPr lang="en-US">
                <a:solidFill>
                  <a:srgbClr val="1AB1CD"/>
                </a:solidFill>
                <a:latin typeface="Roboto Mono"/>
                <a:ea typeface="Roboto Mono"/>
                <a:cs typeface="Roboto Mono"/>
                <a:sym typeface="Roboto Mono"/>
              </a:rPr>
              <a:t>result_rdd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read</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parquet</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HDFS_INPUT</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select</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"YEAR"</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"MONTH"</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"CANCELLED"</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"DEP_DELAY"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rdd</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filter</a:t>
            </a:r>
            <a:r>
              <a:rPr lang="en-US">
                <a:latin typeface="Roboto Mono"/>
                <a:ea typeface="Roboto Mono"/>
                <a:cs typeface="Roboto Mono"/>
                <a:sym typeface="Roboto Mono"/>
              </a:rPr>
              <a:t>(</a:t>
            </a:r>
            <a:r>
              <a:rPr b="1" lang="en-US">
                <a:solidFill>
                  <a:srgbClr val="700080"/>
                </a:solidFill>
                <a:latin typeface="Roboto Mono"/>
                <a:ea typeface="Roboto Mono"/>
                <a:cs typeface="Roboto Mono"/>
                <a:sym typeface="Roboto Mono"/>
              </a:rPr>
              <a:t>lambda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in</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"AA"</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"DL"</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solo AA/DL</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map</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to_key_value</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passaggio a struttura (chiave, valore parziale)</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reduceByKey</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combine</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combinazione basata su aggregazione</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mapValues</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finalize</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applicazione funzione di finalizzazione senza modificare le chiavi</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marR="0" rtl="0" algn="l">
              <a:lnSpc>
                <a:spcPct val="100000"/>
              </a:lnSpc>
              <a:spcBef>
                <a:spcPts val="1414"/>
              </a:spcBef>
              <a:spcAft>
                <a:spcPts val="0"/>
              </a:spcAft>
              <a:buNone/>
            </a:pPr>
            <a:r>
              <a:rPr lang="en-US" sz="2200"/>
              <a:t>I passi svolti sono :</a:t>
            </a:r>
            <a:endParaRPr sz="2200"/>
          </a:p>
          <a:p>
            <a:pPr indent="-368300" lvl="0" marL="457200" marR="0" rtl="0" algn="l">
              <a:lnSpc>
                <a:spcPct val="100000"/>
              </a:lnSpc>
              <a:spcBef>
                <a:spcPts val="1414"/>
              </a:spcBef>
              <a:spcAft>
                <a:spcPts val="0"/>
              </a:spcAft>
              <a:buSzPts val="2200"/>
              <a:buChar char="●"/>
            </a:pPr>
            <a:r>
              <a:rPr lang="en-US" sz="2200"/>
              <a:t>Lettura del parquet da hdfs</a:t>
            </a:r>
            <a:endParaRPr sz="2200"/>
          </a:p>
          <a:p>
            <a:pPr indent="-368300" lvl="0" marL="457200" marR="0" rtl="0" algn="l">
              <a:lnSpc>
                <a:spcPct val="100000"/>
              </a:lnSpc>
              <a:spcBef>
                <a:spcPts val="0"/>
              </a:spcBef>
              <a:spcAft>
                <a:spcPts val="0"/>
              </a:spcAft>
              <a:buSzPts val="2200"/>
              <a:buChar char="●"/>
            </a:pPr>
            <a:r>
              <a:rPr lang="en-US" sz="2200"/>
              <a:t>Selezione sulle sole colonne utili per sfruttare il </a:t>
            </a:r>
            <a:r>
              <a:rPr lang="en-US" sz="2200" u="sng"/>
              <a:t>column pruning</a:t>
            </a:r>
            <a:endParaRPr sz="2200" u="sng"/>
          </a:p>
          <a:p>
            <a:pPr indent="-368300" lvl="0" marL="457200" marR="0" rtl="0" algn="l">
              <a:lnSpc>
                <a:spcPct val="100000"/>
              </a:lnSpc>
              <a:spcBef>
                <a:spcPts val="0"/>
              </a:spcBef>
              <a:spcAft>
                <a:spcPts val="0"/>
              </a:spcAft>
              <a:buSzPts val="2200"/>
              <a:buChar char="●"/>
            </a:pPr>
            <a:r>
              <a:rPr lang="en-US" sz="2200"/>
              <a:t>Conversione da parquet a formato rdd</a:t>
            </a:r>
            <a:endParaRPr sz="2200"/>
          </a:p>
          <a:p>
            <a:pPr indent="-368300" lvl="0" marL="457200" marR="0" rtl="0" algn="l">
              <a:lnSpc>
                <a:spcPct val="100000"/>
              </a:lnSpc>
              <a:spcBef>
                <a:spcPts val="0"/>
              </a:spcBef>
              <a:spcAft>
                <a:spcPts val="0"/>
              </a:spcAft>
              <a:buSzPts val="2200"/>
              <a:buChar char="●"/>
            </a:pPr>
            <a:r>
              <a:rPr lang="en-US" sz="2200"/>
              <a:t>Filtro sulle sole compagnie utili</a:t>
            </a:r>
            <a:endParaRPr sz="2200"/>
          </a:p>
          <a:p>
            <a:pPr indent="-368300" lvl="0" marL="457200" marR="0" rtl="0" algn="l">
              <a:lnSpc>
                <a:spcPct val="100000"/>
              </a:lnSpc>
              <a:spcBef>
                <a:spcPts val="0"/>
              </a:spcBef>
              <a:spcAft>
                <a:spcPts val="0"/>
              </a:spcAft>
              <a:buSzPts val="2200"/>
              <a:buChar char="●"/>
            </a:pPr>
            <a:r>
              <a:rPr lang="en-US" sz="2200"/>
              <a:t>Mappatura (prossima slide)</a:t>
            </a:r>
            <a:endParaRPr sz="2200"/>
          </a:p>
        </p:txBody>
      </p:sp>
      <p:sp>
        <p:nvSpPr>
          <p:cNvPr id="501" name="Google Shape;501;p78"/>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8"/>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03" name="Google Shape;503;p78"/>
          <p:cNvSpPr/>
          <p:nvPr/>
        </p:nvSpPr>
        <p:spPr>
          <a:xfrm>
            <a:off x="450354" y="1138675"/>
            <a:ext cx="30252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78"/>
          <p:cNvSpPr txBox="1"/>
          <p:nvPr/>
        </p:nvSpPr>
        <p:spPr>
          <a:xfrm>
            <a:off x="12346625" y="216725"/>
            <a:ext cx="3000000" cy="1289700"/>
          </a:xfrm>
          <a:prstGeom prst="rect">
            <a:avLst/>
          </a:prstGeom>
          <a:noFill/>
          <a:ln>
            <a:noFill/>
          </a:ln>
        </p:spPr>
        <p:txBody>
          <a:bodyPr anchorCtr="0" anchor="t" bIns="91425" lIns="91425" spcFirstLastPara="1" rIns="91425" wrap="square" tIns="91425">
            <a:spAutoFit/>
          </a:bodyPr>
          <a:lstStyle/>
          <a:p>
            <a:pPr indent="-355600" lvl="0" marL="457200" rtl="0" algn="l">
              <a:spcBef>
                <a:spcPts val="1414"/>
              </a:spcBef>
              <a:spcAft>
                <a:spcPts val="0"/>
              </a:spcAft>
              <a:buClr>
                <a:schemeClr val="dk1"/>
              </a:buClr>
              <a:buSzPts val="2000"/>
              <a:buChar char="●"/>
            </a:pPr>
            <a:r>
              <a:rPr lang="en-US" sz="2000">
                <a:solidFill>
                  <a:schemeClr val="dk1"/>
                </a:solidFill>
              </a:rPr>
              <a:t>Selezione parquet aware</a:t>
            </a:r>
            <a:endParaRPr sz="2000">
              <a:solidFill>
                <a:schemeClr val="dk1"/>
              </a:solidFill>
            </a:endParaRPr>
          </a:p>
          <a:p>
            <a:pPr indent="0" lvl="0" marL="457200" rtl="0" algn="l">
              <a:spcBef>
                <a:spcPts val="1414"/>
              </a:spcBef>
              <a:spcAft>
                <a:spcPts val="0"/>
              </a:spcAft>
              <a:buNone/>
            </a:pPr>
            <a:r>
              <a:t/>
            </a:r>
            <a:endParaRPr sz="2000">
              <a:solidFill>
                <a:schemeClr val="dk1"/>
              </a:solidFil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9"/>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1 - RDD - map</a:t>
            </a:r>
            <a:endParaRPr b="1" i="0" sz="3600" u="none" cap="none" strike="noStrike"/>
          </a:p>
        </p:txBody>
      </p:sp>
      <p:sp>
        <p:nvSpPr>
          <p:cNvPr id="510" name="Google Shape;510;p79"/>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to_key_value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key</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"YEAR"</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"MONTH"</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cancelled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if</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"CANCELLED"</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is</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not</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None</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and</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"CANCELLED"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1.0</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else</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dep</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"DEP_DELAY"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if</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cancelled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and</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dep</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is</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not</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None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dep</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dep</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delay_sum</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delay_min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delay_max</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dep</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dep</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dep</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else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delay_sum</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delay_min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delay_max</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"inf"</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"-inf"</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457200" rtl="0" algn="l">
              <a:spcBef>
                <a:spcPts val="0"/>
              </a:spcBef>
              <a:spcAft>
                <a:spcPts val="0"/>
              </a:spcAft>
              <a:buNone/>
            </a:pPr>
            <a:r>
              <a:rPr lang="en-US">
                <a:latin typeface="Roboto Mono"/>
                <a:ea typeface="Roboto Mono"/>
                <a:cs typeface="Roboto Mono"/>
                <a:sym typeface="Roboto Mono"/>
              </a:rPr>
              <a:t>   return </a:t>
            </a:r>
            <a:r>
              <a:rPr lang="en-US">
                <a:solidFill>
                  <a:srgbClr val="1AB1CD"/>
                </a:solidFill>
                <a:latin typeface="Roboto Mono"/>
                <a:ea typeface="Roboto Mono"/>
                <a:cs typeface="Roboto Mono"/>
                <a:sym typeface="Roboto Mono"/>
              </a:rPr>
              <a:t>key</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cancelled</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delay_sum</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delay_min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delay_max</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457200" rtl="0" algn="l">
              <a:spcBef>
                <a:spcPts val="0"/>
              </a:spcBef>
              <a:spcAft>
                <a:spcPts val="0"/>
              </a:spcAft>
              <a:buNone/>
            </a:pPr>
            <a:r>
              <a:t/>
            </a:r>
            <a:endParaRPr sz="1000"/>
          </a:p>
          <a:p>
            <a:pPr indent="-355600" lvl="0" marL="457200" marR="0" rtl="0" algn="l">
              <a:lnSpc>
                <a:spcPct val="100000"/>
              </a:lnSpc>
              <a:spcBef>
                <a:spcPts val="1414"/>
              </a:spcBef>
              <a:spcAft>
                <a:spcPts val="0"/>
              </a:spcAft>
              <a:buSzPts val="2000"/>
              <a:buChar char="●"/>
            </a:pPr>
            <a:r>
              <a:rPr lang="en-US" sz="2000"/>
              <a:t>La funzione to_key_value() viene usata per trasformare ogni record di volo in una coppia (chiave, valore).</a:t>
            </a:r>
            <a:endParaRPr sz="2000"/>
          </a:p>
          <a:p>
            <a:pPr indent="-355600" lvl="0" marL="457200" marR="0" rtl="0" algn="l">
              <a:lnSpc>
                <a:spcPct val="100000"/>
              </a:lnSpc>
              <a:spcBef>
                <a:spcPts val="0"/>
              </a:spcBef>
              <a:spcAft>
                <a:spcPts val="0"/>
              </a:spcAft>
              <a:buSzPts val="2000"/>
              <a:buChar char="●"/>
            </a:pPr>
            <a:r>
              <a:rPr lang="en-US" sz="2000"/>
              <a:t>In questo caso quello che stiamo costruendo è una struttura del tipo:</a:t>
            </a:r>
            <a:endParaRPr sz="2000"/>
          </a:p>
          <a:p>
            <a:pPr indent="-355600" lvl="1" marL="914400" marR="0" rtl="0" algn="l">
              <a:lnSpc>
                <a:spcPct val="100000"/>
              </a:lnSpc>
              <a:spcBef>
                <a:spcPts val="0"/>
              </a:spcBef>
              <a:spcAft>
                <a:spcPts val="0"/>
              </a:spcAft>
              <a:buSzPts val="2000"/>
              <a:buChar char="○"/>
            </a:pPr>
            <a:r>
              <a:rPr lang="en-US" sz="2000"/>
              <a:t>[(Operatore, Anno, Mese),</a:t>
            </a:r>
            <a:endParaRPr sz="2000"/>
          </a:p>
          <a:p>
            <a:pPr indent="-355600" lvl="1" marL="914400" marR="0" rtl="0" algn="l">
              <a:lnSpc>
                <a:spcPct val="100000"/>
              </a:lnSpc>
              <a:spcBef>
                <a:spcPts val="0"/>
              </a:spcBef>
              <a:spcAft>
                <a:spcPts val="0"/>
              </a:spcAft>
              <a:buSzPts val="2000"/>
              <a:buChar char="○"/>
            </a:pPr>
            <a:r>
              <a:rPr lang="en-US" sz="2000"/>
              <a:t>(Totale voli, cancellati,somma durata ritardi, numero di ritardi, minimo, massimo)]</a:t>
            </a:r>
            <a:endParaRPr sz="2000"/>
          </a:p>
        </p:txBody>
      </p:sp>
      <p:sp>
        <p:nvSpPr>
          <p:cNvPr id="511" name="Google Shape;511;p79"/>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79"/>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13" name="Google Shape;513;p79"/>
          <p:cNvSpPr/>
          <p:nvPr/>
        </p:nvSpPr>
        <p:spPr>
          <a:xfrm>
            <a:off x="450350" y="1138675"/>
            <a:ext cx="44046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0"/>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1 - RDD - reduceByKey</a:t>
            </a:r>
            <a:endParaRPr b="1" i="0" sz="3600" u="none" cap="none" strike="noStrike"/>
          </a:p>
        </p:txBody>
      </p:sp>
      <p:sp>
        <p:nvSpPr>
          <p:cNvPr id="519" name="Google Shape;519;p80"/>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14"/>
              </a:spcBef>
              <a:spcAft>
                <a:spcPts val="0"/>
              </a:spcAft>
              <a:buNone/>
            </a:pPr>
            <a:r>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combine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return</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total_flights</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cancelled_flights</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2</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2</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delay_sum</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3</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3</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delay_n</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min</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4</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4</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delay_min</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max</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5</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5</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delay_max</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marR="0" rtl="0" algn="l">
              <a:lnSpc>
                <a:spcPct val="100000"/>
              </a:lnSpc>
              <a:spcBef>
                <a:spcPts val="1414"/>
              </a:spcBef>
              <a:spcAft>
                <a:spcPts val="0"/>
              </a:spcAft>
              <a:buNone/>
            </a:pPr>
            <a:r>
              <a:t/>
            </a:r>
            <a:endParaRPr sz="2000"/>
          </a:p>
          <a:p>
            <a:pPr indent="-368300" lvl="0" marL="457200" marR="0" rtl="0" algn="l">
              <a:lnSpc>
                <a:spcPct val="100000"/>
              </a:lnSpc>
              <a:spcBef>
                <a:spcPts val="1414"/>
              </a:spcBef>
              <a:spcAft>
                <a:spcPts val="0"/>
              </a:spcAft>
              <a:buSzPts val="2200"/>
              <a:buChar char="●"/>
            </a:pPr>
            <a:r>
              <a:rPr lang="en-US" sz="2200"/>
              <a:t>Nella fase di reduce vengono creati nuovi rdd per ogni valore della chiave, arrivando quindi a (Chiave, valore parziale) che verrà raffinato nello step finale</a:t>
            </a:r>
            <a:endParaRPr sz="2200"/>
          </a:p>
        </p:txBody>
      </p:sp>
      <p:sp>
        <p:nvSpPr>
          <p:cNvPr id="520" name="Google Shape;520;p80"/>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80"/>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22" name="Google Shape;522;p80"/>
          <p:cNvSpPr/>
          <p:nvPr/>
        </p:nvSpPr>
        <p:spPr>
          <a:xfrm>
            <a:off x="450350" y="1138675"/>
            <a:ext cx="6393300" cy="49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1"/>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1 - RDD - mapValues</a:t>
            </a:r>
            <a:endParaRPr b="1" i="0" sz="3600" u="none" cap="none" strike="noStrike"/>
          </a:p>
        </p:txBody>
      </p:sp>
      <p:sp>
        <p:nvSpPr>
          <p:cNvPr id="528" name="Google Shape;528;p81"/>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81"/>
          <p:cNvSpPr/>
          <p:nvPr/>
        </p:nvSpPr>
        <p:spPr>
          <a:xfrm>
            <a:off x="423000" y="1371600"/>
            <a:ext cx="111129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200">
                <a:solidFill>
                  <a:srgbClr val="700080"/>
                </a:solidFill>
                <a:latin typeface="Roboto Mono"/>
                <a:ea typeface="Roboto Mono"/>
                <a:cs typeface="Roboto Mono"/>
                <a:sym typeface="Roboto Mono"/>
              </a:rPr>
              <a:t>def</a:t>
            </a:r>
            <a:r>
              <a:rPr lang="en-US" sz="1200">
                <a:latin typeface="Roboto Mono"/>
                <a:ea typeface="Roboto Mono"/>
                <a:cs typeface="Roboto Mono"/>
                <a:sym typeface="Roboto Mono"/>
              </a:rPr>
              <a:t> </a:t>
            </a:r>
            <a:r>
              <a:rPr lang="en-US" sz="1200">
                <a:solidFill>
                  <a:srgbClr val="0000F0"/>
                </a:solidFill>
                <a:latin typeface="Roboto Mono"/>
                <a:ea typeface="Roboto Mono"/>
                <a:cs typeface="Roboto Mono"/>
                <a:sym typeface="Roboto Mono"/>
              </a:rPr>
              <a:t>finalize</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v</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total</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cancelled</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delay_sum</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delay_n</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delay_min</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delay_max</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v</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cancellation_rate</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3000A0"/>
                </a:solidFill>
                <a:latin typeface="Roboto Mono"/>
                <a:ea typeface="Roboto Mono"/>
                <a:cs typeface="Roboto Mono"/>
                <a:sym typeface="Roboto Mono"/>
              </a:rPr>
              <a:t>round</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cancelled</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total</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100</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if</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delay_n</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&gt;</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avg_delay</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3000A0"/>
                </a:solidFill>
                <a:latin typeface="Roboto Mono"/>
                <a:ea typeface="Roboto Mono"/>
                <a:cs typeface="Roboto Mono"/>
                <a:sym typeface="Roboto Mono"/>
              </a:rPr>
              <a:t>round</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delay_sum</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delay_n</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min_delay</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max_delay</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delay_min</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delay_max</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else</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Nessun volo valido: evita /0 e gli +inf/-inf neutri.</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avg_delay</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min_delay</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max_delay</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None</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return</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total</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cancelled</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cancellation_rate</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avg_delay</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min_delay</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max_delay</a:t>
            </a:r>
            <a:endParaRPr sz="2200"/>
          </a:p>
          <a:p>
            <a:pPr indent="-368300" lvl="0" marL="457200" marR="0" rtl="0" algn="l">
              <a:lnSpc>
                <a:spcPct val="100000"/>
              </a:lnSpc>
              <a:spcBef>
                <a:spcPts val="1414"/>
              </a:spcBef>
              <a:spcAft>
                <a:spcPts val="0"/>
              </a:spcAft>
              <a:buSzPts val="2200"/>
              <a:buChar char="●"/>
            </a:pPr>
            <a:r>
              <a:rPr lang="en-US" sz="2200"/>
              <a:t>In questa fase vengono finalizzati i valori in un formato leggibile in particolare:</a:t>
            </a:r>
            <a:endParaRPr sz="2200"/>
          </a:p>
          <a:p>
            <a:pPr indent="-368300" lvl="1" marL="914400" marR="0" rtl="0" algn="l">
              <a:lnSpc>
                <a:spcPct val="100000"/>
              </a:lnSpc>
              <a:spcBef>
                <a:spcPts val="0"/>
              </a:spcBef>
              <a:spcAft>
                <a:spcPts val="0"/>
              </a:spcAft>
              <a:buSzPts val="2200"/>
              <a:buChar char="○"/>
            </a:pPr>
            <a:r>
              <a:rPr lang="en-US" sz="2200"/>
              <a:t>Cancellation rate</a:t>
            </a:r>
            <a:endParaRPr sz="2200"/>
          </a:p>
          <a:p>
            <a:pPr indent="-368300" lvl="1" marL="914400" marR="0" rtl="0" algn="l">
              <a:lnSpc>
                <a:spcPct val="100000"/>
              </a:lnSpc>
              <a:spcBef>
                <a:spcPts val="0"/>
              </a:spcBef>
              <a:spcAft>
                <a:spcPts val="0"/>
              </a:spcAft>
              <a:buSzPts val="2200"/>
              <a:buChar char="○"/>
            </a:pPr>
            <a:r>
              <a:rPr lang="en-US" sz="2200"/>
              <a:t>Ritardo in partenza</a:t>
            </a:r>
            <a:endParaRPr sz="2200"/>
          </a:p>
          <a:p>
            <a:pPr indent="-368300" lvl="2" marL="1371600" marR="0" rtl="0" algn="l">
              <a:lnSpc>
                <a:spcPct val="100000"/>
              </a:lnSpc>
              <a:spcBef>
                <a:spcPts val="0"/>
              </a:spcBef>
              <a:spcAft>
                <a:spcPts val="0"/>
              </a:spcAft>
              <a:buSzPts val="2200"/>
              <a:buChar char="■"/>
            </a:pPr>
            <a:r>
              <a:rPr lang="en-US" sz="2200"/>
              <a:t>Medio </a:t>
            </a:r>
            <a:endParaRPr sz="2200"/>
          </a:p>
          <a:p>
            <a:pPr indent="-368300" lvl="2" marL="1371600" marR="0" rtl="0" algn="l">
              <a:lnSpc>
                <a:spcPct val="100000"/>
              </a:lnSpc>
              <a:spcBef>
                <a:spcPts val="0"/>
              </a:spcBef>
              <a:spcAft>
                <a:spcPts val="0"/>
              </a:spcAft>
              <a:buSzPts val="2200"/>
              <a:buChar char="■"/>
            </a:pPr>
            <a:r>
              <a:rPr lang="en-US" sz="2200"/>
              <a:t>Minimo</a:t>
            </a:r>
            <a:endParaRPr sz="2200"/>
          </a:p>
          <a:p>
            <a:pPr indent="-368300" lvl="2" marL="1371600" marR="0" rtl="0" algn="l">
              <a:lnSpc>
                <a:spcPct val="100000"/>
              </a:lnSpc>
              <a:spcBef>
                <a:spcPts val="0"/>
              </a:spcBef>
              <a:spcAft>
                <a:spcPts val="0"/>
              </a:spcAft>
              <a:buSzPts val="2200"/>
              <a:buChar char="■"/>
            </a:pPr>
            <a:r>
              <a:rPr lang="en-US" sz="2200"/>
              <a:t>Massimo</a:t>
            </a:r>
            <a:endParaRPr sz="2200"/>
          </a:p>
        </p:txBody>
      </p:sp>
      <p:sp>
        <p:nvSpPr>
          <p:cNvPr id="530" name="Google Shape;530;p81"/>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31" name="Google Shape;531;p81"/>
          <p:cNvSpPr/>
          <p:nvPr/>
        </p:nvSpPr>
        <p:spPr>
          <a:xfrm>
            <a:off x="450350" y="1138675"/>
            <a:ext cx="5853600" cy="49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82"/>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1 - SQL</a:t>
            </a:r>
            <a:endParaRPr b="1" i="0" sz="3600" u="none" cap="none" strike="noStrike"/>
          </a:p>
        </p:txBody>
      </p:sp>
      <p:sp>
        <p:nvSpPr>
          <p:cNvPr id="537" name="Google Shape;537;p82"/>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t/>
            </a:r>
            <a:endParaRPr sz="2000">
              <a:solidFill>
                <a:schemeClr val="dk1"/>
              </a:solidFill>
            </a:endParaRPr>
          </a:p>
        </p:txBody>
      </p:sp>
      <p:sp>
        <p:nvSpPr>
          <p:cNvPr id="538" name="Google Shape;538;p82"/>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82"/>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40" name="Google Shape;540;p82"/>
          <p:cNvSpPr/>
          <p:nvPr/>
        </p:nvSpPr>
        <p:spPr>
          <a:xfrm>
            <a:off x="450349" y="1138675"/>
            <a:ext cx="29967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1" name="Google Shape;541;p82"/>
          <p:cNvPicPr preferRelativeResize="0"/>
          <p:nvPr/>
        </p:nvPicPr>
        <p:blipFill>
          <a:blip r:embed="rId3">
            <a:alphaModFix/>
          </a:blip>
          <a:stretch>
            <a:fillRect/>
          </a:stretch>
        </p:blipFill>
        <p:spPr>
          <a:xfrm>
            <a:off x="423008" y="1371608"/>
            <a:ext cx="10711075" cy="4461650"/>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83"/>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 Dataframe</a:t>
            </a:r>
            <a:endParaRPr b="1" i="0" sz="3600" u="none" cap="none" strike="noStrike"/>
          </a:p>
        </p:txBody>
      </p:sp>
      <p:sp>
        <p:nvSpPr>
          <p:cNvPr id="547" name="Google Shape;547;p83"/>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83"/>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49" name="Google Shape;549;p83"/>
          <p:cNvSpPr/>
          <p:nvPr/>
        </p:nvSpPr>
        <p:spPr>
          <a:xfrm>
            <a:off x="450346" y="1138675"/>
            <a:ext cx="41982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83"/>
          <p:cNvSpPr/>
          <p:nvPr/>
        </p:nvSpPr>
        <p:spPr>
          <a:xfrm>
            <a:off x="423000" y="1371600"/>
            <a:ext cx="11017500" cy="49914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solidFill>
                  <a:srgbClr val="1AB1CD"/>
                </a:solidFill>
                <a:latin typeface="Roboto Mono"/>
                <a:ea typeface="Roboto Mono"/>
                <a:cs typeface="Roboto Mono"/>
                <a:sym typeface="Roboto Mono"/>
              </a:rPr>
              <a:t>df</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groupBy</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"YEAR"</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"MONTH"</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agg</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count</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"total_flights"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spark_sum</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"CANCELLED"</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cast</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"long"</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"cancelled_flights"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spark_sum</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"CANCELLED"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count</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100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"cancellation_rate_pct"</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avg</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when</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"CANCELLED"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"DEP_DELAY"</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"avg_dep_delay"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spark_min</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when</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"CANCELLED"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"DEP_DELAY"</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"min_dep_delay"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spark_max</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when</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"CANCELLED"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"DEP_DELAY"</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"max_dep_delay"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orderBy</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"YEAR"</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"MONTH"</a:t>
            </a:r>
            <a:r>
              <a:rPr lang="en-US">
                <a:latin typeface="Roboto Mono"/>
                <a:ea typeface="Roboto Mono"/>
                <a:cs typeface="Roboto Mono"/>
                <a:sym typeface="Roboto Mono"/>
              </a:rPr>
              <a:t>)</a:t>
            </a:r>
            <a:endParaRPr sz="1700">
              <a:latin typeface="Roboto Mono"/>
              <a:ea typeface="Roboto Mono"/>
              <a:cs typeface="Roboto Mono"/>
              <a:sym typeface="Roboto Mono"/>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84"/>
          <p:cNvSpPr/>
          <p:nvPr/>
        </p:nvSpPr>
        <p:spPr>
          <a:xfrm>
            <a:off x="322925" y="216725"/>
            <a:ext cx="101547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1 - Comparazione tempi d’esecuzione</a:t>
            </a:r>
            <a:endParaRPr b="1" i="0" sz="3600" u="none" cap="none" strike="noStrike"/>
          </a:p>
        </p:txBody>
      </p:sp>
      <p:sp>
        <p:nvSpPr>
          <p:cNvPr id="556" name="Google Shape;556;p84"/>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000">
              <a:latin typeface="Roboto Mono"/>
              <a:ea typeface="Roboto Mono"/>
              <a:cs typeface="Roboto Mono"/>
              <a:sym typeface="Roboto Mono"/>
            </a:endParaRPr>
          </a:p>
        </p:txBody>
      </p:sp>
      <p:sp>
        <p:nvSpPr>
          <p:cNvPr id="557" name="Google Shape;557;p84"/>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84"/>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59" name="Google Shape;559;p84"/>
          <p:cNvSpPr txBox="1"/>
          <p:nvPr/>
        </p:nvSpPr>
        <p:spPr>
          <a:xfrm>
            <a:off x="12558975" y="2267625"/>
            <a:ext cx="835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sono comparabili ovviamente </a:t>
            </a:r>
            <a:endParaRPr sz="1800"/>
          </a:p>
        </p:txBody>
      </p:sp>
      <p:sp>
        <p:nvSpPr>
          <p:cNvPr id="560" name="Google Shape;560;p84"/>
          <p:cNvSpPr/>
          <p:nvPr/>
        </p:nvSpPr>
        <p:spPr>
          <a:xfrm>
            <a:off x="450341" y="1138675"/>
            <a:ext cx="9541500" cy="52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1" name="Google Shape;561;p84" title="Screenshot 2026-06-17 alle 22.11.13.png"/>
          <p:cNvPicPr preferRelativeResize="0"/>
          <p:nvPr/>
        </p:nvPicPr>
        <p:blipFill>
          <a:blip r:embed="rId3">
            <a:alphaModFix/>
          </a:blip>
          <a:stretch>
            <a:fillRect/>
          </a:stretch>
        </p:blipFill>
        <p:spPr>
          <a:xfrm>
            <a:off x="2437924" y="1371600"/>
            <a:ext cx="7015525" cy="1777850"/>
          </a:xfrm>
          <a:prstGeom prst="rect">
            <a:avLst/>
          </a:prstGeom>
          <a:noFill/>
          <a:ln>
            <a:noFill/>
          </a:ln>
        </p:spPr>
      </p:pic>
      <p:pic>
        <p:nvPicPr>
          <p:cNvPr id="562" name="Google Shape;562;p84" title="Screenshot 2026-06-17 alle 22.12.00.png"/>
          <p:cNvPicPr preferRelativeResize="0"/>
          <p:nvPr/>
        </p:nvPicPr>
        <p:blipFill>
          <a:blip r:embed="rId4">
            <a:alphaModFix/>
          </a:blip>
          <a:stretch>
            <a:fillRect/>
          </a:stretch>
        </p:blipFill>
        <p:spPr>
          <a:xfrm>
            <a:off x="2571298" y="3225030"/>
            <a:ext cx="6854750" cy="1575818"/>
          </a:xfrm>
          <a:prstGeom prst="rect">
            <a:avLst/>
          </a:prstGeom>
          <a:noFill/>
          <a:ln>
            <a:noFill/>
          </a:ln>
        </p:spPr>
      </p:pic>
      <p:pic>
        <p:nvPicPr>
          <p:cNvPr id="563" name="Google Shape;563;p84" title="Screenshot 2026-06-17 alle 22.12.20.png"/>
          <p:cNvPicPr preferRelativeResize="0"/>
          <p:nvPr/>
        </p:nvPicPr>
        <p:blipFill>
          <a:blip r:embed="rId5">
            <a:alphaModFix/>
          </a:blip>
          <a:stretch>
            <a:fillRect/>
          </a:stretch>
        </p:blipFill>
        <p:spPr>
          <a:xfrm>
            <a:off x="2532757" y="4984800"/>
            <a:ext cx="6866724" cy="1575825"/>
          </a:xfrm>
          <a:prstGeom prst="rect">
            <a:avLst/>
          </a:prstGeom>
          <a:noFill/>
          <a:ln>
            <a:noFill/>
          </a:ln>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85"/>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1</a:t>
            </a:r>
            <a:endParaRPr b="1" i="0" sz="3600" u="none" cap="none" strike="noStrike"/>
          </a:p>
        </p:txBody>
      </p:sp>
      <p:sp>
        <p:nvSpPr>
          <p:cNvPr id="569" name="Google Shape;569;p85"/>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85"/>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71" name="Google Shape;571;p85"/>
          <p:cNvSpPr/>
          <p:nvPr/>
        </p:nvSpPr>
        <p:spPr>
          <a:xfrm>
            <a:off x="450352" y="1138675"/>
            <a:ext cx="16044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85"/>
          <p:cNvSpPr/>
          <p:nvPr/>
        </p:nvSpPr>
        <p:spPr>
          <a:xfrm>
            <a:off x="423000" y="1371600"/>
            <a:ext cx="11017500" cy="49914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t/>
            </a:r>
            <a:endParaRPr sz="1700">
              <a:latin typeface="Roboto Mono"/>
              <a:ea typeface="Roboto Mono"/>
              <a:cs typeface="Roboto Mono"/>
              <a:sym typeface="Roboto Mono"/>
            </a:endParaRPr>
          </a:p>
        </p:txBody>
      </p:sp>
      <p:pic>
        <p:nvPicPr>
          <p:cNvPr id="573" name="Google Shape;573;p85" title="q1.png"/>
          <p:cNvPicPr preferRelativeResize="0"/>
          <p:nvPr/>
        </p:nvPicPr>
        <p:blipFill>
          <a:blip r:embed="rId3">
            <a:alphaModFix/>
          </a:blip>
          <a:stretch>
            <a:fillRect/>
          </a:stretch>
        </p:blipFill>
        <p:spPr>
          <a:xfrm>
            <a:off x="450350" y="1371588"/>
            <a:ext cx="11478774" cy="5178900"/>
          </a:xfrm>
          <a:prstGeom prst="rect">
            <a:avLst/>
          </a:prstGeom>
          <a:noFill/>
          <a:ln>
            <a:noFill/>
          </a:ln>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6"/>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2 - Introduzione</a:t>
            </a:r>
            <a:endParaRPr b="1" i="0" sz="3600" u="none" cap="none" strike="noStrike"/>
          </a:p>
        </p:txBody>
      </p:sp>
      <p:sp>
        <p:nvSpPr>
          <p:cNvPr id="579" name="Google Shape;579;p86"/>
          <p:cNvSpPr/>
          <p:nvPr/>
        </p:nvSpPr>
        <p:spPr>
          <a:xfrm>
            <a:off x="423000" y="1371600"/>
            <a:ext cx="110175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14"/>
              </a:spcBef>
              <a:spcAft>
                <a:spcPts val="0"/>
              </a:spcAft>
              <a:buNone/>
            </a:pPr>
            <a:r>
              <a:t/>
            </a:r>
            <a:endParaRPr sz="2200"/>
          </a:p>
          <a:p>
            <a:pPr indent="-368300" lvl="0" marL="457200" marR="0" rtl="0" algn="l">
              <a:lnSpc>
                <a:spcPct val="100000"/>
              </a:lnSpc>
              <a:spcBef>
                <a:spcPts val="1414"/>
              </a:spcBef>
              <a:spcAft>
                <a:spcPts val="0"/>
              </a:spcAft>
              <a:buSzPts val="2200"/>
              <a:buChar char="●"/>
            </a:pPr>
            <a:r>
              <a:rPr lang="en-US" sz="2200"/>
              <a:t>Per ciascuna compagnia con almeno 500 voli effettivi, calcolare il valor medio di ritardo in arrivo e il valor medio delle componenti di ritardo.</a:t>
            </a:r>
            <a:endParaRPr sz="2200"/>
          </a:p>
          <a:p>
            <a:pPr indent="0" lvl="0" marL="457200" marR="0" rtl="0" algn="l">
              <a:lnSpc>
                <a:spcPct val="100000"/>
              </a:lnSpc>
              <a:spcBef>
                <a:spcPts val="1414"/>
              </a:spcBef>
              <a:spcAft>
                <a:spcPts val="0"/>
              </a:spcAft>
              <a:buNone/>
            </a:pPr>
            <a:r>
              <a:t/>
            </a:r>
            <a:endParaRPr sz="2200"/>
          </a:p>
          <a:p>
            <a:pPr indent="-368300" lvl="0" marL="457200" marR="0" rtl="0" algn="l">
              <a:lnSpc>
                <a:spcPct val="100000"/>
              </a:lnSpc>
              <a:spcBef>
                <a:spcPts val="1414"/>
              </a:spcBef>
              <a:spcAft>
                <a:spcPts val="0"/>
              </a:spcAft>
              <a:buSzPts val="2200"/>
              <a:buChar char="●"/>
            </a:pPr>
            <a:r>
              <a:rPr lang="en-US" sz="2200"/>
              <a:t>Restituire una classifica delle prime 10 compagnie ordinate per ritardo medio in arrivo decrescente</a:t>
            </a:r>
            <a:endParaRPr sz="2200"/>
          </a:p>
        </p:txBody>
      </p:sp>
      <p:sp>
        <p:nvSpPr>
          <p:cNvPr id="580" name="Google Shape;580;p86"/>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86"/>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82" name="Google Shape;582;p86"/>
          <p:cNvSpPr/>
          <p:nvPr/>
        </p:nvSpPr>
        <p:spPr>
          <a:xfrm>
            <a:off x="450351" y="1138675"/>
            <a:ext cx="4803300" cy="58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87"/>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2 - RDD</a:t>
            </a:r>
            <a:endParaRPr b="1" i="0" sz="3600" u="none" cap="none" strike="noStrike"/>
          </a:p>
        </p:txBody>
      </p:sp>
      <p:sp>
        <p:nvSpPr>
          <p:cNvPr id="588" name="Google Shape;588;p87"/>
          <p:cNvSpPr/>
          <p:nvPr/>
        </p:nvSpPr>
        <p:spPr>
          <a:xfrm>
            <a:off x="5746750" y="1371600"/>
            <a:ext cx="5986200" cy="4599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to_key_value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arr</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"ARR_DELAY"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if</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arr</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is</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not</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None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arr_sum</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arr_n</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arr</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1</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else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arr_sum</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arr_n</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0</a:t>
            </a:r>
            <a:endParaRPr>
              <a:latin typeface="Roboto Mono"/>
              <a:ea typeface="Roboto Mono"/>
              <a:cs typeface="Roboto Mono"/>
              <a:sym typeface="Roboto Mono"/>
            </a:endParaRPr>
          </a:p>
          <a:p>
            <a:pPr indent="0" lvl="0" marL="0" rtl="0" algn="l">
              <a:spcBef>
                <a:spcPts val="0"/>
              </a:spcBef>
              <a:spcAft>
                <a:spcPts val="0"/>
              </a:spcAft>
              <a:buNone/>
            </a:pPr>
            <a:r>
              <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return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arr_sum</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arr_n</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_zero</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"CARRIER_DELAY"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_zero</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"WEATHER_DELAY"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_zero</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"NAS_DELAY"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_zero</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"SECURITY_DELAY"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_zero</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"LATE_AIRCRAFT_DELAY"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None/>
            </a:pPr>
            <a:r>
              <a:t/>
            </a:r>
            <a:endParaRPr>
              <a:latin typeface="Roboto Mono"/>
              <a:ea typeface="Roboto Mono"/>
              <a:cs typeface="Roboto Mono"/>
              <a:sym typeface="Roboto Mono"/>
            </a:endParaRPr>
          </a:p>
        </p:txBody>
      </p:sp>
      <p:sp>
        <p:nvSpPr>
          <p:cNvPr id="589" name="Google Shape;589;p87"/>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87"/>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591" name="Google Shape;591;p87"/>
          <p:cNvSpPr/>
          <p:nvPr/>
        </p:nvSpPr>
        <p:spPr>
          <a:xfrm>
            <a:off x="450350" y="1138675"/>
            <a:ext cx="3054900" cy="49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87"/>
          <p:cNvSpPr/>
          <p:nvPr/>
        </p:nvSpPr>
        <p:spPr>
          <a:xfrm>
            <a:off x="450350" y="1371600"/>
            <a:ext cx="5076900" cy="4599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solidFill>
                  <a:srgbClr val="1AB1CD"/>
                </a:solidFill>
                <a:latin typeface="Roboto Mono"/>
                <a:ea typeface="Roboto Mono"/>
                <a:cs typeface="Roboto Mono"/>
                <a:sym typeface="Roboto Mono"/>
              </a:rPr>
              <a:t>base_df</a:t>
            </a:r>
            <a:r>
              <a:rPr lang="en-US" sz="1300">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a:t>
            </a: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spark</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read</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parquet</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HDFS_INPUT</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filter</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col</a:t>
            </a:r>
            <a:r>
              <a:rPr lang="en-US" sz="1300">
                <a:latin typeface="Roboto Mono"/>
                <a:ea typeface="Roboto Mono"/>
                <a:cs typeface="Roboto Mono"/>
                <a:sym typeface="Roboto Mono"/>
              </a:rPr>
              <a:t>(</a:t>
            </a:r>
            <a:r>
              <a:rPr lang="en-US" sz="1300">
                <a:solidFill>
                  <a:srgbClr val="A01010"/>
                </a:solidFill>
                <a:latin typeface="Roboto Mono"/>
                <a:ea typeface="Roboto Mono"/>
                <a:cs typeface="Roboto Mono"/>
                <a:sym typeface="Roboto Mono"/>
              </a:rPr>
              <a:t>"CANCELLED"</a:t>
            </a:r>
            <a:r>
              <a:rPr lang="en-US" sz="1300">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a:t>
            </a:r>
            <a:r>
              <a:rPr lang="en-US" sz="1300">
                <a:latin typeface="Roboto Mono"/>
                <a:ea typeface="Roboto Mono"/>
                <a:cs typeface="Roboto Mono"/>
                <a:sym typeface="Roboto Mono"/>
              </a:rPr>
              <a:t> </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&amp;</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col</a:t>
            </a:r>
            <a:r>
              <a:rPr lang="en-US" sz="1300">
                <a:latin typeface="Roboto Mono"/>
                <a:ea typeface="Roboto Mono"/>
                <a:cs typeface="Roboto Mono"/>
                <a:sym typeface="Roboto Mono"/>
              </a:rPr>
              <a:t>(</a:t>
            </a:r>
            <a:r>
              <a:rPr lang="en-US" sz="1300">
                <a:solidFill>
                  <a:srgbClr val="A01010"/>
                </a:solidFill>
                <a:latin typeface="Roboto Mono"/>
                <a:ea typeface="Roboto Mono"/>
                <a:cs typeface="Roboto Mono"/>
                <a:sym typeface="Roboto Mono"/>
              </a:rPr>
              <a:t>"DIVERTED"</a:t>
            </a:r>
            <a:r>
              <a:rPr lang="en-US" sz="1300">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select</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A01010"/>
                </a:solidFill>
                <a:latin typeface="Roboto Mono"/>
                <a:ea typeface="Roboto Mono"/>
                <a:cs typeface="Roboto Mono"/>
                <a:sym typeface="Roboto Mono"/>
              </a:rPr>
              <a:t>"OP_UNIQUE_CARRIER"</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A01010"/>
                </a:solidFill>
                <a:latin typeface="Roboto Mono"/>
                <a:ea typeface="Roboto Mono"/>
                <a:cs typeface="Roboto Mono"/>
                <a:sym typeface="Roboto Mono"/>
              </a:rPr>
              <a:t>"ARR_DELAY"</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A01010"/>
                </a:solidFill>
                <a:latin typeface="Roboto Mono"/>
                <a:ea typeface="Roboto Mono"/>
                <a:cs typeface="Roboto Mono"/>
                <a:sym typeface="Roboto Mono"/>
              </a:rPr>
              <a:t>"CARRIER_DELAY"</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A01010"/>
                </a:solidFill>
                <a:latin typeface="Roboto Mono"/>
                <a:ea typeface="Roboto Mono"/>
                <a:cs typeface="Roboto Mono"/>
                <a:sym typeface="Roboto Mono"/>
              </a:rPr>
              <a:t>"WEATHER_DELAY"</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A01010"/>
                </a:solidFill>
                <a:latin typeface="Roboto Mono"/>
                <a:ea typeface="Roboto Mono"/>
                <a:cs typeface="Roboto Mono"/>
                <a:sym typeface="Roboto Mono"/>
              </a:rPr>
              <a:t>"NAS_DELAY"</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A01010"/>
                </a:solidFill>
                <a:latin typeface="Roboto Mono"/>
                <a:ea typeface="Roboto Mono"/>
                <a:cs typeface="Roboto Mono"/>
                <a:sym typeface="Roboto Mono"/>
              </a:rPr>
              <a:t>"SECURITY_DELAY"</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A01010"/>
                </a:solidFill>
                <a:latin typeface="Roboto Mono"/>
                <a:ea typeface="Roboto Mono"/>
                <a:cs typeface="Roboto Mono"/>
                <a:sym typeface="Roboto Mono"/>
              </a:rPr>
              <a:t>"LATE_AIRCRAFT_DELAY"</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457200" rtl="0" algn="l">
              <a:spcBef>
                <a:spcPts val="0"/>
              </a:spcBef>
              <a:spcAft>
                <a:spcPts val="0"/>
              </a:spcAft>
              <a:buNone/>
            </a:pP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None/>
            </a:pPr>
            <a:r>
              <a:rPr lang="en-US" sz="1300">
                <a:solidFill>
                  <a:srgbClr val="1AB1CD"/>
                </a:solidFill>
                <a:latin typeface="Roboto Mono"/>
                <a:ea typeface="Roboto Mono"/>
                <a:cs typeface="Roboto Mono"/>
                <a:sym typeface="Roboto Mono"/>
              </a:rPr>
              <a:t>rdd</a:t>
            </a:r>
            <a:r>
              <a:rPr lang="en-US" sz="1300">
                <a:solidFill>
                  <a:schemeClr val="dk1"/>
                </a:solidFill>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a:t>
            </a:r>
            <a:r>
              <a:rPr lang="en-US" sz="1300">
                <a:solidFill>
                  <a:schemeClr val="dk1"/>
                </a:solidFill>
                <a:latin typeface="Roboto Mono"/>
                <a:ea typeface="Roboto Mono"/>
                <a:cs typeface="Roboto Mono"/>
                <a:sym typeface="Roboto Mono"/>
              </a:rPr>
              <a:t> (</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1300">
                <a:solidFill>
                  <a:schemeClr val="dk1"/>
                </a:solidFill>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base_df</a:t>
            </a:r>
            <a:r>
              <a:rPr lang="en-US" sz="1300">
                <a:solidFill>
                  <a:schemeClr val="dk1"/>
                </a:solidFill>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rdd</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1300">
                <a:solidFill>
                  <a:schemeClr val="dk1"/>
                </a:solidFill>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map</a:t>
            </a:r>
            <a:r>
              <a:rPr lang="en-US" sz="1300">
                <a:solidFill>
                  <a:schemeClr val="dk1"/>
                </a:solidFill>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to_key_value</a:t>
            </a:r>
            <a:r>
              <a:rPr lang="en-US" sz="1300">
                <a:solidFill>
                  <a:schemeClr val="dk1"/>
                </a:solidFill>
                <a:latin typeface="Roboto Mono"/>
                <a:ea typeface="Roboto Mono"/>
                <a:cs typeface="Roboto Mono"/>
                <a:sym typeface="Roboto Mono"/>
              </a:rPr>
              <a:t>)</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1300">
                <a:solidFill>
                  <a:schemeClr val="dk1"/>
                </a:solidFill>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reduceByKey</a:t>
            </a:r>
            <a:r>
              <a:rPr lang="en-US" sz="1300">
                <a:solidFill>
                  <a:schemeClr val="dk1"/>
                </a:solidFill>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combine</a:t>
            </a:r>
            <a:r>
              <a:rPr lang="en-US" sz="1300">
                <a:solidFill>
                  <a:schemeClr val="dk1"/>
                </a:solidFill>
                <a:latin typeface="Roboto Mono"/>
                <a:ea typeface="Roboto Mono"/>
                <a:cs typeface="Roboto Mono"/>
                <a:sym typeface="Roboto Mono"/>
              </a:rPr>
              <a:t>)</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1300">
                <a:solidFill>
                  <a:schemeClr val="dk1"/>
                </a:solidFill>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mapValues</a:t>
            </a:r>
            <a:r>
              <a:rPr lang="en-US" sz="1300">
                <a:solidFill>
                  <a:schemeClr val="dk1"/>
                </a:solidFill>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finalize</a:t>
            </a:r>
            <a:r>
              <a:rPr lang="en-US" sz="1300">
                <a:solidFill>
                  <a:schemeClr val="dk1"/>
                </a:solidFill>
                <a:latin typeface="Roboto Mono"/>
                <a:ea typeface="Roboto Mono"/>
                <a:cs typeface="Roboto Mono"/>
                <a:sym typeface="Roboto Mono"/>
              </a:rPr>
              <a:t>)</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1300">
                <a:solidFill>
                  <a:schemeClr val="dk1"/>
                </a:solidFill>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filter</a:t>
            </a:r>
            <a:r>
              <a:rPr lang="en-US" sz="1300">
                <a:solidFill>
                  <a:schemeClr val="dk1"/>
                </a:solidFill>
                <a:latin typeface="Roboto Mono"/>
                <a:ea typeface="Roboto Mono"/>
                <a:cs typeface="Roboto Mono"/>
                <a:sym typeface="Roboto Mono"/>
              </a:rPr>
              <a:t>(</a:t>
            </a:r>
            <a:r>
              <a:rPr b="1" lang="en-US" sz="1300">
                <a:solidFill>
                  <a:srgbClr val="700080"/>
                </a:solidFill>
                <a:latin typeface="Roboto Mono"/>
                <a:ea typeface="Roboto Mono"/>
                <a:cs typeface="Roboto Mono"/>
                <a:sym typeface="Roboto Mono"/>
              </a:rPr>
              <a:t>lambda</a:t>
            </a:r>
            <a:r>
              <a:rPr lang="en-US" sz="1300">
                <a:solidFill>
                  <a:schemeClr val="dk1"/>
                </a:solidFill>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solidFill>
                  <a:schemeClr val="dk1"/>
                </a:solidFill>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solidFill>
                  <a:schemeClr val="dk1"/>
                </a:solidFill>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solidFill>
                  <a:schemeClr val="dk1"/>
                </a:solidFill>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solidFill>
                  <a:schemeClr val="dk1"/>
                </a:solidFill>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&gt;=</a:t>
            </a:r>
            <a:r>
              <a:rPr lang="en-US" sz="1300">
                <a:solidFill>
                  <a:schemeClr val="dk1"/>
                </a:solidFill>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MIN_FLIGHTS</a:t>
            </a:r>
            <a:r>
              <a:rPr lang="en-US" sz="1300">
                <a:solidFill>
                  <a:schemeClr val="dk1"/>
                </a:solidFill>
                <a:latin typeface="Roboto Mono"/>
                <a:ea typeface="Roboto Mono"/>
                <a:cs typeface="Roboto Mono"/>
                <a:sym typeface="Roboto Mono"/>
              </a:rPr>
              <a:t>)</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1300">
                <a:solidFill>
                  <a:schemeClr val="dk1"/>
                </a:solidFill>
                <a:latin typeface="Roboto Mono"/>
                <a:ea typeface="Roboto Mono"/>
                <a:cs typeface="Roboto Mono"/>
                <a:sym typeface="Roboto Mono"/>
              </a:rPr>
              <a:t>)</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3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solidFill>
                  <a:srgbClr val="1AB1CD"/>
                </a:solidFill>
                <a:latin typeface="Roboto Mono"/>
                <a:ea typeface="Roboto Mono"/>
                <a:cs typeface="Roboto Mono"/>
                <a:sym typeface="Roboto Mono"/>
              </a:rPr>
              <a:t>top</a:t>
            </a:r>
            <a:r>
              <a:rPr lang="en-US" sz="1300">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rdd</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takeOrdered</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TOP_N</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key</a:t>
            </a:r>
            <a:r>
              <a:rPr b="1" lang="en-US" sz="1300">
                <a:solidFill>
                  <a:srgbClr val="EE11FF"/>
                </a:solidFill>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top_key</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300">
              <a:latin typeface="Roboto Mono"/>
              <a:ea typeface="Roboto Mono"/>
              <a:cs typeface="Roboto Mono"/>
              <a:sym typeface="Roboto Mono"/>
            </a:endParaRPr>
          </a:p>
          <a:p>
            <a:pPr indent="0" lvl="0" marL="457200" marR="0" rtl="0" algn="l">
              <a:lnSpc>
                <a:spcPct val="100000"/>
              </a:lnSpc>
              <a:spcBef>
                <a:spcPts val="0"/>
              </a:spcBef>
              <a:spcAft>
                <a:spcPts val="0"/>
              </a:spcAft>
              <a:buNone/>
            </a:pPr>
            <a:r>
              <a:t/>
            </a:r>
            <a:endParaRPr sz="1300">
              <a:latin typeface="Roboto Mono"/>
              <a:ea typeface="Roboto Mono"/>
              <a:cs typeface="Roboto Mono"/>
              <a:sym typeface="Roboto Mono"/>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88"/>
          <p:cNvSpPr/>
          <p:nvPr/>
        </p:nvSpPr>
        <p:spPr>
          <a:xfrm>
            <a:off x="322925" y="216725"/>
            <a:ext cx="9581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2 - RDD - reduceByKey - MapValues</a:t>
            </a:r>
            <a:endParaRPr b="1" i="0" sz="3600" u="none" cap="none" strike="noStrike"/>
          </a:p>
        </p:txBody>
      </p:sp>
      <p:sp>
        <p:nvSpPr>
          <p:cNvPr id="598" name="Google Shape;598;p88"/>
          <p:cNvSpPr/>
          <p:nvPr/>
        </p:nvSpPr>
        <p:spPr>
          <a:xfrm>
            <a:off x="423000" y="1371600"/>
            <a:ext cx="41145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200">
                <a:solidFill>
                  <a:srgbClr val="700080"/>
                </a:solidFill>
                <a:latin typeface="Roboto Mono"/>
                <a:ea typeface="Roboto Mono"/>
                <a:cs typeface="Roboto Mono"/>
                <a:sym typeface="Roboto Mono"/>
              </a:rPr>
              <a:t>def</a:t>
            </a:r>
            <a:r>
              <a:rPr lang="en-US" sz="1200">
                <a:latin typeface="Roboto Mono"/>
                <a:ea typeface="Roboto Mono"/>
                <a:cs typeface="Roboto Mono"/>
                <a:sym typeface="Roboto Mono"/>
              </a:rPr>
              <a:t> </a:t>
            </a:r>
            <a:r>
              <a:rPr lang="en-US" sz="1200">
                <a:solidFill>
                  <a:srgbClr val="0000F0"/>
                </a:solidFill>
                <a:latin typeface="Roboto Mono"/>
                <a:ea typeface="Roboto Mono"/>
                <a:cs typeface="Roboto Mono"/>
                <a:sym typeface="Roboto Mono"/>
              </a:rPr>
              <a:t>combine</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return</a:t>
            </a:r>
            <a:r>
              <a:rPr lang="en-US" sz="1200">
                <a:latin typeface="Roboto Mono"/>
                <a:ea typeface="Roboto Mono"/>
                <a:cs typeface="Roboto Mono"/>
                <a:sym typeface="Roboto Mono"/>
              </a:rPr>
              <a:t>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total</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1</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1</a:t>
            </a: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arr_sum</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2</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2</a:t>
            </a: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arr_n</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3</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3</a:t>
            </a: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carrier_delay sum</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weather_delay sum</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5</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5</a:t>
            </a: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nas_delay sum</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6</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6</a:t>
            </a: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security_delay sum</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7</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b</a:t>
            </a:r>
            <a:r>
              <a:rPr lang="en-US" sz="1200">
                <a:latin typeface="Roboto Mono"/>
                <a:ea typeface="Roboto Mono"/>
                <a:cs typeface="Roboto Mono"/>
                <a:sym typeface="Roboto Mono"/>
              </a:rPr>
              <a:t>[</a:t>
            </a:r>
            <a:r>
              <a:rPr lang="en-US" sz="1200">
                <a:solidFill>
                  <a:srgbClr val="106040"/>
                </a:solidFill>
                <a:latin typeface="Roboto Mono"/>
                <a:ea typeface="Roboto Mono"/>
                <a:cs typeface="Roboto Mono"/>
                <a:sym typeface="Roboto Mono"/>
              </a:rPr>
              <a:t>7</a:t>
            </a: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 late_aircraft_delay sum</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a:ea typeface="Roboto Mono"/>
                <a:cs typeface="Roboto Mono"/>
                <a:sym typeface="Roboto Mono"/>
              </a:rPr>
              <a:t>    )</a:t>
            </a:r>
            <a:endParaRPr sz="1200">
              <a:latin typeface="Roboto Mono"/>
              <a:ea typeface="Roboto Mono"/>
              <a:cs typeface="Roboto Mono"/>
              <a:sym typeface="Roboto Mono"/>
            </a:endParaRPr>
          </a:p>
        </p:txBody>
      </p:sp>
      <p:sp>
        <p:nvSpPr>
          <p:cNvPr id="599" name="Google Shape;599;p88"/>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88"/>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01" name="Google Shape;601;p88"/>
          <p:cNvSpPr/>
          <p:nvPr/>
        </p:nvSpPr>
        <p:spPr>
          <a:xfrm>
            <a:off x="450350" y="1142525"/>
            <a:ext cx="9147300" cy="540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88"/>
          <p:cNvSpPr txBox="1"/>
          <p:nvPr/>
        </p:nvSpPr>
        <p:spPr>
          <a:xfrm>
            <a:off x="4537500" y="1371600"/>
            <a:ext cx="6815700" cy="49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700080"/>
                </a:solidFill>
                <a:latin typeface="Roboto Mono"/>
                <a:ea typeface="Roboto Mono"/>
                <a:cs typeface="Roboto Mono"/>
                <a:sym typeface="Roboto Mono"/>
              </a:rPr>
              <a:t>def</a:t>
            </a:r>
            <a:r>
              <a:rPr lang="en-US" sz="1200">
                <a:latin typeface="Roboto Mono"/>
                <a:ea typeface="Roboto Mono"/>
                <a:cs typeface="Roboto Mono"/>
                <a:sym typeface="Roboto Mono"/>
              </a:rPr>
              <a:t> </a:t>
            </a:r>
            <a:r>
              <a:rPr lang="en-US" sz="1200">
                <a:solidFill>
                  <a:srgbClr val="0000F0"/>
                </a:solidFill>
                <a:latin typeface="Roboto Mono"/>
                <a:ea typeface="Roboto Mono"/>
                <a:cs typeface="Roboto Mono"/>
                <a:sym typeface="Roboto Mono"/>
              </a:rPr>
              <a:t>finalize</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v</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total</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arr_sum</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carrier</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weather</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nas</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security</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late</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v</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i="1" lang="en-US" sz="1200">
                <a:solidFill>
                  <a:srgbClr val="A05000"/>
                </a:solidFill>
                <a:latin typeface="Roboto Mono"/>
                <a:ea typeface="Roboto Mono"/>
                <a:cs typeface="Roboto Mono"/>
                <a:sym typeface="Roboto Mono"/>
              </a:rPr>
              <a:t>#arr_n rappresenta il numero di voli che hanno effettuatu una tratta valida</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avg_arr</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3000A0"/>
                </a:solidFill>
                <a:latin typeface="Roboto Mono"/>
                <a:ea typeface="Roboto Mono"/>
                <a:cs typeface="Roboto Mono"/>
                <a:sym typeface="Roboto Mono"/>
              </a:rPr>
              <a:t>round</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arr_sum</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if</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&gt;</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else</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None</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avg_carrier</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3000A0"/>
                </a:solidFill>
                <a:latin typeface="Roboto Mono"/>
                <a:ea typeface="Roboto Mono"/>
                <a:cs typeface="Roboto Mono"/>
                <a:sym typeface="Roboto Mono"/>
              </a:rPr>
              <a:t>round</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carrier</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if</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&gt;</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else</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None</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avg_weather</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3000A0"/>
                </a:solidFill>
                <a:latin typeface="Roboto Mono"/>
                <a:ea typeface="Roboto Mono"/>
                <a:cs typeface="Roboto Mono"/>
                <a:sym typeface="Roboto Mono"/>
              </a:rPr>
              <a:t>round</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weather</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if</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&gt;</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else</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None</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avg_nas</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3000A0"/>
                </a:solidFill>
                <a:latin typeface="Roboto Mono"/>
                <a:ea typeface="Roboto Mono"/>
                <a:cs typeface="Roboto Mono"/>
                <a:sym typeface="Roboto Mono"/>
              </a:rPr>
              <a:t>round</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nas</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if</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&gt;</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else</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None</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avg_security</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3000A0"/>
                </a:solidFill>
                <a:latin typeface="Roboto Mono"/>
                <a:ea typeface="Roboto Mono"/>
                <a:cs typeface="Roboto Mono"/>
                <a:sym typeface="Roboto Mono"/>
              </a:rPr>
              <a:t>round</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security</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if</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&gt;</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else</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None</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avg_late_aircraft</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3000A0"/>
                </a:solidFill>
                <a:latin typeface="Roboto Mono"/>
                <a:ea typeface="Roboto Mono"/>
                <a:cs typeface="Roboto Mono"/>
                <a:sym typeface="Roboto Mono"/>
              </a:rPr>
              <a:t>round</a:t>
            </a:r>
            <a:r>
              <a:rPr lang="en-US" sz="1200">
                <a:latin typeface="Roboto Mono"/>
                <a:ea typeface="Roboto Mono"/>
                <a:cs typeface="Roboto Mono"/>
                <a:sym typeface="Roboto Mono"/>
              </a:rPr>
              <a:t>(</a:t>
            </a:r>
            <a:r>
              <a:rPr lang="en-US" sz="1200">
                <a:solidFill>
                  <a:srgbClr val="1AB1CD"/>
                </a:solidFill>
                <a:latin typeface="Roboto Mono"/>
                <a:ea typeface="Roboto Mono"/>
                <a:cs typeface="Roboto Mono"/>
                <a:sym typeface="Roboto Mono"/>
              </a:rPr>
              <a:t>late</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4</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if</a:t>
            </a: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arr_n</a:t>
            </a:r>
            <a:r>
              <a:rPr lang="en-US" sz="1200">
                <a:latin typeface="Roboto Mono"/>
                <a:ea typeface="Roboto Mono"/>
                <a:cs typeface="Roboto Mono"/>
                <a:sym typeface="Roboto Mono"/>
              </a:rPr>
              <a:t> </a:t>
            </a:r>
            <a:r>
              <a:rPr b="1" lang="en-US" sz="1200">
                <a:solidFill>
                  <a:srgbClr val="EE11FF"/>
                </a:solidFill>
                <a:latin typeface="Roboto Mono"/>
                <a:ea typeface="Roboto Mono"/>
                <a:cs typeface="Roboto Mono"/>
                <a:sym typeface="Roboto Mono"/>
              </a:rPr>
              <a:t>&gt;</a:t>
            </a:r>
            <a:r>
              <a:rPr lang="en-US" sz="1200">
                <a:latin typeface="Roboto Mono"/>
                <a:ea typeface="Roboto Mono"/>
                <a:cs typeface="Roboto Mono"/>
                <a:sym typeface="Roboto Mono"/>
              </a:rPr>
              <a:t> </a:t>
            </a:r>
            <a:r>
              <a:rPr lang="en-US" sz="1200">
                <a:solidFill>
                  <a:srgbClr val="106040"/>
                </a:solidFill>
                <a:latin typeface="Roboto Mono"/>
                <a:ea typeface="Roboto Mono"/>
                <a:cs typeface="Roboto Mono"/>
                <a:sym typeface="Roboto Mono"/>
              </a:rPr>
              <a:t>0</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else</a:t>
            </a: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None</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b="1" lang="en-US" sz="1200">
                <a:solidFill>
                  <a:srgbClr val="700080"/>
                </a:solidFill>
                <a:latin typeface="Roboto Mono"/>
                <a:ea typeface="Roboto Mono"/>
                <a:cs typeface="Roboto Mono"/>
                <a:sym typeface="Roboto Mono"/>
              </a:rPr>
              <a:t>return</a:t>
            </a:r>
            <a:r>
              <a:rPr lang="en-US" sz="1200">
                <a:latin typeface="Roboto Mono"/>
                <a:ea typeface="Roboto Mono"/>
                <a:cs typeface="Roboto Mono"/>
                <a:sym typeface="Roboto Mono"/>
              </a:rPr>
              <a:t> (</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total</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avg_arr</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avg_carrier</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avg_weather</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avg_nas</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avg_security</a:t>
            </a:r>
            <a:r>
              <a:rPr lang="en-US"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r>
              <a:rPr lang="en-US" sz="1200">
                <a:solidFill>
                  <a:srgbClr val="1AB1CD"/>
                </a:solidFill>
                <a:latin typeface="Roboto Mono"/>
                <a:ea typeface="Roboto Mono"/>
                <a:cs typeface="Roboto Mono"/>
                <a:sym typeface="Roboto Mono"/>
              </a:rPr>
              <a:t>avg_late_aircraft</a:t>
            </a:r>
            <a:endParaRPr sz="1200">
              <a:latin typeface="Roboto Mono"/>
              <a:ea typeface="Roboto Mono"/>
              <a:cs typeface="Roboto Mono"/>
              <a:sym typeface="Roboto Mono"/>
            </a:endParaRPr>
          </a:p>
          <a:p>
            <a:pPr indent="0" lvl="0" marL="0" rtl="0" algn="l">
              <a:spcBef>
                <a:spcPts val="0"/>
              </a:spcBef>
              <a:spcAft>
                <a:spcPts val="0"/>
              </a:spcAft>
              <a:buNone/>
            </a:pPr>
            <a:r>
              <a:rPr lang="en-US" sz="1200">
                <a:latin typeface="Roboto Mono"/>
                <a:ea typeface="Roboto Mono"/>
                <a:cs typeface="Roboto Mono"/>
                <a:sym typeface="Roboto Mono"/>
              </a:rPr>
              <a:t>    )</a:t>
            </a:r>
            <a:endParaRPr sz="1200">
              <a:latin typeface="Roboto Mono"/>
              <a:ea typeface="Roboto Mono"/>
              <a:cs typeface="Roboto Mono"/>
              <a:sym typeface="Roboto Mono"/>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9"/>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2 - SQL</a:t>
            </a:r>
            <a:endParaRPr b="1" i="0" sz="3600" u="none" cap="none" strike="noStrike"/>
          </a:p>
        </p:txBody>
      </p:sp>
      <p:sp>
        <p:nvSpPr>
          <p:cNvPr id="608" name="Google Shape;608;p89"/>
          <p:cNvSpPr/>
          <p:nvPr/>
        </p:nvSpPr>
        <p:spPr>
          <a:xfrm>
            <a:off x="423000" y="1371600"/>
            <a:ext cx="8492700" cy="49914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1414"/>
              </a:spcBef>
              <a:spcAft>
                <a:spcPts val="0"/>
              </a:spcAft>
              <a:buNone/>
            </a:pPr>
            <a:r>
              <a:t/>
            </a:r>
            <a:endParaRPr b="0" i="0" sz="2000" u="none" cap="none" strike="noStrike">
              <a:latin typeface="Arial"/>
              <a:ea typeface="Arial"/>
              <a:cs typeface="Arial"/>
              <a:sym typeface="Arial"/>
            </a:endParaRPr>
          </a:p>
        </p:txBody>
      </p:sp>
      <p:sp>
        <p:nvSpPr>
          <p:cNvPr id="609" name="Google Shape;609;p89"/>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89"/>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11" name="Google Shape;611;p89"/>
          <p:cNvSpPr/>
          <p:nvPr/>
        </p:nvSpPr>
        <p:spPr>
          <a:xfrm>
            <a:off x="450350" y="1138675"/>
            <a:ext cx="3009300" cy="561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2" name="Google Shape;612;p89"/>
          <p:cNvPicPr preferRelativeResize="0"/>
          <p:nvPr/>
        </p:nvPicPr>
        <p:blipFill>
          <a:blip r:embed="rId3">
            <a:alphaModFix/>
          </a:blip>
          <a:stretch>
            <a:fillRect/>
          </a:stretch>
        </p:blipFill>
        <p:spPr>
          <a:xfrm>
            <a:off x="1464338" y="1312850"/>
            <a:ext cx="9262766" cy="5056550"/>
          </a:xfrm>
          <a:prstGeom prst="rect">
            <a:avLst/>
          </a:prstGeom>
          <a:noFill/>
          <a:ln>
            <a:noFill/>
          </a:ln>
        </p:spPr>
      </p:pic>
      <p:sp>
        <p:nvSpPr>
          <p:cNvPr id="613" name="Google Shape;613;p89"/>
          <p:cNvSpPr txBox="1"/>
          <p:nvPr/>
        </p:nvSpPr>
        <p:spPr>
          <a:xfrm>
            <a:off x="12346625" y="676975"/>
            <a:ext cx="77154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interessante parlare dei valori nulli, nonostante in fase di preprocessamento non siano stati gestiti qui li gestiamo con avg + coalesce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AVG non conteggia i valori null nel totale mentre coalesce invece sostituisce i null con valore 0.0.</a:t>
            </a:r>
            <a:endParaRPr sz="180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90"/>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2 - Dataframe</a:t>
            </a:r>
            <a:endParaRPr b="1" i="0" sz="3600" u="none" cap="none" strike="noStrike"/>
          </a:p>
        </p:txBody>
      </p:sp>
      <p:sp>
        <p:nvSpPr>
          <p:cNvPr id="619" name="Google Shape;619;p90"/>
          <p:cNvSpPr/>
          <p:nvPr/>
        </p:nvSpPr>
        <p:spPr>
          <a:xfrm>
            <a:off x="423000" y="1371600"/>
            <a:ext cx="111024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df</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groupBy</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agg</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count</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"num_flights"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avg</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"ARR_DELAY"</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"avg_arr_delay"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avg</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coalesce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"CARRIER_DELAY"</a:t>
            </a:r>
            <a:r>
              <a:rPr lang="en-US">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lit</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0.0</a:t>
            </a:r>
            <a:r>
              <a:rPr lang="en-US">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"avg_carrier_delay"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avg</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coalesce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"WEATHER_DELAY"</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lit</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"avg_weather_delay"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avg</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coalesce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"NAS_DELAY"</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lit</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"avg_nas_delay"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avg</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coalesce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"SECURITY_DELAY"</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lit</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"avg_security_delay"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spark_round</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avg</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coalesce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"LATE_AIRCRAFT_DELAY"</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lit</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4</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"avg_late_aircraft_delay"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filter</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col</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"num_flights"</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&gt;=</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500</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orderBy</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desc</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"avg_arr_delay"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limit</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10</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marR="0" rtl="0" algn="l">
              <a:lnSpc>
                <a:spcPct val="100000"/>
              </a:lnSpc>
              <a:spcBef>
                <a:spcPts val="0"/>
              </a:spcBef>
              <a:spcAft>
                <a:spcPts val="0"/>
              </a:spcAft>
              <a:buNone/>
            </a:pPr>
            <a:r>
              <a:t/>
            </a:r>
            <a:endParaRPr>
              <a:latin typeface="Roboto Mono"/>
              <a:ea typeface="Roboto Mono"/>
              <a:cs typeface="Roboto Mono"/>
              <a:sym typeface="Roboto Mono"/>
            </a:endParaRPr>
          </a:p>
        </p:txBody>
      </p:sp>
      <p:sp>
        <p:nvSpPr>
          <p:cNvPr id="620" name="Google Shape;620;p90"/>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90"/>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22" name="Google Shape;622;p90"/>
          <p:cNvSpPr/>
          <p:nvPr/>
        </p:nvSpPr>
        <p:spPr>
          <a:xfrm>
            <a:off x="450352" y="1138675"/>
            <a:ext cx="4335000" cy="561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91"/>
          <p:cNvSpPr/>
          <p:nvPr/>
        </p:nvSpPr>
        <p:spPr>
          <a:xfrm>
            <a:off x="322925" y="216725"/>
            <a:ext cx="101547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2 - Comparazione tempi d’esecuzione</a:t>
            </a:r>
            <a:endParaRPr b="1" i="0" sz="3600" u="none" cap="none" strike="noStrike"/>
          </a:p>
        </p:txBody>
      </p:sp>
      <p:sp>
        <p:nvSpPr>
          <p:cNvPr id="628" name="Google Shape;628;p91"/>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91"/>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30" name="Google Shape;630;p91"/>
          <p:cNvSpPr txBox="1"/>
          <p:nvPr/>
        </p:nvSpPr>
        <p:spPr>
          <a:xfrm>
            <a:off x="12558975" y="2267625"/>
            <a:ext cx="835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sono comparabili ovviamente </a:t>
            </a:r>
            <a:endParaRPr sz="1800"/>
          </a:p>
        </p:txBody>
      </p:sp>
      <p:sp>
        <p:nvSpPr>
          <p:cNvPr id="631" name="Google Shape;631;p91"/>
          <p:cNvSpPr/>
          <p:nvPr/>
        </p:nvSpPr>
        <p:spPr>
          <a:xfrm>
            <a:off x="450341" y="1138675"/>
            <a:ext cx="9541500" cy="52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2" name="Google Shape;632;p91" title="Screenshot 2026-06-17 alle 22.13.05.png"/>
          <p:cNvPicPr preferRelativeResize="0"/>
          <p:nvPr/>
        </p:nvPicPr>
        <p:blipFill>
          <a:blip r:embed="rId3">
            <a:alphaModFix/>
          </a:blip>
          <a:stretch>
            <a:fillRect/>
          </a:stretch>
        </p:blipFill>
        <p:spPr>
          <a:xfrm>
            <a:off x="2734532" y="1514075"/>
            <a:ext cx="6532693" cy="1542450"/>
          </a:xfrm>
          <a:prstGeom prst="rect">
            <a:avLst/>
          </a:prstGeom>
          <a:noFill/>
          <a:ln>
            <a:noFill/>
          </a:ln>
        </p:spPr>
      </p:pic>
      <p:pic>
        <p:nvPicPr>
          <p:cNvPr id="633" name="Google Shape;633;p91" title="Screenshot 2026-06-17 alle 22.13.18.png"/>
          <p:cNvPicPr preferRelativeResize="0"/>
          <p:nvPr/>
        </p:nvPicPr>
        <p:blipFill>
          <a:blip r:embed="rId4">
            <a:alphaModFix/>
          </a:blip>
          <a:stretch>
            <a:fillRect/>
          </a:stretch>
        </p:blipFill>
        <p:spPr>
          <a:xfrm>
            <a:off x="2707588" y="3230749"/>
            <a:ext cx="6602025" cy="1542450"/>
          </a:xfrm>
          <a:prstGeom prst="rect">
            <a:avLst/>
          </a:prstGeom>
          <a:noFill/>
          <a:ln>
            <a:noFill/>
          </a:ln>
        </p:spPr>
      </p:pic>
      <p:pic>
        <p:nvPicPr>
          <p:cNvPr id="634" name="Google Shape;634;p91" title="Screenshot 2026-06-17 alle 22.14.39.png"/>
          <p:cNvPicPr preferRelativeResize="0"/>
          <p:nvPr/>
        </p:nvPicPr>
        <p:blipFill>
          <a:blip r:embed="rId5">
            <a:alphaModFix/>
          </a:blip>
          <a:stretch>
            <a:fillRect/>
          </a:stretch>
        </p:blipFill>
        <p:spPr>
          <a:xfrm>
            <a:off x="2761925" y="5079946"/>
            <a:ext cx="6602025" cy="1555800"/>
          </a:xfrm>
          <a:prstGeom prst="rect">
            <a:avLst/>
          </a:prstGeom>
          <a:noFill/>
          <a:ln>
            <a:noFill/>
          </a:ln>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92"/>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2 Risultati </a:t>
            </a:r>
            <a:endParaRPr b="1" i="0" sz="3600" u="none" cap="none" strike="noStrike"/>
          </a:p>
        </p:txBody>
      </p:sp>
      <p:sp>
        <p:nvSpPr>
          <p:cNvPr id="640" name="Google Shape;640;p92"/>
          <p:cNvSpPr/>
          <p:nvPr/>
        </p:nvSpPr>
        <p:spPr>
          <a:xfrm>
            <a:off x="423000" y="1371600"/>
            <a:ext cx="8492700" cy="49914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1414"/>
              </a:spcBef>
              <a:spcAft>
                <a:spcPts val="0"/>
              </a:spcAft>
              <a:buNone/>
            </a:pPr>
            <a:r>
              <a:t/>
            </a:r>
            <a:endParaRPr b="0" i="0" sz="2000" u="none" cap="none" strike="noStrike">
              <a:latin typeface="Arial"/>
              <a:ea typeface="Arial"/>
              <a:cs typeface="Arial"/>
              <a:sym typeface="Arial"/>
            </a:endParaRPr>
          </a:p>
        </p:txBody>
      </p:sp>
      <p:sp>
        <p:nvSpPr>
          <p:cNvPr id="641" name="Google Shape;641;p92"/>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92"/>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43" name="Google Shape;643;p92"/>
          <p:cNvSpPr/>
          <p:nvPr/>
        </p:nvSpPr>
        <p:spPr>
          <a:xfrm>
            <a:off x="450349" y="1138675"/>
            <a:ext cx="3588000" cy="43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4" name="Google Shape;644;p92" title="q2.png"/>
          <p:cNvPicPr preferRelativeResize="0"/>
          <p:nvPr/>
        </p:nvPicPr>
        <p:blipFill>
          <a:blip r:embed="rId3">
            <a:alphaModFix/>
          </a:blip>
          <a:stretch>
            <a:fillRect/>
          </a:stretch>
        </p:blipFill>
        <p:spPr>
          <a:xfrm>
            <a:off x="201875" y="1475250"/>
            <a:ext cx="11855726" cy="4411899"/>
          </a:xfrm>
          <a:prstGeom prst="rect">
            <a:avLst/>
          </a:prstGeom>
          <a:noFill/>
          <a:ln>
            <a:noFill/>
          </a:ln>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93"/>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Introduzione</a:t>
            </a:r>
            <a:endParaRPr b="1" i="0" sz="3600" u="none" cap="none" strike="noStrike"/>
          </a:p>
        </p:txBody>
      </p:sp>
      <p:sp>
        <p:nvSpPr>
          <p:cNvPr id="650" name="Google Shape;650;p93"/>
          <p:cNvSpPr/>
          <p:nvPr/>
        </p:nvSpPr>
        <p:spPr>
          <a:xfrm>
            <a:off x="423000" y="1371600"/>
            <a:ext cx="10930200" cy="3909600"/>
          </a:xfrm>
          <a:prstGeom prst="rect">
            <a:avLst/>
          </a:prstGeom>
          <a:noFill/>
          <a:ln>
            <a:noFill/>
          </a:ln>
        </p:spPr>
        <p:txBody>
          <a:bodyPr anchorCtr="0" anchor="t" bIns="45700" lIns="91425" spcFirstLastPara="1" rIns="91425" wrap="square" tIns="45700">
            <a:noAutofit/>
          </a:bodyPr>
          <a:lstStyle/>
          <a:p>
            <a:pPr indent="0" lvl="0" marL="0" rtl="0" algn="l">
              <a:spcBef>
                <a:spcPts val="1414"/>
              </a:spcBef>
              <a:spcAft>
                <a:spcPts val="0"/>
              </a:spcAft>
              <a:buNone/>
            </a:pPr>
            <a:r>
              <a:t/>
            </a:r>
            <a:endParaRPr sz="2000">
              <a:solidFill>
                <a:schemeClr val="dk1"/>
              </a:solidFill>
            </a:endParaRPr>
          </a:p>
          <a:p>
            <a:pPr indent="0" lvl="0" marL="0" rtl="0" algn="l">
              <a:spcBef>
                <a:spcPts val="1414"/>
              </a:spcBef>
              <a:spcAft>
                <a:spcPts val="0"/>
              </a:spcAft>
              <a:buNone/>
            </a:pPr>
            <a:r>
              <a:rPr lang="en-US" sz="2000">
                <a:solidFill>
                  <a:schemeClr val="dk1"/>
                </a:solidFill>
              </a:rPr>
              <a:t>Per questa query abbiamo pensato di dividere il calcolo in due come segue:</a:t>
            </a:r>
            <a:endParaRPr sz="2000">
              <a:solidFill>
                <a:schemeClr val="dk1"/>
              </a:solidFill>
            </a:endParaRPr>
          </a:p>
          <a:p>
            <a:pPr indent="-355600" lvl="0" marL="457200" marR="0" rtl="0" algn="l">
              <a:lnSpc>
                <a:spcPct val="100000"/>
              </a:lnSpc>
              <a:spcBef>
                <a:spcPts val="1414"/>
              </a:spcBef>
              <a:spcAft>
                <a:spcPts val="0"/>
              </a:spcAft>
              <a:buSzPts val="2000"/>
              <a:buChar char="●"/>
            </a:pPr>
            <a:r>
              <a:rPr lang="en-US" sz="2000"/>
              <a:t>La query 3 richiede di filtrare i soli voli non cancellati delle compagnie AA DL UA WN, ricavare l’ora del giorno e calcolare per ogni compagnia il percentile n. 25,50,75 e 90.</a:t>
            </a:r>
            <a:endParaRPr sz="2000"/>
          </a:p>
          <a:p>
            <a:pPr indent="0" lvl="0" marL="457200" marR="0" rtl="0" algn="l">
              <a:lnSpc>
                <a:spcPct val="100000"/>
              </a:lnSpc>
              <a:spcBef>
                <a:spcPts val="1414"/>
              </a:spcBef>
              <a:spcAft>
                <a:spcPts val="0"/>
              </a:spcAft>
              <a:buNone/>
            </a:pPr>
            <a:r>
              <a:t/>
            </a:r>
            <a:endParaRPr sz="2000"/>
          </a:p>
          <a:p>
            <a:pPr indent="-355600" lvl="0" marL="457200" marR="0" rtl="0" algn="l">
              <a:lnSpc>
                <a:spcPct val="100000"/>
              </a:lnSpc>
              <a:spcBef>
                <a:spcPts val="1414"/>
              </a:spcBef>
              <a:spcAft>
                <a:spcPts val="0"/>
              </a:spcAft>
              <a:buSzPts val="2000"/>
              <a:buChar char="●"/>
            </a:pPr>
            <a:r>
              <a:rPr lang="en-US" sz="2000"/>
              <a:t>Calcolare inoltre il minimo e massimo ritardo in partenza per ciascuna compagnia</a:t>
            </a:r>
            <a:endParaRPr sz="2000"/>
          </a:p>
          <a:p>
            <a:pPr indent="0" lvl="0" marL="0" marR="0" rtl="0" algn="l">
              <a:lnSpc>
                <a:spcPct val="100000"/>
              </a:lnSpc>
              <a:spcBef>
                <a:spcPts val="1414"/>
              </a:spcBef>
              <a:spcAft>
                <a:spcPts val="0"/>
              </a:spcAft>
              <a:buNone/>
            </a:pPr>
            <a:r>
              <a:t/>
            </a:r>
            <a:endParaRPr sz="2000"/>
          </a:p>
        </p:txBody>
      </p:sp>
      <p:sp>
        <p:nvSpPr>
          <p:cNvPr id="651" name="Google Shape;651;p93"/>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93"/>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53" name="Google Shape;653;p93"/>
          <p:cNvSpPr/>
          <p:nvPr/>
        </p:nvSpPr>
        <p:spPr>
          <a:xfrm>
            <a:off x="450336" y="1138675"/>
            <a:ext cx="4805400" cy="657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94"/>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KLL </a:t>
            </a:r>
            <a:endParaRPr b="1" i="0" sz="3600" u="none" cap="none" strike="noStrike"/>
          </a:p>
        </p:txBody>
      </p:sp>
      <p:sp>
        <p:nvSpPr>
          <p:cNvPr id="659" name="Google Shape;659;p94"/>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percentile_rdd</a:t>
            </a:r>
            <a:r>
              <a:rPr lang="en-US" sz="1300">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a:t>
            </a: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rdd</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combineByKey</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create_combiner</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merge_value</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merge_combiners</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map</a:t>
            </a:r>
            <a:r>
              <a:rPr lang="en-US" sz="1300">
                <a:latin typeface="Roboto Mono"/>
                <a:ea typeface="Roboto Mono"/>
                <a:cs typeface="Roboto Mono"/>
                <a:sym typeface="Roboto Mono"/>
              </a:rPr>
              <a:t>(</a:t>
            </a:r>
            <a:r>
              <a:rPr b="1" lang="en-US" sz="1300">
                <a:solidFill>
                  <a:srgbClr val="700080"/>
                </a:solidFill>
                <a:latin typeface="Roboto Mono"/>
                <a:ea typeface="Roboto Mono"/>
                <a:cs typeface="Roboto Mono"/>
                <a:sym typeface="Roboto Mono"/>
              </a:rPr>
              <a:t>lambda</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carrier</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hour</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analogo a tdigest con l'aggiunta della deserialize</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3000A0"/>
                </a:solidFill>
                <a:latin typeface="Roboto Mono"/>
                <a:ea typeface="Roboto Mono"/>
                <a:cs typeface="Roboto Mono"/>
                <a:sym typeface="Roboto Mono"/>
              </a:rPr>
              <a:t>round</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datasketches</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kll_floats_sketch</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deserialize</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get_quantile</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0.25</a:t>
            </a:r>
            <a:r>
              <a:rPr lang="en-US" sz="1300">
                <a:latin typeface="Roboto Mono"/>
                <a:ea typeface="Roboto Mono"/>
                <a:cs typeface="Roboto Mono"/>
                <a:sym typeface="Roboto Mono"/>
              </a:rPr>
              <a:t>), </a:t>
            </a:r>
            <a:r>
              <a:rPr lang="en-US" sz="1300">
                <a:solidFill>
                  <a:srgbClr val="106040"/>
                </a:solidFill>
                <a:latin typeface="Roboto Mono"/>
                <a:ea typeface="Roboto Mono"/>
                <a:cs typeface="Roboto Mono"/>
                <a:sym typeface="Roboto Mono"/>
              </a:rPr>
              <a:t>2</a:t>
            </a: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p25</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3000A0"/>
                </a:solidFill>
                <a:latin typeface="Roboto Mono"/>
                <a:ea typeface="Roboto Mono"/>
                <a:cs typeface="Roboto Mono"/>
                <a:sym typeface="Roboto Mono"/>
              </a:rPr>
              <a:t>round</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datasketches</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kll_floats_sketch</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deserialize</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get_quantile</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0.50</a:t>
            </a:r>
            <a:r>
              <a:rPr lang="en-US" sz="1300">
                <a:latin typeface="Roboto Mono"/>
                <a:ea typeface="Roboto Mono"/>
                <a:cs typeface="Roboto Mono"/>
                <a:sym typeface="Roboto Mono"/>
              </a:rPr>
              <a:t>), </a:t>
            </a:r>
            <a:r>
              <a:rPr lang="en-US" sz="1300">
                <a:solidFill>
                  <a:srgbClr val="106040"/>
                </a:solidFill>
                <a:latin typeface="Roboto Mono"/>
                <a:ea typeface="Roboto Mono"/>
                <a:cs typeface="Roboto Mono"/>
                <a:sym typeface="Roboto Mono"/>
              </a:rPr>
              <a:t>2</a:t>
            </a: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p50</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3000A0"/>
                </a:solidFill>
                <a:latin typeface="Roboto Mono"/>
                <a:ea typeface="Roboto Mono"/>
                <a:cs typeface="Roboto Mono"/>
                <a:sym typeface="Roboto Mono"/>
              </a:rPr>
              <a:t>round</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datasketches</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kll_floats_sketch</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deserialize</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get_quantile</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0.75</a:t>
            </a:r>
            <a:r>
              <a:rPr lang="en-US" sz="1300">
                <a:latin typeface="Roboto Mono"/>
                <a:ea typeface="Roboto Mono"/>
                <a:cs typeface="Roboto Mono"/>
                <a:sym typeface="Roboto Mono"/>
              </a:rPr>
              <a:t>), </a:t>
            </a:r>
            <a:r>
              <a:rPr lang="en-US" sz="1300">
                <a:solidFill>
                  <a:srgbClr val="106040"/>
                </a:solidFill>
                <a:latin typeface="Roboto Mono"/>
                <a:ea typeface="Roboto Mono"/>
                <a:cs typeface="Roboto Mono"/>
                <a:sym typeface="Roboto Mono"/>
              </a:rPr>
              <a:t>2</a:t>
            </a: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p75</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3000A0"/>
                </a:solidFill>
                <a:latin typeface="Roboto Mono"/>
                <a:ea typeface="Roboto Mono"/>
                <a:cs typeface="Roboto Mono"/>
                <a:sym typeface="Roboto Mono"/>
              </a:rPr>
              <a:t>round</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datasketches</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kll_floats_sketch</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deserialize</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r>
              <a:rPr lang="en-US" sz="1300">
                <a:solidFill>
                  <a:srgbClr val="572000"/>
                </a:solidFill>
                <a:latin typeface="Roboto Mono"/>
                <a:ea typeface="Roboto Mono"/>
                <a:cs typeface="Roboto Mono"/>
                <a:sym typeface="Roboto Mono"/>
              </a:rPr>
              <a:t>get_quantile</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0.90</a:t>
            </a:r>
            <a:r>
              <a:rPr lang="en-US" sz="1300">
                <a:latin typeface="Roboto Mono"/>
                <a:ea typeface="Roboto Mono"/>
                <a:cs typeface="Roboto Mono"/>
                <a:sym typeface="Roboto Mono"/>
              </a:rPr>
              <a:t>), </a:t>
            </a:r>
            <a:r>
              <a:rPr lang="en-US" sz="1300">
                <a:solidFill>
                  <a:srgbClr val="106040"/>
                </a:solidFill>
                <a:latin typeface="Roboto Mono"/>
                <a:ea typeface="Roboto Mono"/>
                <a:cs typeface="Roboto Mono"/>
                <a:sym typeface="Roboto Mono"/>
              </a:rPr>
              <a:t>2</a:t>
            </a: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p90</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sortBy</a:t>
            </a:r>
            <a:r>
              <a:rPr lang="en-US" sz="1300">
                <a:latin typeface="Roboto Mono"/>
                <a:ea typeface="Roboto Mono"/>
                <a:cs typeface="Roboto Mono"/>
                <a:sym typeface="Roboto Mono"/>
              </a:rPr>
              <a:t>(</a:t>
            </a:r>
            <a:r>
              <a:rPr b="1" lang="en-US" sz="1300">
                <a:solidFill>
                  <a:srgbClr val="700080"/>
                </a:solidFill>
                <a:latin typeface="Roboto Mono"/>
                <a:ea typeface="Roboto Mono"/>
                <a:cs typeface="Roboto Mono"/>
                <a:sym typeface="Roboto Mono"/>
              </a:rPr>
              <a:t>lambda</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x</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x</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x</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Min/Max: operazioni esatte, calcolate su DataFrame (no approssimazione)</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i="1" lang="en-US" sz="1300">
                <a:solidFill>
                  <a:srgbClr val="A05000"/>
                </a:solidFill>
                <a:latin typeface="Roboto Mono"/>
                <a:ea typeface="Roboto Mono"/>
                <a:cs typeface="Roboto Mono"/>
                <a:sym typeface="Roboto Mono"/>
              </a:rPr>
              <a:t># Min/Max DEP_DELAY per compagnia, calcolato con RDD.</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range_rdd</a:t>
            </a:r>
            <a:r>
              <a:rPr lang="en-US" sz="1300">
                <a:latin typeface="Roboto Mono"/>
                <a:ea typeface="Roboto Mono"/>
                <a:cs typeface="Roboto Mono"/>
                <a:sym typeface="Roboto Mono"/>
              </a:rPr>
              <a:t> </a:t>
            </a:r>
            <a:r>
              <a:rPr b="1" lang="en-US" sz="1300">
                <a:solidFill>
                  <a:srgbClr val="EE11FF"/>
                </a:solidFill>
                <a:latin typeface="Roboto Mono"/>
                <a:ea typeface="Roboto Mono"/>
                <a:cs typeface="Roboto Mono"/>
                <a:sym typeface="Roboto Mono"/>
              </a:rPr>
              <a:t>=</a:t>
            </a: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rdd</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map</a:t>
            </a:r>
            <a:r>
              <a:rPr lang="en-US" sz="1300">
                <a:latin typeface="Roboto Mono"/>
                <a:ea typeface="Roboto Mono"/>
                <a:cs typeface="Roboto Mono"/>
                <a:sym typeface="Roboto Mono"/>
              </a:rPr>
              <a:t>(</a:t>
            </a:r>
            <a:r>
              <a:rPr b="1" lang="en-US" sz="1300">
                <a:solidFill>
                  <a:srgbClr val="700080"/>
                </a:solidFill>
                <a:latin typeface="Roboto Mono"/>
                <a:ea typeface="Roboto Mono"/>
                <a:cs typeface="Roboto Mono"/>
                <a:sym typeface="Roboto Mono"/>
              </a:rPr>
              <a:t>lambda</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reduceByKey</a:t>
            </a:r>
            <a:r>
              <a:rPr lang="en-US" sz="1300">
                <a:latin typeface="Roboto Mono"/>
                <a:ea typeface="Roboto Mono"/>
                <a:cs typeface="Roboto Mono"/>
                <a:sym typeface="Roboto Mono"/>
              </a:rPr>
              <a:t>(</a:t>
            </a:r>
            <a:r>
              <a:rPr b="1" lang="en-US" sz="1300">
                <a:solidFill>
                  <a:srgbClr val="700080"/>
                </a:solidFill>
                <a:latin typeface="Roboto Mono"/>
                <a:ea typeface="Roboto Mono"/>
                <a:cs typeface="Roboto Mono"/>
                <a:sym typeface="Roboto Mono"/>
              </a:rPr>
              <a:t>lambda</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a</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b</a:t>
            </a:r>
            <a:r>
              <a:rPr lang="en-US" sz="1300">
                <a:latin typeface="Roboto Mono"/>
                <a:ea typeface="Roboto Mono"/>
                <a:cs typeface="Roboto Mono"/>
                <a:sym typeface="Roboto Mono"/>
              </a:rPr>
              <a:t>: (</a:t>
            </a:r>
            <a:r>
              <a:rPr lang="en-US" sz="1300">
                <a:solidFill>
                  <a:srgbClr val="3000A0"/>
                </a:solidFill>
                <a:latin typeface="Roboto Mono"/>
                <a:ea typeface="Roboto Mono"/>
                <a:cs typeface="Roboto Mono"/>
                <a:sym typeface="Roboto Mono"/>
              </a:rPr>
              <a:t>min</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a</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b</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 </a:t>
            </a:r>
            <a:r>
              <a:rPr lang="en-US" sz="1300">
                <a:solidFill>
                  <a:srgbClr val="3000A0"/>
                </a:solidFill>
                <a:latin typeface="Roboto Mono"/>
                <a:ea typeface="Roboto Mono"/>
                <a:cs typeface="Roboto Mono"/>
                <a:sym typeface="Roboto Mono"/>
              </a:rPr>
              <a:t>max</a:t>
            </a:r>
            <a:r>
              <a:rPr lang="en-US" sz="1300">
                <a:latin typeface="Roboto Mono"/>
                <a:ea typeface="Roboto Mono"/>
                <a:cs typeface="Roboto Mono"/>
                <a:sym typeface="Roboto Mono"/>
              </a:rPr>
              <a:t>(</a:t>
            </a:r>
            <a:r>
              <a:rPr lang="en-US" sz="1300">
                <a:solidFill>
                  <a:srgbClr val="1AB1CD"/>
                </a:solidFill>
                <a:latin typeface="Roboto Mono"/>
                <a:ea typeface="Roboto Mono"/>
                <a:cs typeface="Roboto Mono"/>
                <a:sym typeface="Roboto Mono"/>
              </a:rPr>
              <a:t>a</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b</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map</a:t>
            </a:r>
            <a:r>
              <a:rPr lang="en-US" sz="1300">
                <a:latin typeface="Roboto Mono"/>
                <a:ea typeface="Roboto Mono"/>
                <a:cs typeface="Roboto Mono"/>
                <a:sym typeface="Roboto Mono"/>
              </a:rPr>
              <a:t>(</a:t>
            </a:r>
            <a:r>
              <a:rPr b="1" lang="en-US" sz="1300">
                <a:solidFill>
                  <a:srgbClr val="700080"/>
                </a:solidFill>
                <a:latin typeface="Roboto Mono"/>
                <a:ea typeface="Roboto Mono"/>
                <a:cs typeface="Roboto Mono"/>
                <a:sym typeface="Roboto Mono"/>
              </a:rPr>
              <a:t>lambda</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kv</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1</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r>
              <a:rPr lang="en-US" sz="1300">
                <a:solidFill>
                  <a:srgbClr val="572000"/>
                </a:solidFill>
                <a:latin typeface="Roboto Mono"/>
                <a:ea typeface="Roboto Mono"/>
                <a:cs typeface="Roboto Mono"/>
                <a:sym typeface="Roboto Mono"/>
              </a:rPr>
              <a:t>sortBy</a:t>
            </a:r>
            <a:r>
              <a:rPr lang="en-US" sz="1300">
                <a:latin typeface="Roboto Mono"/>
                <a:ea typeface="Roboto Mono"/>
                <a:cs typeface="Roboto Mono"/>
                <a:sym typeface="Roboto Mono"/>
              </a:rPr>
              <a:t>(</a:t>
            </a:r>
            <a:r>
              <a:rPr b="1" lang="en-US" sz="1300">
                <a:solidFill>
                  <a:srgbClr val="700080"/>
                </a:solidFill>
                <a:latin typeface="Roboto Mono"/>
                <a:ea typeface="Roboto Mono"/>
                <a:cs typeface="Roboto Mono"/>
                <a:sym typeface="Roboto Mono"/>
              </a:rPr>
              <a:t>lambda</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x</a:t>
            </a:r>
            <a:r>
              <a:rPr lang="en-US" sz="1300">
                <a:latin typeface="Roboto Mono"/>
                <a:ea typeface="Roboto Mono"/>
                <a:cs typeface="Roboto Mono"/>
                <a:sym typeface="Roboto Mono"/>
              </a:rPr>
              <a:t>: </a:t>
            </a:r>
            <a:r>
              <a:rPr lang="en-US" sz="1300">
                <a:solidFill>
                  <a:srgbClr val="1AB1CD"/>
                </a:solidFill>
                <a:latin typeface="Roboto Mono"/>
                <a:ea typeface="Roboto Mono"/>
                <a:cs typeface="Roboto Mono"/>
                <a:sym typeface="Roboto Mono"/>
              </a:rPr>
              <a:t>x</a:t>
            </a:r>
            <a:r>
              <a:rPr lang="en-US" sz="1300">
                <a:latin typeface="Roboto Mono"/>
                <a:ea typeface="Roboto Mono"/>
                <a:cs typeface="Roboto Mono"/>
                <a:sym typeface="Roboto Mono"/>
              </a:rPr>
              <a:t>[</a:t>
            </a:r>
            <a:r>
              <a:rPr lang="en-US" sz="1300">
                <a:solidFill>
                  <a:srgbClr val="106040"/>
                </a:solidFill>
                <a:latin typeface="Roboto Mono"/>
                <a:ea typeface="Roboto Mono"/>
                <a:cs typeface="Roboto Mono"/>
                <a:sym typeface="Roboto Mono"/>
              </a:rPr>
              <a:t>0</a:t>
            </a:r>
            <a:r>
              <a:rPr lang="en-US"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457200" marR="0" rtl="0" algn="l">
              <a:lnSpc>
                <a:spcPct val="100000"/>
              </a:lnSpc>
              <a:spcBef>
                <a:spcPts val="0"/>
              </a:spcBef>
              <a:spcAft>
                <a:spcPts val="0"/>
              </a:spcAft>
              <a:buNone/>
            </a:pPr>
            <a:r>
              <a:t/>
            </a:r>
            <a:endParaRPr sz="1300">
              <a:latin typeface="Roboto Mono"/>
              <a:ea typeface="Roboto Mono"/>
              <a:cs typeface="Roboto Mono"/>
              <a:sym typeface="Roboto Mono"/>
            </a:endParaRPr>
          </a:p>
        </p:txBody>
      </p:sp>
      <p:sp>
        <p:nvSpPr>
          <p:cNvPr id="660" name="Google Shape;660;p94"/>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94"/>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62" name="Google Shape;662;p94"/>
          <p:cNvSpPr/>
          <p:nvPr/>
        </p:nvSpPr>
        <p:spPr>
          <a:xfrm>
            <a:off x="450354" y="1138675"/>
            <a:ext cx="30429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94"/>
          <p:cNvSpPr txBox="1"/>
          <p:nvPr/>
        </p:nvSpPr>
        <p:spPr>
          <a:xfrm>
            <a:off x="12346625" y="400325"/>
            <a:ext cx="3000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rPr>
              <a:t>k in kll </a:t>
            </a:r>
            <a:r>
              <a:rPr lang="en-US" sz="1100">
                <a:solidFill>
                  <a:schemeClr val="dk1"/>
                </a:solidFill>
              </a:rPr>
              <a:t>è il parametro che controlla la </a:t>
            </a:r>
            <a:r>
              <a:rPr b="1" lang="en-US" sz="1100">
                <a:solidFill>
                  <a:schemeClr val="dk1"/>
                </a:solidFill>
              </a:rPr>
              <a:t>precisione vs. memoria</a:t>
            </a:r>
            <a:r>
              <a:rPr lang="en-US" sz="1100">
                <a:solidFill>
                  <a:schemeClr val="dk1"/>
                </a:solidFill>
              </a:rPr>
              <a:t> dello sketch. Più precisamente, definisce la </a:t>
            </a:r>
            <a:r>
              <a:rPr b="1" lang="en-US" sz="1100">
                <a:solidFill>
                  <a:schemeClr val="dk1"/>
                </a:solidFill>
              </a:rPr>
              <a:t>dimensione massima del compattatore di livello 0</a:t>
            </a:r>
            <a:r>
              <a:rPr lang="en-US" sz="1100">
                <a:solidFill>
                  <a:schemeClr val="dk1"/>
                </a:solidFill>
              </a:rPr>
              <a:t>, da cui derivano tutte le garanzie dello sketch.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US" sz="1100">
                <a:solidFill>
                  <a:schemeClr val="dk1"/>
                </a:solidFill>
              </a:rPr>
              <a:t>k in tdigest regola la size del buffer massimo prima di compattare</a:t>
            </a:r>
            <a:endParaRPr sz="1100">
              <a:solidFill>
                <a:schemeClr val="dk1"/>
              </a:solidFill>
            </a:endParaRPr>
          </a:p>
        </p:txBody>
      </p:sp>
      <p:sp>
        <p:nvSpPr>
          <p:cNvPr id="664" name="Google Shape;664;p94"/>
          <p:cNvSpPr txBox="1"/>
          <p:nvPr/>
        </p:nvSpPr>
        <p:spPr>
          <a:xfrm>
            <a:off x="12346625" y="2307175"/>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rPr>
              <a:t>Il t-digest non accumula tutti i punti grezzi, ma li comprime in </a:t>
            </a:r>
            <a:r>
              <a:rPr b="1" lang="en-US" sz="1100">
                <a:solidFill>
                  <a:schemeClr val="dk1"/>
                </a:solidFill>
              </a:rPr>
              <a:t>centroidi</a:t>
            </a:r>
            <a:r>
              <a:rPr lang="en-US" sz="1100">
                <a:solidFill>
                  <a:schemeClr val="dk1"/>
                </a:solidFill>
              </a:rPr>
              <a:t> — ognuno con un peso e un valore medio. La funzione di scala </a:t>
            </a:r>
            <a:r>
              <a:rPr lang="en-US" sz="1100">
                <a:solidFill>
                  <a:srgbClr val="188038"/>
                </a:solidFill>
                <a:latin typeface="Roboto Mono"/>
                <a:ea typeface="Roboto Mono"/>
                <a:cs typeface="Roboto Mono"/>
                <a:sym typeface="Roboto Mono"/>
              </a:rPr>
              <a:t>k</a:t>
            </a:r>
            <a:r>
              <a:rPr lang="en-US" sz="1100">
                <a:solidFill>
                  <a:schemeClr val="dk1"/>
                </a:solidFill>
              </a:rPr>
              <a:t> definisce </a:t>
            </a:r>
            <a:r>
              <a:rPr b="1" lang="en-US" sz="1100">
                <a:solidFill>
                  <a:schemeClr val="dk1"/>
                </a:solidFill>
              </a:rPr>
              <a:t>quanto possono essere "grandi" (pesanti) i centroidi</a:t>
            </a:r>
            <a:r>
              <a:rPr lang="en-US" sz="1100">
                <a:solidFill>
                  <a:schemeClr val="dk1"/>
                </a:solidFill>
              </a:rPr>
              <a:t> in base alla loro posizione nella distribuzione </a:t>
            </a:r>
            <a:endParaRPr/>
          </a:p>
        </p:txBody>
      </p:sp>
      <p:sp>
        <p:nvSpPr>
          <p:cNvPr id="665" name="Google Shape;665;p94"/>
          <p:cNvSpPr txBox="1"/>
          <p:nvPr/>
        </p:nvSpPr>
        <p:spPr>
          <a:xfrm>
            <a:off x="15746125" y="400325"/>
            <a:ext cx="3000000" cy="708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Perchè avete usato questi parametri?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Abbiamo scelto K=200 perché è il valore raccomandato dalla documentazione di datasketches per ottenere un errore relativo garantito sull'ordine dell'1-2% ai percentili estremi. KLL fornisce una garanzia teorica formale: con K=200 l'errore normalizzato sul rango è al massimo 1/K, indipendentemente dalla dimensione del dataset. Aumentare K migliora la precisione ma aumenta la memoria occupata dallo sketch — con 2.2M di record il valore di default è già ampiamente sufficiente."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chemeClr val="dk1"/>
                </a:solidFill>
              </a:rPr>
              <a:t>Per t-digest abbiamo lasciato i parametri al default. Il valore di default di </a:t>
            </a:r>
            <a:r>
              <a:rPr lang="en-US">
                <a:solidFill>
                  <a:srgbClr val="188038"/>
                </a:solidFill>
                <a:latin typeface="Roboto Mono"/>
                <a:ea typeface="Roboto Mono"/>
                <a:cs typeface="Roboto Mono"/>
                <a:sym typeface="Roboto Mono"/>
              </a:rPr>
              <a:t>delta</a:t>
            </a:r>
            <a:r>
              <a:rPr lang="en-US">
                <a:solidFill>
                  <a:schemeClr val="dk1"/>
                </a:solidFill>
              </a:rPr>
              <a:t> (100 centroidi) è un compromesso consolidato nella letteratura — sufficiente per una buona precisione sui percentili alle code, che sono quelli più rilevanti nella nostra analisi (P25, P75). Non avendo requisiti di precisione stringenti imposti dalla specifica del progetto, non abbiamo avuto motivo di deviare dal default </a:t>
            </a:r>
            <a:endParaRPr sz="170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95"/>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KLL - combineByKey</a:t>
            </a:r>
            <a:endParaRPr b="1" i="0" sz="3600" u="none" cap="none" strike="noStrike"/>
          </a:p>
        </p:txBody>
      </p:sp>
      <p:sp>
        <p:nvSpPr>
          <p:cNvPr id="671" name="Google Shape;671;p95"/>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Clr>
                <a:schemeClr val="dk1"/>
              </a:buClr>
              <a:buSzPts val="1100"/>
              <a:buFont typeface="Arial"/>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create_combiner</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value</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-&gt;</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bytes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sketch</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datasketches</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kll_floats_sketch</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K</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sketch</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update</a:t>
            </a:r>
            <a:r>
              <a:rPr lang="en-US">
                <a:latin typeface="Roboto Mono"/>
                <a:ea typeface="Roboto Mono"/>
                <a:cs typeface="Roboto Mono"/>
                <a:sym typeface="Roboto Mono"/>
              </a:rPr>
              <a:t>(</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value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return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sketch</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serialize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merge_value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sketch_bytes</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bytes</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value</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-&gt;</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bytes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sketch</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datasketches</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kll_floats_sketch</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deserialize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sketch_bytes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sketch</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update</a:t>
            </a:r>
            <a:r>
              <a:rPr lang="en-US">
                <a:latin typeface="Roboto Mono"/>
                <a:ea typeface="Roboto Mono"/>
                <a:cs typeface="Roboto Mono"/>
                <a:sym typeface="Roboto Mono"/>
              </a:rPr>
              <a:t>(</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value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return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sketch</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serialize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merge_combiners</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b1</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bytes</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b2</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bytes</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-&gt;</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bytes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s1</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datasketches</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kll_floats_sketch</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deserialize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b1</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s2</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datasketches</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kll_floats_sketch</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deserialize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b2</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s1</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merge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s2</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return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s1</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serialize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457200" marR="0" rtl="0" algn="l">
              <a:lnSpc>
                <a:spcPct val="100000"/>
              </a:lnSpc>
              <a:spcBef>
                <a:spcPts val="0"/>
              </a:spcBef>
              <a:spcAft>
                <a:spcPts val="0"/>
              </a:spcAft>
              <a:buNone/>
            </a:pPr>
            <a:r>
              <a:t/>
            </a:r>
            <a:endParaRPr>
              <a:latin typeface="Roboto Mono"/>
              <a:ea typeface="Roboto Mono"/>
              <a:cs typeface="Roboto Mono"/>
              <a:sym typeface="Roboto Mono"/>
            </a:endParaRPr>
          </a:p>
        </p:txBody>
      </p:sp>
      <p:sp>
        <p:nvSpPr>
          <p:cNvPr id="672" name="Google Shape;672;p95"/>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95"/>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74" name="Google Shape;674;p95"/>
          <p:cNvSpPr/>
          <p:nvPr/>
        </p:nvSpPr>
        <p:spPr>
          <a:xfrm>
            <a:off x="450350" y="1138675"/>
            <a:ext cx="63708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95"/>
          <p:cNvSpPr txBox="1"/>
          <p:nvPr/>
        </p:nvSpPr>
        <p:spPr>
          <a:xfrm>
            <a:off x="12346625" y="400325"/>
            <a:ext cx="3000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rPr>
              <a:t>k è il parametro che controlla la </a:t>
            </a:r>
            <a:r>
              <a:rPr b="1" lang="en-US" sz="1100">
                <a:solidFill>
                  <a:schemeClr val="dk1"/>
                </a:solidFill>
              </a:rPr>
              <a:t>precisione vs. memoria</a:t>
            </a:r>
            <a:r>
              <a:rPr lang="en-US" sz="1100">
                <a:solidFill>
                  <a:schemeClr val="dk1"/>
                </a:solidFill>
              </a:rPr>
              <a:t> dello sketch. Più precisamente, definisce la </a:t>
            </a:r>
            <a:r>
              <a:rPr b="1" lang="en-US" sz="1100">
                <a:solidFill>
                  <a:schemeClr val="dk1"/>
                </a:solidFill>
              </a:rPr>
              <a:t>dimensione massima del compattatore di livello 0</a:t>
            </a:r>
            <a:r>
              <a:rPr lang="en-US" sz="1100">
                <a:solidFill>
                  <a:schemeClr val="dk1"/>
                </a:solidFill>
              </a:rPr>
              <a:t>, da cui derivano tutte le garanzie dello sketch. </a:t>
            </a:r>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96"/>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TDigest</a:t>
            </a:r>
            <a:endParaRPr b="1" i="0" sz="3600" u="none" cap="none" strike="noStrike"/>
          </a:p>
        </p:txBody>
      </p:sp>
      <p:sp>
        <p:nvSpPr>
          <p:cNvPr id="681" name="Google Shape;681;p96"/>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rgbClr val="1AB1CD"/>
                </a:solidFill>
                <a:latin typeface="Roboto Mono"/>
                <a:ea typeface="Roboto Mono"/>
                <a:cs typeface="Roboto Mono"/>
                <a:sym typeface="Roboto Mono"/>
              </a:rPr>
              <a:t>percentile_rdd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rdd</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combineByKey</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create_combiner</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merge_value</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merge_combiners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map</a:t>
            </a:r>
            <a:r>
              <a:rPr lang="en-US">
                <a:latin typeface="Roboto Mono"/>
                <a:ea typeface="Roboto Mono"/>
                <a:cs typeface="Roboto Mono"/>
                <a:sym typeface="Roboto Mono"/>
              </a:rPr>
              <a:t>(</a:t>
            </a:r>
            <a:r>
              <a:rPr b="1" lang="en-US">
                <a:solidFill>
                  <a:srgbClr val="700080"/>
                </a:solidFill>
                <a:latin typeface="Roboto Mono"/>
                <a:ea typeface="Roboto Mono"/>
                <a:cs typeface="Roboto Mono"/>
                <a:sym typeface="Roboto Mono"/>
              </a:rPr>
              <a:t>lambda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carrier</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hour</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round</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percentile</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25</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2</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p25</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round</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percentile</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50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2</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p50</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round</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percentile</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75</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2</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p75</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round</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percentile</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90</a:t>
            </a:r>
            <a:r>
              <a:rPr lang="en-US">
                <a:latin typeface="Roboto Mono"/>
                <a:ea typeface="Roboto Mono"/>
                <a:cs typeface="Roboto Mono"/>
                <a:sym typeface="Roboto Mono"/>
              </a:rPr>
              <a:t>), </a:t>
            </a:r>
            <a:r>
              <a:rPr lang="en-US">
                <a:solidFill>
                  <a:srgbClr val="106040"/>
                </a:solidFill>
                <a:latin typeface="Roboto Mono"/>
                <a:ea typeface="Roboto Mono"/>
                <a:cs typeface="Roboto Mono"/>
                <a:sym typeface="Roboto Mono"/>
              </a:rPr>
              <a:t>2</a:t>
            </a: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p90</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sortBy</a:t>
            </a:r>
            <a:r>
              <a:rPr lang="en-US">
                <a:latin typeface="Roboto Mono"/>
                <a:ea typeface="Roboto Mono"/>
                <a:cs typeface="Roboto Mono"/>
                <a:sym typeface="Roboto Mono"/>
              </a:rPr>
              <a:t>(</a:t>
            </a:r>
            <a:r>
              <a:rPr b="1" lang="en-US">
                <a:solidFill>
                  <a:srgbClr val="700080"/>
                </a:solidFill>
                <a:latin typeface="Roboto Mono"/>
                <a:ea typeface="Roboto Mono"/>
                <a:cs typeface="Roboto Mono"/>
                <a:sym typeface="Roboto Mono"/>
              </a:rPr>
              <a:t>lambda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x</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x</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x</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Min/Max: operazioni esatte, calcolate su DataFrame (no approssimazione)</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range_rdd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rdd</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map</a:t>
            </a:r>
            <a:r>
              <a:rPr lang="en-US">
                <a:latin typeface="Roboto Mono"/>
                <a:ea typeface="Roboto Mono"/>
                <a:cs typeface="Roboto Mono"/>
                <a:sym typeface="Roboto Mono"/>
              </a:rPr>
              <a:t>(</a:t>
            </a:r>
            <a:r>
              <a:rPr b="1" lang="en-US">
                <a:solidFill>
                  <a:srgbClr val="700080"/>
                </a:solidFill>
                <a:latin typeface="Roboto Mono"/>
                <a:ea typeface="Roboto Mono"/>
                <a:cs typeface="Roboto Mono"/>
                <a:sym typeface="Roboto Mono"/>
              </a:rPr>
              <a:t>lambda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reduceByKey</a:t>
            </a:r>
            <a:r>
              <a:rPr lang="en-US">
                <a:latin typeface="Roboto Mono"/>
                <a:ea typeface="Roboto Mono"/>
                <a:cs typeface="Roboto Mono"/>
                <a:sym typeface="Roboto Mono"/>
              </a:rPr>
              <a:t>(</a:t>
            </a:r>
            <a:r>
              <a:rPr b="1" lang="en-US">
                <a:solidFill>
                  <a:srgbClr val="700080"/>
                </a:solidFill>
                <a:latin typeface="Roboto Mono"/>
                <a:ea typeface="Roboto Mono"/>
                <a:cs typeface="Roboto Mono"/>
                <a:sym typeface="Roboto Mono"/>
              </a:rPr>
              <a:t>lambda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min</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max</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a</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b</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map</a:t>
            </a:r>
            <a:r>
              <a:rPr lang="en-US">
                <a:latin typeface="Roboto Mono"/>
                <a:ea typeface="Roboto Mono"/>
                <a:cs typeface="Roboto Mono"/>
                <a:sym typeface="Roboto Mono"/>
              </a:rPr>
              <a:t>(</a:t>
            </a:r>
            <a:r>
              <a:rPr b="1" lang="en-US">
                <a:solidFill>
                  <a:srgbClr val="700080"/>
                </a:solidFill>
                <a:latin typeface="Roboto Mono"/>
                <a:ea typeface="Roboto Mono"/>
                <a:cs typeface="Roboto Mono"/>
                <a:sym typeface="Roboto Mono"/>
              </a:rPr>
              <a:t>lambda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kv</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1</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sortBy</a:t>
            </a:r>
            <a:r>
              <a:rPr lang="en-US">
                <a:latin typeface="Roboto Mono"/>
                <a:ea typeface="Roboto Mono"/>
                <a:cs typeface="Roboto Mono"/>
                <a:sym typeface="Roboto Mono"/>
              </a:rPr>
              <a:t>(</a:t>
            </a:r>
            <a:r>
              <a:rPr b="1" lang="en-US">
                <a:solidFill>
                  <a:srgbClr val="700080"/>
                </a:solidFill>
                <a:latin typeface="Roboto Mono"/>
                <a:ea typeface="Roboto Mono"/>
                <a:cs typeface="Roboto Mono"/>
                <a:sym typeface="Roboto Mono"/>
              </a:rPr>
              <a:t>lambda</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x</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x</a:t>
            </a:r>
            <a:r>
              <a:rPr lang="en-US">
                <a:latin typeface="Roboto Mono"/>
                <a:ea typeface="Roboto Mono"/>
                <a:cs typeface="Roboto Mono"/>
                <a:sym typeface="Roboto Mono"/>
              </a:rPr>
              <a:t>[</a:t>
            </a:r>
            <a:r>
              <a:rPr lang="en-US">
                <a:solidFill>
                  <a:srgbClr val="106040"/>
                </a:solidFill>
                <a:latin typeface="Roboto Mono"/>
                <a:ea typeface="Roboto Mono"/>
                <a:cs typeface="Roboto Mono"/>
                <a:sym typeface="Roboto Mono"/>
              </a:rPr>
              <a:t>0</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marR="0" rtl="0" algn="l">
              <a:lnSpc>
                <a:spcPct val="100000"/>
              </a:lnSpc>
              <a:spcBef>
                <a:spcPts val="0"/>
              </a:spcBef>
              <a:spcAft>
                <a:spcPts val="0"/>
              </a:spcAft>
              <a:buNone/>
            </a:pPr>
            <a:r>
              <a:t/>
            </a:r>
            <a:endParaRPr>
              <a:latin typeface="Roboto Mono"/>
              <a:ea typeface="Roboto Mono"/>
              <a:cs typeface="Roboto Mono"/>
              <a:sym typeface="Roboto Mono"/>
            </a:endParaRPr>
          </a:p>
        </p:txBody>
      </p:sp>
      <p:sp>
        <p:nvSpPr>
          <p:cNvPr id="682" name="Google Shape;682;p96"/>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96"/>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84" name="Google Shape;684;p96"/>
          <p:cNvSpPr/>
          <p:nvPr/>
        </p:nvSpPr>
        <p:spPr>
          <a:xfrm>
            <a:off x="450349" y="1138675"/>
            <a:ext cx="3777900" cy="465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96"/>
          <p:cNvSpPr txBox="1"/>
          <p:nvPr/>
        </p:nvSpPr>
        <p:spPr>
          <a:xfrm>
            <a:off x="12497800" y="882325"/>
            <a:ext cx="721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implementazione tramite i centroidi</a:t>
            </a:r>
            <a:endParaRPr sz="180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97"/>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TDigest - combineByKey</a:t>
            </a:r>
            <a:endParaRPr b="1" i="0" sz="3600" u="none" cap="none" strike="noStrike"/>
          </a:p>
        </p:txBody>
      </p:sp>
      <p:sp>
        <p:nvSpPr>
          <p:cNvPr id="691" name="Google Shape;691;p97"/>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create_combiner</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value</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-&gt;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TDigest</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TDigest</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update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value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return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merge_value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digest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TDigest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value</a:t>
            </a:r>
            <a:r>
              <a:rPr lang="en-US">
                <a:latin typeface="Roboto Mono"/>
                <a:ea typeface="Roboto Mono"/>
                <a:cs typeface="Roboto Mono"/>
                <a:sym typeface="Roboto Mono"/>
              </a:rPr>
              <a:t>: </a:t>
            </a:r>
            <a:r>
              <a:rPr lang="en-US">
                <a:solidFill>
                  <a:srgbClr val="3000A0"/>
                </a:solidFill>
                <a:latin typeface="Roboto Mono"/>
                <a:ea typeface="Roboto Mono"/>
                <a:cs typeface="Roboto Mono"/>
                <a:sym typeface="Roboto Mono"/>
              </a:rPr>
              <a:t>float</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-&gt;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TDigest</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digest</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update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value</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return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digest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a:solidFill>
                  <a:srgbClr val="700080"/>
                </a:solidFill>
                <a:latin typeface="Roboto Mono"/>
                <a:ea typeface="Roboto Mono"/>
                <a:cs typeface="Roboto Mono"/>
                <a:sym typeface="Roboto Mono"/>
              </a:rPr>
              <a:t>def</a:t>
            </a:r>
            <a:r>
              <a:rPr lang="en-US">
                <a:latin typeface="Roboto Mono"/>
                <a:ea typeface="Roboto Mono"/>
                <a:cs typeface="Roboto Mono"/>
                <a:sym typeface="Roboto Mono"/>
              </a:rPr>
              <a:t> </a:t>
            </a:r>
            <a:r>
              <a:rPr lang="en-US">
                <a:solidFill>
                  <a:srgbClr val="0000F0"/>
                </a:solidFill>
                <a:latin typeface="Roboto Mono"/>
                <a:ea typeface="Roboto Mono"/>
                <a:cs typeface="Roboto Mono"/>
                <a:sym typeface="Roboto Mono"/>
              </a:rPr>
              <a:t>merge_combiners</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d1</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TDigest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d2</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TDigest</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-&gt;</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TDigest</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Itera i centroidi di d2 e li inserisce in d1 con il loro peso.</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Questo è il merge distribuito nativo di t-digest: trasferisce solo</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i="1" lang="en-US">
                <a:solidFill>
                  <a:srgbClr val="A05000"/>
                </a:solidFill>
                <a:latin typeface="Roboto Mono"/>
                <a:ea typeface="Roboto Mono"/>
                <a:cs typeface="Roboto Mono"/>
                <a:sym typeface="Roboto Mono"/>
              </a:rPr>
              <a:t># le strutture compatte (centroidi), non i dati grezzi.</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for</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centroid</a:t>
            </a: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in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d2</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C</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values</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d1</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update</a:t>
            </a:r>
            <a:r>
              <a:rPr lang="en-US">
                <a:latin typeface="Roboto Mono"/>
                <a:ea typeface="Roboto Mono"/>
                <a:cs typeface="Roboto Mono"/>
                <a:sym typeface="Roboto Mono"/>
              </a:rPr>
              <a:t>(</a:t>
            </a:r>
            <a:r>
              <a:rPr lang="en-US">
                <a:solidFill>
                  <a:srgbClr val="1AB1CD"/>
                </a:solidFill>
                <a:latin typeface="Roboto Mono"/>
                <a:ea typeface="Roboto Mono"/>
                <a:cs typeface="Roboto Mono"/>
                <a:sym typeface="Roboto Mono"/>
              </a:rPr>
              <a:t>centroid</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mean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centroid</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count</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b="1" lang="en-US">
                <a:solidFill>
                  <a:srgbClr val="700080"/>
                </a:solidFill>
                <a:latin typeface="Roboto Mono"/>
                <a:ea typeface="Roboto Mono"/>
                <a:cs typeface="Roboto Mono"/>
                <a:sym typeface="Roboto Mono"/>
              </a:rPr>
              <a:t>return</a:t>
            </a: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d1</a:t>
            </a:r>
            <a:endParaRPr>
              <a:latin typeface="Roboto Mono"/>
              <a:ea typeface="Roboto Mono"/>
              <a:cs typeface="Roboto Mono"/>
              <a:sym typeface="Roboto Mono"/>
            </a:endParaRPr>
          </a:p>
          <a:p>
            <a:pPr indent="0" lvl="0" marL="0" marR="0" rtl="0" algn="l">
              <a:lnSpc>
                <a:spcPct val="100000"/>
              </a:lnSpc>
              <a:spcBef>
                <a:spcPts val="0"/>
              </a:spcBef>
              <a:spcAft>
                <a:spcPts val="0"/>
              </a:spcAft>
              <a:buNone/>
            </a:pPr>
            <a:r>
              <a:t/>
            </a:r>
            <a:endParaRPr>
              <a:latin typeface="Roboto Mono"/>
              <a:ea typeface="Roboto Mono"/>
              <a:cs typeface="Roboto Mono"/>
              <a:sym typeface="Roboto Mono"/>
            </a:endParaRPr>
          </a:p>
        </p:txBody>
      </p:sp>
      <p:sp>
        <p:nvSpPr>
          <p:cNvPr id="692" name="Google Shape;692;p97"/>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97"/>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694" name="Google Shape;694;p97"/>
          <p:cNvSpPr txBox="1"/>
          <p:nvPr/>
        </p:nvSpPr>
        <p:spPr>
          <a:xfrm>
            <a:off x="12497800" y="882325"/>
            <a:ext cx="721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implementazione tramite i centroidi</a:t>
            </a:r>
            <a:endParaRPr sz="1800"/>
          </a:p>
        </p:txBody>
      </p:sp>
      <p:sp>
        <p:nvSpPr>
          <p:cNvPr id="695" name="Google Shape;695;p97"/>
          <p:cNvSpPr/>
          <p:nvPr/>
        </p:nvSpPr>
        <p:spPr>
          <a:xfrm>
            <a:off x="450353" y="1138675"/>
            <a:ext cx="7158900" cy="465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8"/>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SQL</a:t>
            </a:r>
            <a:endParaRPr b="1" i="0" sz="3600" u="none" cap="none" strike="noStrike"/>
          </a:p>
        </p:txBody>
      </p:sp>
      <p:sp>
        <p:nvSpPr>
          <p:cNvPr id="701" name="Google Shape;701;p98"/>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1414"/>
              </a:spcBef>
              <a:spcAft>
                <a:spcPts val="0"/>
              </a:spcAft>
              <a:buNone/>
            </a:pPr>
            <a:r>
              <a:t/>
            </a:r>
            <a:endParaRPr sz="2000"/>
          </a:p>
        </p:txBody>
      </p:sp>
      <p:sp>
        <p:nvSpPr>
          <p:cNvPr id="702" name="Google Shape;702;p98"/>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98"/>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704" name="Google Shape;704;p98"/>
          <p:cNvSpPr/>
          <p:nvPr/>
        </p:nvSpPr>
        <p:spPr>
          <a:xfrm>
            <a:off x="450349" y="1138675"/>
            <a:ext cx="3007500" cy="52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5" name="Google Shape;705;p98"/>
          <p:cNvPicPr preferRelativeResize="0"/>
          <p:nvPr/>
        </p:nvPicPr>
        <p:blipFill>
          <a:blip r:embed="rId3">
            <a:alphaModFix/>
          </a:blip>
          <a:stretch>
            <a:fillRect/>
          </a:stretch>
        </p:blipFill>
        <p:spPr>
          <a:xfrm>
            <a:off x="423000" y="1371602"/>
            <a:ext cx="5712244" cy="2561400"/>
          </a:xfrm>
          <a:prstGeom prst="rect">
            <a:avLst/>
          </a:prstGeom>
          <a:noFill/>
          <a:ln>
            <a:noFill/>
          </a:ln>
        </p:spPr>
      </p:pic>
      <p:pic>
        <p:nvPicPr>
          <p:cNvPr id="706" name="Google Shape;706;p98"/>
          <p:cNvPicPr preferRelativeResize="0"/>
          <p:nvPr/>
        </p:nvPicPr>
        <p:blipFill>
          <a:blip r:embed="rId4">
            <a:alphaModFix/>
          </a:blip>
          <a:stretch>
            <a:fillRect/>
          </a:stretch>
        </p:blipFill>
        <p:spPr>
          <a:xfrm>
            <a:off x="4252547" y="3933005"/>
            <a:ext cx="7297728" cy="2276475"/>
          </a:xfrm>
          <a:prstGeom prst="rect">
            <a:avLst/>
          </a:prstGeom>
          <a:noFill/>
          <a:ln>
            <a:noFill/>
          </a:ln>
        </p:spPr>
      </p:pic>
      <p:sp>
        <p:nvSpPr>
          <p:cNvPr id="707" name="Google Shape;707;p98"/>
          <p:cNvSpPr txBox="1"/>
          <p:nvPr/>
        </p:nvSpPr>
        <p:spPr>
          <a:xfrm>
            <a:off x="6342325" y="1928000"/>
            <a:ext cx="5876100" cy="4926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Query per i percentili</a:t>
            </a:r>
            <a:endParaRPr sz="2000"/>
          </a:p>
        </p:txBody>
      </p:sp>
      <p:sp>
        <p:nvSpPr>
          <p:cNvPr id="708" name="Google Shape;708;p98"/>
          <p:cNvSpPr txBox="1"/>
          <p:nvPr/>
        </p:nvSpPr>
        <p:spPr>
          <a:xfrm>
            <a:off x="450350" y="4391350"/>
            <a:ext cx="7715400" cy="4926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US" sz="2000"/>
              <a:t>Valori sui ritardo</a:t>
            </a:r>
            <a:endParaRPr sz="2000"/>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9"/>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Dataframe</a:t>
            </a:r>
            <a:endParaRPr b="1" i="0" sz="3600" u="none" cap="none" strike="noStrike"/>
          </a:p>
        </p:txBody>
      </p:sp>
      <p:sp>
        <p:nvSpPr>
          <p:cNvPr id="714" name="Google Shape;714;p99"/>
          <p:cNvSpPr/>
          <p:nvPr/>
        </p:nvSpPr>
        <p:spPr>
          <a:xfrm>
            <a:off x="450350" y="1350250"/>
            <a:ext cx="10902900" cy="2325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rgbClr val="1AB1CD"/>
                </a:solidFill>
                <a:latin typeface="Roboto Mono"/>
                <a:ea typeface="Roboto Mono"/>
                <a:cs typeface="Roboto Mono"/>
                <a:sym typeface="Roboto Mono"/>
              </a:rPr>
              <a:t>percentiles</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df</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groupBy</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"hour"</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agg</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expr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"percentile_approx(DEP_DELAY, 0.25)"</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"p25"</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expr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"percentile_approx(DEP_DELAY, 0.50)"</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"p50"</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expr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"percentile_approx(DEP_DELAY, 0.75)"</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"p75"</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expr</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"percentile_approx(DEP_DELAY, 0.90)"</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"p90"</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orderBy</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 </a:t>
            </a:r>
            <a:r>
              <a:rPr lang="en-US">
                <a:solidFill>
                  <a:srgbClr val="A01010"/>
                </a:solidFill>
                <a:latin typeface="Roboto Mono"/>
                <a:ea typeface="Roboto Mono"/>
                <a:cs typeface="Roboto Mono"/>
                <a:sym typeface="Roboto Mono"/>
              </a:rPr>
              <a:t>"hour"</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a:latin typeface="Roboto Mono"/>
                <a:ea typeface="Roboto Mono"/>
                <a:cs typeface="Roboto Mono"/>
                <a:sym typeface="Roboto Mono"/>
              </a:rPr>
              <a:t>    )</a:t>
            </a:r>
            <a:endParaRPr>
              <a:latin typeface="Roboto Mono"/>
              <a:ea typeface="Roboto Mono"/>
              <a:cs typeface="Roboto Mono"/>
              <a:sym typeface="Roboto Mono"/>
            </a:endParaRPr>
          </a:p>
        </p:txBody>
      </p:sp>
      <p:sp>
        <p:nvSpPr>
          <p:cNvPr id="715" name="Google Shape;715;p99"/>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9"/>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717" name="Google Shape;717;p99"/>
          <p:cNvSpPr/>
          <p:nvPr/>
        </p:nvSpPr>
        <p:spPr>
          <a:xfrm>
            <a:off x="450346" y="1138675"/>
            <a:ext cx="4335000" cy="657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99"/>
          <p:cNvSpPr txBox="1"/>
          <p:nvPr/>
        </p:nvSpPr>
        <p:spPr>
          <a:xfrm>
            <a:off x="450350" y="3675175"/>
            <a:ext cx="10902900" cy="23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1AB1CD"/>
              </a:solidFill>
              <a:latin typeface="Roboto Mono"/>
              <a:ea typeface="Roboto Mono"/>
              <a:cs typeface="Roboto Mono"/>
              <a:sym typeface="Roboto Mono"/>
            </a:endParaRPr>
          </a:p>
          <a:p>
            <a:pPr indent="0" lvl="0" marL="0" rtl="0" algn="l">
              <a:spcBef>
                <a:spcPts val="0"/>
              </a:spcBef>
              <a:spcAft>
                <a:spcPts val="0"/>
              </a:spcAft>
              <a:buNone/>
            </a:pPr>
            <a:r>
              <a:rPr lang="en-US">
                <a:solidFill>
                  <a:srgbClr val="1AB1CD"/>
                </a:solidFill>
                <a:latin typeface="Roboto Mono"/>
                <a:ea typeface="Roboto Mono"/>
                <a:cs typeface="Roboto Mono"/>
                <a:sym typeface="Roboto Mono"/>
              </a:rPr>
              <a:t>delay_range</a:t>
            </a:r>
            <a:r>
              <a:rPr lang="en-US">
                <a:latin typeface="Roboto Mono"/>
                <a:ea typeface="Roboto Mono"/>
                <a:cs typeface="Roboto Mono"/>
                <a:sym typeface="Roboto Mono"/>
              </a:rPr>
              <a:t> </a:t>
            </a:r>
            <a:r>
              <a:rPr b="1" lang="en-US">
                <a:solidFill>
                  <a:srgbClr val="EE11FF"/>
                </a:solidFill>
                <a:latin typeface="Roboto Mono"/>
                <a:ea typeface="Roboto Mono"/>
                <a:cs typeface="Roboto Mono"/>
                <a:sym typeface="Roboto Mono"/>
              </a:rPr>
              <a:t>=</a:t>
            </a: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df</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groupBy</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agg</a:t>
            </a:r>
            <a:r>
              <a:rPr lang="en-US">
                <a:latin typeface="Roboto Mono"/>
                <a:ea typeface="Roboto Mono"/>
                <a:cs typeface="Roboto Mono"/>
                <a:sym typeface="Roboto Mono"/>
              </a:rPr>
              <a:t>(</a:t>
            </a:r>
            <a:endParaRPr>
              <a:latin typeface="Roboto Mono"/>
              <a:ea typeface="Roboto Mono"/>
              <a:cs typeface="Roboto Mono"/>
              <a:sym typeface="Roboto Mono"/>
            </a:endParaRPr>
          </a:p>
          <a:p>
            <a:pPr indent="45720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spark_min</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"DEP_DELAY"</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"min_delay"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1AB1CD"/>
                </a:solidFill>
                <a:latin typeface="Roboto Mono"/>
                <a:ea typeface="Roboto Mono"/>
                <a:cs typeface="Roboto Mono"/>
                <a:sym typeface="Roboto Mono"/>
              </a:rPr>
              <a:t>spark_max</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"DEP_DELAY"</a:t>
            </a:r>
            <a:r>
              <a:rPr lang="en-US">
                <a:latin typeface="Roboto Mono"/>
                <a:ea typeface="Roboto Mono"/>
                <a:cs typeface="Roboto Mono"/>
                <a:sym typeface="Roboto Mono"/>
              </a:rPr>
              <a:t>).</a:t>
            </a:r>
            <a:r>
              <a:rPr lang="en-US">
                <a:solidFill>
                  <a:srgbClr val="572000"/>
                </a:solidFill>
                <a:latin typeface="Roboto Mono"/>
                <a:ea typeface="Roboto Mono"/>
                <a:cs typeface="Roboto Mono"/>
                <a:sym typeface="Roboto Mono"/>
              </a:rPr>
              <a:t>alias</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"max_delay"</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r>
              <a:rPr lang="en-US">
                <a:solidFill>
                  <a:srgbClr val="572000"/>
                </a:solidFill>
                <a:latin typeface="Roboto Mono"/>
                <a:ea typeface="Roboto Mono"/>
                <a:cs typeface="Roboto Mono"/>
                <a:sym typeface="Roboto Mono"/>
              </a:rPr>
              <a:t>orderBy</a:t>
            </a:r>
            <a:r>
              <a:rPr lang="en-US">
                <a:latin typeface="Roboto Mono"/>
                <a:ea typeface="Roboto Mono"/>
                <a:cs typeface="Roboto Mono"/>
                <a:sym typeface="Roboto Mono"/>
              </a:rPr>
              <a:t>(</a:t>
            </a:r>
            <a:r>
              <a:rPr lang="en-US">
                <a:solidFill>
                  <a:srgbClr val="A01010"/>
                </a:solidFill>
                <a:latin typeface="Roboto Mono"/>
                <a:ea typeface="Roboto Mono"/>
                <a:cs typeface="Roboto Mono"/>
                <a:sym typeface="Roboto Mono"/>
              </a:rPr>
              <a:t>"OP_UNIQUE_CARRIER"</a:t>
            </a:r>
            <a:r>
              <a:rPr lang="en-US">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US">
                <a:latin typeface="Roboto Mono"/>
                <a:ea typeface="Roboto Mono"/>
                <a:cs typeface="Roboto Mono"/>
                <a:sym typeface="Roboto Mono"/>
              </a:rPr>
              <a:t>    )</a:t>
            </a:r>
            <a:endParaRPr>
              <a:latin typeface="Roboto Mono"/>
              <a:ea typeface="Roboto Mono"/>
              <a:cs typeface="Roboto Mono"/>
              <a:sym typeface="Roboto Mono"/>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00"/>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RDD</a:t>
            </a:r>
            <a:endParaRPr b="1" i="0" sz="3600" u="none" cap="none" strike="noStrike"/>
          </a:p>
        </p:txBody>
      </p:sp>
      <p:sp>
        <p:nvSpPr>
          <p:cNvPr id="724" name="Google Shape;724;p100"/>
          <p:cNvSpPr/>
          <p:nvPr/>
        </p:nvSpPr>
        <p:spPr>
          <a:xfrm>
            <a:off x="423000" y="1371600"/>
            <a:ext cx="5458800" cy="49914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None/>
            </a:pPr>
            <a:r>
              <a:rPr lang="en-US" sz="1000">
                <a:latin typeface="Roboto Mono"/>
                <a:ea typeface="Roboto Mono"/>
                <a:cs typeface="Roboto Mono"/>
                <a:sym typeface="Roboto Mono"/>
              </a:rPr>
              <a:t>    </a:t>
            </a:r>
            <a:endParaRPr sz="1000">
              <a:latin typeface="Roboto Mono"/>
              <a:ea typeface="Roboto Mono"/>
              <a:cs typeface="Roboto Mono"/>
              <a:sym typeface="Roboto Mono"/>
            </a:endParaRPr>
          </a:p>
          <a:p>
            <a:pPr indent="0" lvl="0" marL="457200" rtl="0" algn="l">
              <a:spcBef>
                <a:spcPts val="0"/>
              </a:spcBef>
              <a:spcAft>
                <a:spcPts val="0"/>
              </a:spcAft>
              <a:buNone/>
            </a:pPr>
            <a:r>
              <a:t/>
            </a:r>
            <a:endParaRPr sz="1000">
              <a:solidFill>
                <a:srgbClr val="1AB1CD"/>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solidFill>
                  <a:srgbClr val="1AB1CD"/>
                </a:solidFill>
                <a:latin typeface="Roboto Mono"/>
                <a:ea typeface="Roboto Mono"/>
                <a:cs typeface="Roboto Mono"/>
                <a:sym typeface="Roboto Mono"/>
              </a:rPr>
              <a:t>    percentile_rdd</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base</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572000"/>
                </a:solidFill>
                <a:latin typeface="Roboto Mono"/>
                <a:ea typeface="Roboto Mono"/>
                <a:cs typeface="Roboto Mono"/>
                <a:sym typeface="Roboto Mono"/>
              </a:rPr>
              <a:t>map</a:t>
            </a:r>
            <a:r>
              <a:rPr lang="en-US" sz="1000">
                <a:latin typeface="Roboto Mono"/>
                <a:ea typeface="Roboto Mono"/>
                <a:cs typeface="Roboto Mono"/>
                <a:sym typeface="Roboto Mono"/>
              </a:rPr>
              <a:t>(</a:t>
            </a:r>
            <a:r>
              <a:rPr b="1" lang="en-US" sz="1000">
                <a:solidFill>
                  <a:srgbClr val="700080"/>
                </a:solidFill>
                <a:latin typeface="Roboto Mono"/>
                <a:ea typeface="Roboto Mono"/>
                <a:cs typeface="Roboto Mono"/>
                <a:sym typeface="Roboto Mono"/>
              </a:rPr>
              <a:t>lambda</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t</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t</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t</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2</a:t>
            </a: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 chiave = (carrier, hour) valore = delay</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572000"/>
                </a:solidFill>
                <a:latin typeface="Roboto Mono"/>
                <a:ea typeface="Roboto Mono"/>
                <a:cs typeface="Roboto Mono"/>
                <a:sym typeface="Roboto Mono"/>
              </a:rPr>
              <a:t>groupByKey</a:t>
            </a: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 raggruppa per (carrier, hour)</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572000"/>
                </a:solidFill>
                <a:latin typeface="Roboto Mono"/>
                <a:ea typeface="Roboto Mono"/>
                <a:cs typeface="Roboto Mono"/>
                <a:sym typeface="Roboto Mono"/>
              </a:rPr>
              <a:t>mapValues</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quantiles</a:t>
            </a: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 calcola percentili sul gruppo solo sui valori, chiavi intatte</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572000"/>
                </a:solidFill>
                <a:latin typeface="Roboto Mono"/>
                <a:ea typeface="Roboto Mono"/>
                <a:cs typeface="Roboto Mono"/>
                <a:sym typeface="Roboto Mono"/>
              </a:rPr>
              <a:t>map</a:t>
            </a:r>
            <a:r>
              <a:rPr lang="en-US" sz="1000">
                <a:latin typeface="Roboto Mono"/>
                <a:ea typeface="Roboto Mono"/>
                <a:cs typeface="Roboto Mono"/>
                <a:sym typeface="Roboto Mono"/>
              </a:rPr>
              <a:t>(</a:t>
            </a:r>
            <a:r>
              <a:rPr b="1" lang="en-US" sz="1000">
                <a:solidFill>
                  <a:srgbClr val="700080"/>
                </a:solidFill>
                <a:latin typeface="Roboto Mono"/>
                <a:ea typeface="Roboto Mono"/>
                <a:cs typeface="Roboto Mono"/>
                <a:sym typeface="Roboto Mono"/>
              </a:rPr>
              <a:t>lambda</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kv</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kv</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kv</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kv</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 appiattisce il risultato</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572000"/>
                </a:solidFill>
                <a:latin typeface="Roboto Mono"/>
                <a:ea typeface="Roboto Mono"/>
                <a:cs typeface="Roboto Mono"/>
                <a:sym typeface="Roboto Mono"/>
              </a:rPr>
              <a:t>sortBy</a:t>
            </a:r>
            <a:r>
              <a:rPr lang="en-US" sz="1000">
                <a:latin typeface="Roboto Mono"/>
                <a:ea typeface="Roboto Mono"/>
                <a:cs typeface="Roboto Mono"/>
                <a:sym typeface="Roboto Mono"/>
              </a:rPr>
              <a:t>(</a:t>
            </a:r>
            <a:r>
              <a:rPr b="1" lang="en-US" sz="1000">
                <a:solidFill>
                  <a:srgbClr val="700080"/>
                </a:solidFill>
                <a:latin typeface="Roboto Mono"/>
                <a:ea typeface="Roboto Mono"/>
                <a:cs typeface="Roboto Mono"/>
                <a:sym typeface="Roboto Mono"/>
              </a:rPr>
              <a:t>lambda</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x</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x</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x</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endParaRPr sz="1000">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range_rdd</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base</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572000"/>
                </a:solidFill>
                <a:latin typeface="Roboto Mono"/>
                <a:ea typeface="Roboto Mono"/>
                <a:cs typeface="Roboto Mono"/>
                <a:sym typeface="Roboto Mono"/>
              </a:rPr>
              <a:t>map</a:t>
            </a:r>
            <a:r>
              <a:rPr lang="en-US" sz="1000">
                <a:latin typeface="Roboto Mono"/>
                <a:ea typeface="Roboto Mono"/>
                <a:cs typeface="Roboto Mono"/>
                <a:sym typeface="Roboto Mono"/>
              </a:rPr>
              <a:t>(</a:t>
            </a:r>
            <a:r>
              <a:rPr b="1" lang="en-US" sz="1000">
                <a:solidFill>
                  <a:srgbClr val="700080"/>
                </a:solidFill>
                <a:latin typeface="Roboto Mono"/>
                <a:ea typeface="Roboto Mono"/>
                <a:cs typeface="Roboto Mono"/>
                <a:sym typeface="Roboto Mono"/>
              </a:rPr>
              <a:t>lambda</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t</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t</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2</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t</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2</a:t>
            </a: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 chiave solo carrier value = (ritardo, ritardo)</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572000"/>
                </a:solidFill>
                <a:latin typeface="Roboto Mono"/>
                <a:ea typeface="Roboto Mono"/>
                <a:cs typeface="Roboto Mono"/>
                <a:sym typeface="Roboto Mono"/>
              </a:rPr>
              <a:t>reduceByKey</a:t>
            </a:r>
            <a:r>
              <a:rPr lang="en-US" sz="1000">
                <a:latin typeface="Roboto Mono"/>
                <a:ea typeface="Roboto Mono"/>
                <a:cs typeface="Roboto Mono"/>
                <a:sym typeface="Roboto Mono"/>
              </a:rPr>
              <a:t>(</a:t>
            </a:r>
            <a:r>
              <a:rPr b="1" lang="en-US" sz="1000">
                <a:solidFill>
                  <a:srgbClr val="700080"/>
                </a:solidFill>
                <a:latin typeface="Roboto Mono"/>
                <a:ea typeface="Roboto Mono"/>
                <a:cs typeface="Roboto Mono"/>
                <a:sym typeface="Roboto Mono"/>
              </a:rPr>
              <a:t>lambda</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a</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b</a:t>
            </a: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min</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a</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b</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max</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a</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b</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 calcolo effettivo del minimo e massimo sulle coppie</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r>
              <a:rPr lang="en-US" sz="1000">
                <a:solidFill>
                  <a:srgbClr val="572000"/>
                </a:solidFill>
                <a:latin typeface="Roboto Mono"/>
                <a:ea typeface="Roboto Mono"/>
                <a:cs typeface="Roboto Mono"/>
                <a:sym typeface="Roboto Mono"/>
              </a:rPr>
              <a:t>sortByKey</a:t>
            </a: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 qui ottieni quindi (carrier, (min,max))</a:t>
            </a:r>
            <a:endParaRPr sz="10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000">
                <a:latin typeface="Roboto Mono"/>
                <a:ea typeface="Roboto Mono"/>
                <a:cs typeface="Roboto Mono"/>
                <a:sym typeface="Roboto Mono"/>
              </a:rPr>
              <a:t>    )</a:t>
            </a:r>
            <a:endParaRPr sz="10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t/>
            </a:r>
            <a:endParaRPr sz="1000">
              <a:latin typeface="Roboto Mono"/>
              <a:ea typeface="Roboto Mono"/>
              <a:cs typeface="Roboto Mono"/>
              <a:sym typeface="Roboto Mono"/>
            </a:endParaRPr>
          </a:p>
          <a:p>
            <a:pPr indent="0" lvl="0" marL="457200" marR="0" rtl="0" algn="l">
              <a:lnSpc>
                <a:spcPct val="100000"/>
              </a:lnSpc>
              <a:spcBef>
                <a:spcPts val="0"/>
              </a:spcBef>
              <a:spcAft>
                <a:spcPts val="0"/>
              </a:spcAft>
              <a:buNone/>
            </a:pPr>
            <a:r>
              <a:t/>
            </a:r>
            <a:endParaRPr sz="1000">
              <a:latin typeface="Roboto Mono"/>
              <a:ea typeface="Roboto Mono"/>
              <a:cs typeface="Roboto Mono"/>
              <a:sym typeface="Roboto Mono"/>
            </a:endParaRPr>
          </a:p>
        </p:txBody>
      </p:sp>
      <p:sp>
        <p:nvSpPr>
          <p:cNvPr id="725" name="Google Shape;725;p100"/>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726" name="Google Shape;726;p100"/>
          <p:cNvSpPr/>
          <p:nvPr/>
        </p:nvSpPr>
        <p:spPr>
          <a:xfrm>
            <a:off x="450354" y="1138675"/>
            <a:ext cx="30429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00"/>
          <p:cNvSpPr txBox="1"/>
          <p:nvPr/>
        </p:nvSpPr>
        <p:spPr>
          <a:xfrm>
            <a:off x="6029225" y="1371600"/>
            <a:ext cx="5324100" cy="49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000">
                <a:solidFill>
                  <a:srgbClr val="A05000"/>
                </a:solidFill>
                <a:latin typeface="Roboto Mono"/>
                <a:ea typeface="Roboto Mono"/>
                <a:cs typeface="Roboto Mono"/>
                <a:sym typeface="Roboto Mono"/>
              </a:rPr>
              <a:t># Percentile esatto su lista ordinata (interpolazione lineare). Eseguito sugli executor dentro mapValues.</a:t>
            </a:r>
            <a:endParaRPr sz="1000">
              <a:latin typeface="Roboto Mono"/>
              <a:ea typeface="Roboto Mono"/>
              <a:cs typeface="Roboto Mono"/>
              <a:sym typeface="Roboto Mono"/>
            </a:endParaRPr>
          </a:p>
          <a:p>
            <a:pPr indent="0" lvl="0" marL="0" rtl="0" algn="l">
              <a:spcBef>
                <a:spcPts val="0"/>
              </a:spcBef>
              <a:spcAft>
                <a:spcPts val="0"/>
              </a:spcAft>
              <a:buNone/>
            </a:pPr>
            <a:r>
              <a:rPr b="1" lang="en-US" sz="1000">
                <a:solidFill>
                  <a:srgbClr val="700080"/>
                </a:solidFill>
                <a:latin typeface="Roboto Mono"/>
                <a:ea typeface="Roboto Mono"/>
                <a:cs typeface="Roboto Mono"/>
                <a:sym typeface="Roboto Mono"/>
              </a:rPr>
              <a:t>def</a:t>
            </a:r>
            <a:r>
              <a:rPr lang="en-US" sz="1000">
                <a:latin typeface="Roboto Mono"/>
                <a:ea typeface="Roboto Mono"/>
                <a:cs typeface="Roboto Mono"/>
                <a:sym typeface="Roboto Mono"/>
              </a:rPr>
              <a:t> </a:t>
            </a:r>
            <a:r>
              <a:rPr lang="en-US" sz="1000">
                <a:solidFill>
                  <a:srgbClr val="0000F0"/>
                </a:solidFill>
                <a:latin typeface="Roboto Mono"/>
                <a:ea typeface="Roboto Mono"/>
                <a:cs typeface="Roboto Mono"/>
                <a:sym typeface="Roboto Mono"/>
              </a:rPr>
              <a:t>percentile</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sorted_vals</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q</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n</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len</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sorted_vals</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if</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n</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return</a:t>
            </a: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None</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if</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n</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return</a:t>
            </a: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float</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sorted_vals</a:t>
            </a:r>
            <a:r>
              <a:rPr lang="en-US" sz="1000">
                <a:latin typeface="Roboto Mono"/>
                <a:ea typeface="Roboto Mono"/>
                <a:cs typeface="Roboto Mono"/>
                <a:sym typeface="Roboto Mono"/>
              </a:rPr>
              <a:t>[</a:t>
            </a:r>
            <a:r>
              <a:rPr lang="en-US" sz="1000">
                <a:solidFill>
                  <a:srgbClr val="106040"/>
                </a:solidFill>
                <a:latin typeface="Roboto Mono"/>
                <a:ea typeface="Roboto Mono"/>
                <a:cs typeface="Roboto Mono"/>
                <a:sym typeface="Roboto Mono"/>
              </a:rPr>
              <a:t>0</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pos</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q</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n</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lo</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math</a:t>
            </a:r>
            <a:r>
              <a:rPr lang="en-US" sz="1000">
                <a:latin typeface="Roboto Mono"/>
                <a:ea typeface="Roboto Mono"/>
                <a:cs typeface="Roboto Mono"/>
                <a:sym typeface="Roboto Mono"/>
              </a:rPr>
              <a:t>.</a:t>
            </a:r>
            <a:r>
              <a:rPr lang="en-US" sz="1000">
                <a:solidFill>
                  <a:srgbClr val="572000"/>
                </a:solidFill>
                <a:latin typeface="Roboto Mono"/>
                <a:ea typeface="Roboto Mono"/>
                <a:cs typeface="Roboto Mono"/>
                <a:sym typeface="Roboto Mono"/>
              </a:rPr>
              <a:t>floor</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pos</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hi</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math</a:t>
            </a:r>
            <a:r>
              <a:rPr lang="en-US" sz="1000">
                <a:latin typeface="Roboto Mono"/>
                <a:ea typeface="Roboto Mono"/>
                <a:cs typeface="Roboto Mono"/>
                <a:sym typeface="Roboto Mono"/>
              </a:rPr>
              <a:t>.</a:t>
            </a:r>
            <a:r>
              <a:rPr lang="en-US" sz="1000">
                <a:solidFill>
                  <a:srgbClr val="572000"/>
                </a:solidFill>
                <a:latin typeface="Roboto Mono"/>
                <a:ea typeface="Roboto Mono"/>
                <a:cs typeface="Roboto Mono"/>
                <a:sym typeface="Roboto Mono"/>
              </a:rPr>
              <a:t>ceil</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pos</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if</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lo</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hi</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return</a:t>
            </a: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float</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sorted_vals</a:t>
            </a:r>
            <a:r>
              <a:rPr lang="en-US" sz="1000">
                <a:latin typeface="Roboto Mono"/>
                <a:ea typeface="Roboto Mono"/>
                <a:cs typeface="Roboto Mono"/>
                <a:sym typeface="Roboto Mono"/>
              </a:rPr>
              <a:t>[</a:t>
            </a:r>
            <a:r>
              <a:rPr lang="en-US" sz="1000">
                <a:solidFill>
                  <a:srgbClr val="3000A0"/>
                </a:solidFill>
                <a:latin typeface="Roboto Mono"/>
                <a:ea typeface="Roboto Mono"/>
                <a:cs typeface="Roboto Mono"/>
                <a:sym typeface="Roboto Mono"/>
              </a:rPr>
              <a:t>int</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pos</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frac</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pos</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lo</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return</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sorted_vals</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lo</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1</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frac</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sorted_vals</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hi</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frac</a:t>
            </a:r>
            <a:endParaRPr sz="1000">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None/>
            </a:pPr>
            <a:r>
              <a:t/>
            </a:r>
            <a:endParaRPr sz="1000">
              <a:latin typeface="Roboto Mono"/>
              <a:ea typeface="Roboto Mono"/>
              <a:cs typeface="Roboto Mono"/>
              <a:sym typeface="Roboto Mono"/>
            </a:endParaRPr>
          </a:p>
          <a:p>
            <a:pPr indent="0" lvl="0" marL="0" rtl="0" algn="l">
              <a:spcBef>
                <a:spcPts val="0"/>
              </a:spcBef>
              <a:spcAft>
                <a:spcPts val="0"/>
              </a:spcAft>
              <a:buNone/>
            </a:pPr>
            <a:r>
              <a:rPr b="1" lang="en-US" sz="1000">
                <a:solidFill>
                  <a:srgbClr val="700080"/>
                </a:solidFill>
                <a:latin typeface="Roboto Mono"/>
                <a:ea typeface="Roboto Mono"/>
                <a:cs typeface="Roboto Mono"/>
                <a:sym typeface="Roboto Mono"/>
              </a:rPr>
              <a:t>def</a:t>
            </a:r>
            <a:r>
              <a:rPr lang="en-US" sz="1000">
                <a:latin typeface="Roboto Mono"/>
                <a:ea typeface="Roboto Mono"/>
                <a:cs typeface="Roboto Mono"/>
                <a:sym typeface="Roboto Mono"/>
              </a:rPr>
              <a:t> </a:t>
            </a:r>
            <a:r>
              <a:rPr lang="en-US" sz="1000">
                <a:solidFill>
                  <a:srgbClr val="0000F0"/>
                </a:solidFill>
                <a:latin typeface="Roboto Mono"/>
                <a:ea typeface="Roboto Mono"/>
                <a:cs typeface="Roboto Mono"/>
                <a:sym typeface="Roboto Mono"/>
              </a:rPr>
              <a:t>quantiles</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values_iter</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#attenzione perchè il values_iter è un iteratore non una lista, che prendiamo da groupbykey</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i="1" lang="en-US" sz="1000">
                <a:solidFill>
                  <a:srgbClr val="A05000"/>
                </a:solidFill>
                <a:latin typeface="Roboto Mono"/>
                <a:ea typeface="Roboto Mono"/>
                <a:cs typeface="Roboto Mono"/>
                <a:sym typeface="Roboto Mono"/>
              </a:rPr>
              <a:t>#in sorted avviene la vera materializzazione dell'iteratore in una lista</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1AB1CD"/>
                </a:solidFill>
                <a:latin typeface="Roboto Mono"/>
                <a:ea typeface="Roboto Mono"/>
                <a:cs typeface="Roboto Mono"/>
                <a:sym typeface="Roboto Mono"/>
              </a:rPr>
              <a:t>vals</a:t>
            </a:r>
            <a:r>
              <a:rPr lang="en-US" sz="1000">
                <a:latin typeface="Roboto Mono"/>
                <a:ea typeface="Roboto Mono"/>
                <a:cs typeface="Roboto Mono"/>
                <a:sym typeface="Roboto Mono"/>
              </a:rPr>
              <a:t> </a:t>
            </a:r>
            <a:r>
              <a:rPr b="1" lang="en-US" sz="1000">
                <a:solidFill>
                  <a:srgbClr val="EE11FF"/>
                </a:solidFill>
                <a:latin typeface="Roboto Mono"/>
                <a:ea typeface="Roboto Mono"/>
                <a:cs typeface="Roboto Mono"/>
                <a:sym typeface="Roboto Mono"/>
              </a:rPr>
              <a:t>=</a:t>
            </a: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sorted</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values_iter</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b="1" lang="en-US" sz="1000">
                <a:solidFill>
                  <a:srgbClr val="700080"/>
                </a:solidFill>
                <a:latin typeface="Roboto Mono"/>
                <a:ea typeface="Roboto Mono"/>
                <a:cs typeface="Roboto Mono"/>
                <a:sym typeface="Roboto Mono"/>
              </a:rPr>
              <a:t>return</a:t>
            </a:r>
            <a:r>
              <a:rPr lang="en-US" sz="1000">
                <a:latin typeface="Roboto Mono"/>
                <a:ea typeface="Roboto Mono"/>
                <a:cs typeface="Roboto Mono"/>
                <a:sym typeface="Roboto Mono"/>
              </a:rPr>
              <a:t> (</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round</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percentile</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vals</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0.25</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2</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round</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percentile</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vals</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0.50</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2</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round</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percentile</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vals</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0.75</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2</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r>
              <a:rPr lang="en-US" sz="1000">
                <a:solidFill>
                  <a:srgbClr val="3000A0"/>
                </a:solidFill>
                <a:latin typeface="Roboto Mono"/>
                <a:ea typeface="Roboto Mono"/>
                <a:cs typeface="Roboto Mono"/>
                <a:sym typeface="Roboto Mono"/>
              </a:rPr>
              <a:t>round</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percentile</a:t>
            </a:r>
            <a:r>
              <a:rPr lang="en-US" sz="1000">
                <a:latin typeface="Roboto Mono"/>
                <a:ea typeface="Roboto Mono"/>
                <a:cs typeface="Roboto Mono"/>
                <a:sym typeface="Roboto Mono"/>
              </a:rPr>
              <a:t>(</a:t>
            </a:r>
            <a:r>
              <a:rPr lang="en-US" sz="1000">
                <a:solidFill>
                  <a:srgbClr val="1AB1CD"/>
                </a:solidFill>
                <a:latin typeface="Roboto Mono"/>
                <a:ea typeface="Roboto Mono"/>
                <a:cs typeface="Roboto Mono"/>
                <a:sym typeface="Roboto Mono"/>
              </a:rPr>
              <a:t>vals</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0.90</a:t>
            </a:r>
            <a:r>
              <a:rPr lang="en-US" sz="1000">
                <a:latin typeface="Roboto Mono"/>
                <a:ea typeface="Roboto Mono"/>
                <a:cs typeface="Roboto Mono"/>
                <a:sym typeface="Roboto Mono"/>
              </a:rPr>
              <a:t>), </a:t>
            </a:r>
            <a:r>
              <a:rPr lang="en-US" sz="1000">
                <a:solidFill>
                  <a:srgbClr val="106040"/>
                </a:solidFill>
                <a:latin typeface="Roboto Mono"/>
                <a:ea typeface="Roboto Mono"/>
                <a:cs typeface="Roboto Mono"/>
                <a:sym typeface="Roboto Mono"/>
              </a:rPr>
              <a:t>2</a:t>
            </a:r>
            <a:r>
              <a:rPr lang="en-US"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spcBef>
                <a:spcPts val="0"/>
              </a:spcBef>
              <a:spcAft>
                <a:spcPts val="0"/>
              </a:spcAft>
              <a:buNone/>
            </a:pPr>
            <a:r>
              <a:rPr lang="en-US" sz="1000">
                <a:latin typeface="Roboto Mono"/>
                <a:ea typeface="Roboto Mono"/>
                <a:cs typeface="Roboto Mono"/>
                <a:sym typeface="Roboto Mono"/>
              </a:rPr>
              <a:t>    )</a:t>
            </a:r>
            <a:endParaRPr sz="1000">
              <a:latin typeface="Roboto Mono"/>
              <a:ea typeface="Roboto Mono"/>
              <a:cs typeface="Roboto Mono"/>
              <a:sym typeface="Roboto Mono"/>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01"/>
          <p:cNvSpPr/>
          <p:nvPr/>
        </p:nvSpPr>
        <p:spPr>
          <a:xfrm>
            <a:off x="322925" y="216725"/>
            <a:ext cx="101547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Comparazione tempi d’esecuzione</a:t>
            </a:r>
            <a:endParaRPr b="1" i="0" sz="3600" u="none" cap="none" strike="noStrike"/>
          </a:p>
        </p:txBody>
      </p:sp>
      <p:sp>
        <p:nvSpPr>
          <p:cNvPr id="733" name="Google Shape;733;p101"/>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000">
              <a:latin typeface="Roboto Mono"/>
              <a:ea typeface="Roboto Mono"/>
              <a:cs typeface="Roboto Mono"/>
              <a:sym typeface="Roboto Mono"/>
            </a:endParaRPr>
          </a:p>
        </p:txBody>
      </p:sp>
      <p:sp>
        <p:nvSpPr>
          <p:cNvPr id="734" name="Google Shape;734;p101"/>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01"/>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736" name="Google Shape;736;p101"/>
          <p:cNvSpPr txBox="1"/>
          <p:nvPr/>
        </p:nvSpPr>
        <p:spPr>
          <a:xfrm>
            <a:off x="12558975" y="2267625"/>
            <a:ext cx="835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sono comparabili ovviamente </a:t>
            </a:r>
            <a:endParaRPr sz="1800"/>
          </a:p>
        </p:txBody>
      </p:sp>
      <p:sp>
        <p:nvSpPr>
          <p:cNvPr id="737" name="Google Shape;737;p101"/>
          <p:cNvSpPr/>
          <p:nvPr/>
        </p:nvSpPr>
        <p:spPr>
          <a:xfrm>
            <a:off x="450341" y="1138675"/>
            <a:ext cx="9541500" cy="52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38" name="Google Shape;738;p101" title="Screenshot 2026-06-17 alle 22.15.20.png"/>
          <p:cNvPicPr preferRelativeResize="0"/>
          <p:nvPr/>
        </p:nvPicPr>
        <p:blipFill>
          <a:blip r:embed="rId3">
            <a:alphaModFix/>
          </a:blip>
          <a:stretch>
            <a:fillRect/>
          </a:stretch>
        </p:blipFill>
        <p:spPr>
          <a:xfrm>
            <a:off x="3113412" y="1351362"/>
            <a:ext cx="5549375" cy="1662625"/>
          </a:xfrm>
          <a:prstGeom prst="rect">
            <a:avLst/>
          </a:prstGeom>
          <a:noFill/>
          <a:ln>
            <a:noFill/>
          </a:ln>
        </p:spPr>
      </p:pic>
      <p:pic>
        <p:nvPicPr>
          <p:cNvPr id="739" name="Google Shape;739;p101" title="Screenshot 2026-06-17 alle 22.15.44.png"/>
          <p:cNvPicPr preferRelativeResize="0"/>
          <p:nvPr/>
        </p:nvPicPr>
        <p:blipFill>
          <a:blip r:embed="rId4">
            <a:alphaModFix/>
          </a:blip>
          <a:stretch>
            <a:fillRect/>
          </a:stretch>
        </p:blipFill>
        <p:spPr>
          <a:xfrm>
            <a:off x="3075601" y="3127518"/>
            <a:ext cx="5683521" cy="1662650"/>
          </a:xfrm>
          <a:prstGeom prst="rect">
            <a:avLst/>
          </a:prstGeom>
          <a:noFill/>
          <a:ln>
            <a:noFill/>
          </a:ln>
        </p:spPr>
      </p:pic>
      <p:pic>
        <p:nvPicPr>
          <p:cNvPr id="740" name="Google Shape;740;p101" title="Screenshot 2026-06-17 alle 22.16.10.png"/>
          <p:cNvPicPr preferRelativeResize="0"/>
          <p:nvPr/>
        </p:nvPicPr>
        <p:blipFill>
          <a:blip r:embed="rId5">
            <a:alphaModFix/>
          </a:blip>
          <a:stretch>
            <a:fillRect/>
          </a:stretch>
        </p:blipFill>
        <p:spPr>
          <a:xfrm>
            <a:off x="3074079" y="4971750"/>
            <a:ext cx="5637307" cy="1662650"/>
          </a:xfrm>
          <a:prstGeom prst="rect">
            <a:avLst/>
          </a:prstGeom>
          <a:noFill/>
          <a:ln>
            <a:noFill/>
          </a:ln>
        </p:spPr>
      </p:pic>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02"/>
          <p:cNvSpPr/>
          <p:nvPr/>
        </p:nvSpPr>
        <p:spPr>
          <a:xfrm>
            <a:off x="322925" y="216725"/>
            <a:ext cx="101547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Comparazione tempi d’esecuzione</a:t>
            </a:r>
            <a:endParaRPr b="1" i="0" sz="3600" u="none" cap="none" strike="noStrike"/>
          </a:p>
        </p:txBody>
      </p:sp>
      <p:sp>
        <p:nvSpPr>
          <p:cNvPr id="746" name="Google Shape;746;p102"/>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02"/>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748" name="Google Shape;748;p102"/>
          <p:cNvSpPr txBox="1"/>
          <p:nvPr/>
        </p:nvSpPr>
        <p:spPr>
          <a:xfrm>
            <a:off x="12558975" y="2267625"/>
            <a:ext cx="835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sono comparabili ovviamente </a:t>
            </a:r>
            <a:endParaRPr sz="1800"/>
          </a:p>
        </p:txBody>
      </p:sp>
      <p:sp>
        <p:nvSpPr>
          <p:cNvPr id="749" name="Google Shape;749;p102"/>
          <p:cNvSpPr/>
          <p:nvPr/>
        </p:nvSpPr>
        <p:spPr>
          <a:xfrm>
            <a:off x="450341" y="1138675"/>
            <a:ext cx="9541500" cy="52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02"/>
          <p:cNvSpPr/>
          <p:nvPr/>
        </p:nvSpPr>
        <p:spPr>
          <a:xfrm>
            <a:off x="423000" y="1371600"/>
            <a:ext cx="10930200" cy="471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14"/>
              </a:spcBef>
              <a:spcAft>
                <a:spcPts val="0"/>
              </a:spcAft>
              <a:buNone/>
            </a:pPr>
            <a:r>
              <a:rPr lang="en-US" sz="2200">
                <a:solidFill>
                  <a:schemeClr val="dk1"/>
                </a:solidFill>
              </a:rPr>
              <a:t>Per quanto concerne la Query 3, i tempi superiori di </a:t>
            </a:r>
            <a:r>
              <a:rPr b="1" lang="en-US" sz="2200">
                <a:solidFill>
                  <a:schemeClr val="dk1"/>
                </a:solidFill>
              </a:rPr>
              <a:t>KLL</a:t>
            </a:r>
            <a:r>
              <a:rPr lang="en-US" sz="2200">
                <a:solidFill>
                  <a:schemeClr val="dk1"/>
                </a:solidFill>
              </a:rPr>
              <a:t> e </a:t>
            </a:r>
            <a:r>
              <a:rPr b="1" lang="en-US" sz="2200">
                <a:solidFill>
                  <a:schemeClr val="dk1"/>
                </a:solidFill>
              </a:rPr>
              <a:t>t-digest</a:t>
            </a:r>
            <a:r>
              <a:rPr lang="en-US" sz="2200">
                <a:solidFill>
                  <a:schemeClr val="dk1"/>
                </a:solidFill>
              </a:rPr>
              <a:t> rispetto all’implementazione non approssimata in RDD non sono inattesi: trattandosi di algoritmi di approssimazione basati su sketch, il loro vantaggio emerge solo su una mole di dati molto elevata e in sistemi realmente distribuiti, dove il costo del calcolo diventerebbe proibitivo</a:t>
            </a:r>
            <a:endParaRPr sz="2200">
              <a:solidFill>
                <a:schemeClr val="dk1"/>
              </a:solidFill>
            </a:endParaRPr>
          </a:p>
          <a:p>
            <a:pPr indent="0" lvl="0" marL="0" marR="0" rtl="0" algn="l">
              <a:lnSpc>
                <a:spcPct val="100000"/>
              </a:lnSpc>
              <a:spcBef>
                <a:spcPts val="1414"/>
              </a:spcBef>
              <a:spcAft>
                <a:spcPts val="0"/>
              </a:spcAft>
              <a:buNone/>
            </a:pPr>
            <a:r>
              <a:rPr lang="en-US" sz="2200">
                <a:solidFill>
                  <a:schemeClr val="dk1"/>
                </a:solidFill>
              </a:rPr>
              <a:t>Anche all'aumentare del numero di Spark Worker, in un contesto locale, con dataset contenuto e risorse limitate, come nel nostro caso, l'overhead di costruzione, serializzazione e merge delle strutture probabilistiche prevale sul beneficio, rendendoli più lenti rispetto a un'implementazione esatta in RDD.</a:t>
            </a:r>
            <a:endParaRPr sz="2200"/>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03"/>
          <p:cNvSpPr/>
          <p:nvPr/>
        </p:nvSpPr>
        <p:spPr>
          <a:xfrm>
            <a:off x="322925" y="216725"/>
            <a:ext cx="101547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Comparazione tempi d’esecuzione</a:t>
            </a:r>
            <a:endParaRPr b="1" i="0" sz="3600" u="none" cap="none" strike="noStrike"/>
          </a:p>
        </p:txBody>
      </p:sp>
      <p:sp>
        <p:nvSpPr>
          <p:cNvPr id="756" name="Google Shape;756;p103"/>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000">
              <a:latin typeface="Roboto Mono"/>
              <a:ea typeface="Roboto Mono"/>
              <a:cs typeface="Roboto Mono"/>
              <a:sym typeface="Roboto Mono"/>
            </a:endParaRPr>
          </a:p>
        </p:txBody>
      </p:sp>
      <p:sp>
        <p:nvSpPr>
          <p:cNvPr id="757" name="Google Shape;757;p103"/>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03"/>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759" name="Google Shape;759;p103"/>
          <p:cNvSpPr/>
          <p:nvPr/>
        </p:nvSpPr>
        <p:spPr>
          <a:xfrm>
            <a:off x="450341" y="1138675"/>
            <a:ext cx="9541500" cy="52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0" name="Google Shape;760;p103" title="q3_grafana_1.png"/>
          <p:cNvPicPr preferRelativeResize="0"/>
          <p:nvPr/>
        </p:nvPicPr>
        <p:blipFill>
          <a:blip r:embed="rId3">
            <a:alphaModFix/>
          </a:blip>
          <a:stretch>
            <a:fillRect/>
          </a:stretch>
        </p:blipFill>
        <p:spPr>
          <a:xfrm>
            <a:off x="450350" y="1371600"/>
            <a:ext cx="10930200" cy="4220275"/>
          </a:xfrm>
          <a:prstGeom prst="rect">
            <a:avLst/>
          </a:prstGeom>
          <a:noFill/>
          <a:ln>
            <a:noFill/>
          </a:ln>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04"/>
          <p:cNvSpPr/>
          <p:nvPr/>
        </p:nvSpPr>
        <p:spPr>
          <a:xfrm>
            <a:off x="322925" y="216725"/>
            <a:ext cx="101547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Query 3 - Comparazione tempi d’esecuzione</a:t>
            </a:r>
            <a:endParaRPr b="1" i="0" sz="3600" u="none" cap="none" strike="noStrike"/>
          </a:p>
        </p:txBody>
      </p:sp>
      <p:sp>
        <p:nvSpPr>
          <p:cNvPr id="766" name="Google Shape;766;p104"/>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000">
              <a:latin typeface="Roboto Mono"/>
              <a:ea typeface="Roboto Mono"/>
              <a:cs typeface="Roboto Mono"/>
              <a:sym typeface="Roboto Mono"/>
            </a:endParaRPr>
          </a:p>
        </p:txBody>
      </p:sp>
      <p:sp>
        <p:nvSpPr>
          <p:cNvPr id="767" name="Google Shape;767;p104"/>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04"/>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pic>
        <p:nvPicPr>
          <p:cNvPr id="769" name="Google Shape;769;p104" title="q3_grafana_1.png"/>
          <p:cNvPicPr preferRelativeResize="0"/>
          <p:nvPr/>
        </p:nvPicPr>
        <p:blipFill>
          <a:blip r:embed="rId3">
            <a:alphaModFix/>
          </a:blip>
          <a:stretch>
            <a:fillRect/>
          </a:stretch>
        </p:blipFill>
        <p:spPr>
          <a:xfrm>
            <a:off x="450350" y="1364350"/>
            <a:ext cx="10930200" cy="4220260"/>
          </a:xfrm>
          <a:prstGeom prst="rect">
            <a:avLst/>
          </a:prstGeom>
          <a:noFill/>
          <a:ln>
            <a:noFill/>
          </a:ln>
        </p:spPr>
      </p:pic>
      <p:pic>
        <p:nvPicPr>
          <p:cNvPr id="770" name="Google Shape;770;p104" title="q3_grafana_2.png"/>
          <p:cNvPicPr preferRelativeResize="0"/>
          <p:nvPr/>
        </p:nvPicPr>
        <p:blipFill>
          <a:blip r:embed="rId4">
            <a:alphaModFix/>
          </a:blip>
          <a:stretch>
            <a:fillRect/>
          </a:stretch>
        </p:blipFill>
        <p:spPr>
          <a:xfrm>
            <a:off x="450349" y="1364351"/>
            <a:ext cx="10930202" cy="4209726"/>
          </a:xfrm>
          <a:prstGeom prst="rect">
            <a:avLst/>
          </a:prstGeom>
          <a:noFill/>
          <a:ln>
            <a:noFill/>
          </a:ln>
        </p:spPr>
      </p:pic>
      <p:sp>
        <p:nvSpPr>
          <p:cNvPr id="771" name="Google Shape;771;p104"/>
          <p:cNvSpPr/>
          <p:nvPr/>
        </p:nvSpPr>
        <p:spPr>
          <a:xfrm>
            <a:off x="450341" y="1138675"/>
            <a:ext cx="9541500" cy="52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105"/>
          <p:cNvSpPr/>
          <p:nvPr/>
        </p:nvSpPr>
        <p:spPr>
          <a:xfrm>
            <a:off x="314280" y="2749680"/>
            <a:ext cx="10972800" cy="164556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i="0" lang="en-US" sz="3600" u="none" cap="none" strike="noStrike">
                <a:solidFill>
                  <a:srgbClr val="008236"/>
                </a:solidFill>
              </a:rPr>
              <a:t>Analisi </a:t>
            </a:r>
            <a:r>
              <a:rPr b="1" lang="en-US" sz="3600">
                <a:solidFill>
                  <a:srgbClr val="008236"/>
                </a:solidFill>
              </a:rPr>
              <a:t>del Clustering</a:t>
            </a:r>
            <a:endParaRPr b="1" i="0" sz="3600" u="none" cap="none" strike="noStrike"/>
          </a:p>
        </p:txBody>
      </p:sp>
      <p:sp>
        <p:nvSpPr>
          <p:cNvPr id="777" name="Google Shape;777;p105"/>
          <p:cNvSpPr/>
          <p:nvPr/>
        </p:nvSpPr>
        <p:spPr>
          <a:xfrm>
            <a:off x="290520" y="6494400"/>
            <a:ext cx="2742840" cy="364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05"/>
          <p:cNvSpPr/>
          <p:nvPr/>
        </p:nvSpPr>
        <p:spPr>
          <a:xfrm>
            <a:off x="323280" y="4446720"/>
            <a:ext cx="10328040" cy="5979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05"/>
          <p:cNvSpPr/>
          <p:nvPr/>
        </p:nvSpPr>
        <p:spPr>
          <a:xfrm>
            <a:off x="4038480" y="6494400"/>
            <a:ext cx="4114440" cy="364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6"/>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a:t>
            </a:r>
            <a:endParaRPr b="1" i="0" sz="3600" u="none" cap="none" strike="noStrike"/>
          </a:p>
        </p:txBody>
      </p:sp>
      <p:sp>
        <p:nvSpPr>
          <p:cNvPr id="785" name="Google Shape;785;p106"/>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414"/>
              </a:spcBef>
              <a:spcAft>
                <a:spcPts val="0"/>
              </a:spcAft>
              <a:buNone/>
            </a:pPr>
            <a:r>
              <a:rPr b="1" i="1" lang="en-US" sz="2200">
                <a:solidFill>
                  <a:schemeClr val="dk1"/>
                </a:solidFill>
              </a:rPr>
              <a:t>Obiettivo:</a:t>
            </a:r>
            <a:r>
              <a:rPr lang="en-US" sz="2200">
                <a:solidFill>
                  <a:schemeClr val="dk1"/>
                </a:solidFill>
              </a:rPr>
              <a:t> </a:t>
            </a:r>
            <a:r>
              <a:rPr lang="en-US" sz="2200"/>
              <a:t>individuare gruppi di compagnie aeree con comportamenti operativi simili</a:t>
            </a:r>
            <a:endParaRPr sz="2200"/>
          </a:p>
          <a:p>
            <a:pPr indent="-368300" lvl="0" marL="457200" marR="0" rtl="0" algn="l">
              <a:lnSpc>
                <a:spcPct val="100000"/>
              </a:lnSpc>
              <a:spcBef>
                <a:spcPts val="1414"/>
              </a:spcBef>
              <a:spcAft>
                <a:spcPts val="0"/>
              </a:spcAft>
              <a:buSzPts val="2200"/>
              <a:buChar char="●"/>
            </a:pPr>
            <a:r>
              <a:rPr lang="en-US" sz="2200"/>
              <a:t>Il clustering non viene applicato ai singoli voli, ma alle compagnie aeree</a:t>
            </a:r>
            <a:endParaRPr sz="2200"/>
          </a:p>
          <a:p>
            <a:pPr indent="-368300" lvl="0" marL="457200" marR="0" rtl="0" algn="l">
              <a:lnSpc>
                <a:spcPct val="100000"/>
              </a:lnSpc>
              <a:spcBef>
                <a:spcPts val="0"/>
              </a:spcBef>
              <a:spcAft>
                <a:spcPts val="0"/>
              </a:spcAft>
              <a:buSzPts val="2200"/>
              <a:buChar char="●"/>
            </a:pPr>
            <a:r>
              <a:rPr lang="en-US" sz="2200"/>
              <a:t>Ogni compagnia viene rappresentata tramite un </a:t>
            </a:r>
            <a:r>
              <a:rPr b="1" lang="en-US" sz="2200"/>
              <a:t>profilo aggregato,</a:t>
            </a:r>
            <a:r>
              <a:rPr lang="en-US" sz="2200"/>
              <a:t> costruito usando metriche relative a </a:t>
            </a:r>
            <a:r>
              <a:rPr lang="en-US" sz="2200" u="sng"/>
              <a:t>ritardi</a:t>
            </a:r>
            <a:r>
              <a:rPr lang="en-US" sz="2200"/>
              <a:t>, </a:t>
            </a:r>
            <a:r>
              <a:rPr lang="en-US" sz="2200" u="sng"/>
              <a:t>cancellazioni</a:t>
            </a:r>
            <a:r>
              <a:rPr lang="en-US" sz="2200"/>
              <a:t> e </a:t>
            </a:r>
            <a:r>
              <a:rPr lang="en-US" sz="2200" u="sng"/>
              <a:t>cause di ritardo</a:t>
            </a:r>
            <a:r>
              <a:rPr lang="en-US" sz="2200"/>
              <a:t>. </a:t>
            </a:r>
            <a:endParaRPr sz="2200"/>
          </a:p>
          <a:p>
            <a:pPr indent="0" lvl="0" marL="0" rtl="0" algn="l">
              <a:spcBef>
                <a:spcPts val="1414"/>
              </a:spcBef>
              <a:spcAft>
                <a:spcPts val="0"/>
              </a:spcAft>
              <a:buNone/>
            </a:pPr>
            <a:r>
              <a:rPr lang="en-US" sz="2200"/>
              <a:t>Per valutare l’impatto della scelta delle feature, l’analisi è stata organizzata in </a:t>
            </a:r>
            <a:r>
              <a:rPr b="1" lang="en-US" sz="2200"/>
              <a:t>due configurazioni</a:t>
            </a:r>
            <a:r>
              <a:rPr lang="en-US" sz="2200"/>
              <a:t>: </a:t>
            </a:r>
            <a:endParaRPr sz="2200"/>
          </a:p>
          <a:p>
            <a:pPr indent="-368300" lvl="0" marL="457200" rtl="0" algn="l">
              <a:spcBef>
                <a:spcPts val="1414"/>
              </a:spcBef>
              <a:spcAft>
                <a:spcPts val="0"/>
              </a:spcAft>
              <a:buSzPts val="2200"/>
              <a:buChar char="●"/>
            </a:pPr>
            <a:r>
              <a:rPr b="1" i="1" lang="en-US" sz="2200"/>
              <a:t>Studio base</a:t>
            </a:r>
            <a:r>
              <a:rPr lang="en-US" sz="2200"/>
              <a:t>: </a:t>
            </a:r>
            <a:endParaRPr sz="2200"/>
          </a:p>
          <a:p>
            <a:pPr indent="-368300" lvl="1" marL="914400" rtl="0" algn="l">
              <a:spcBef>
                <a:spcPts val="0"/>
              </a:spcBef>
              <a:spcAft>
                <a:spcPts val="0"/>
              </a:spcAft>
              <a:buSzPts val="2200"/>
              <a:buChar char="○"/>
            </a:pPr>
            <a:r>
              <a:rPr lang="en-US" sz="2200"/>
              <a:t>utilizza esclusivamente le feature richieste dalla specifica progettuale </a:t>
            </a:r>
            <a:endParaRPr sz="2200"/>
          </a:p>
          <a:p>
            <a:pPr indent="-368300" lvl="0" marL="457200" rtl="0" algn="l">
              <a:spcBef>
                <a:spcPts val="0"/>
              </a:spcBef>
              <a:spcAft>
                <a:spcPts val="0"/>
              </a:spcAft>
              <a:buSzPts val="2200"/>
              <a:buChar char="●"/>
            </a:pPr>
            <a:r>
              <a:rPr b="1" i="1" lang="en-US" sz="2200"/>
              <a:t>Studio esteso</a:t>
            </a:r>
            <a:r>
              <a:rPr lang="en-US" sz="2200"/>
              <a:t>:</a:t>
            </a:r>
            <a:endParaRPr sz="2200"/>
          </a:p>
          <a:p>
            <a:pPr indent="-355600" lvl="1" marL="914400" rtl="0" algn="l">
              <a:spcBef>
                <a:spcPts val="0"/>
              </a:spcBef>
              <a:spcAft>
                <a:spcPts val="0"/>
              </a:spcAft>
              <a:buSzPts val="2000"/>
              <a:buChar char="○"/>
            </a:pPr>
            <a:r>
              <a:rPr lang="en-US" sz="2200"/>
              <a:t>aggiunge nuove metriche operative tramite feature engineering</a:t>
            </a:r>
            <a:r>
              <a:rPr lang="en-US" sz="2000"/>
              <a:t> </a:t>
            </a:r>
            <a:endParaRPr sz="2000"/>
          </a:p>
          <a:p>
            <a:pPr indent="0" lvl="0" marL="914400" marR="0" rtl="0" algn="l">
              <a:lnSpc>
                <a:spcPct val="100000"/>
              </a:lnSpc>
              <a:spcBef>
                <a:spcPts val="1414"/>
              </a:spcBef>
              <a:spcAft>
                <a:spcPts val="0"/>
              </a:spcAft>
              <a:buNone/>
            </a:pPr>
            <a:r>
              <a:t/>
            </a:r>
            <a:endParaRPr sz="2000"/>
          </a:p>
        </p:txBody>
      </p:sp>
      <p:sp>
        <p:nvSpPr>
          <p:cNvPr id="786" name="Google Shape;786;p106"/>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06"/>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788" name="Google Shape;788;p106"/>
          <p:cNvSpPr/>
          <p:nvPr/>
        </p:nvSpPr>
        <p:spPr>
          <a:xfrm>
            <a:off x="450350" y="1138675"/>
            <a:ext cx="4647600" cy="576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07"/>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Pipeline</a:t>
            </a:r>
            <a:endParaRPr b="1" i="0" sz="3600" u="none" cap="none" strike="noStrike"/>
          </a:p>
        </p:txBody>
      </p:sp>
      <p:sp>
        <p:nvSpPr>
          <p:cNvPr id="794" name="Google Shape;794;p107"/>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rtl="0" algn="l">
              <a:spcBef>
                <a:spcPts val="1414"/>
              </a:spcBef>
              <a:spcAft>
                <a:spcPts val="0"/>
              </a:spcAft>
              <a:buNone/>
            </a:pPr>
            <a:r>
              <a:rPr lang="en-US" sz="2200">
                <a:solidFill>
                  <a:schemeClr val="dk1"/>
                </a:solidFill>
              </a:rPr>
              <a:t>Per </a:t>
            </a:r>
            <a:r>
              <a:rPr i="1" lang="en-US" sz="2200" u="sng">
                <a:solidFill>
                  <a:schemeClr val="dk1"/>
                </a:solidFill>
              </a:rPr>
              <a:t>entrambe le configurazioni</a:t>
            </a:r>
            <a:r>
              <a:rPr lang="en-US" sz="2200">
                <a:solidFill>
                  <a:schemeClr val="dk1"/>
                </a:solidFill>
              </a:rPr>
              <a:t> è stata eseguita la seguente sequenza di operazioni:</a:t>
            </a:r>
            <a:endParaRPr sz="2200">
              <a:solidFill>
                <a:schemeClr val="dk1"/>
              </a:solidFill>
            </a:endParaRPr>
          </a:p>
          <a:p>
            <a:pPr indent="-368300" lvl="0" marL="457200" rtl="0" algn="l">
              <a:spcBef>
                <a:spcPts val="1414"/>
              </a:spcBef>
              <a:spcAft>
                <a:spcPts val="0"/>
              </a:spcAft>
              <a:buClr>
                <a:schemeClr val="dk1"/>
              </a:buClr>
              <a:buSzPts val="2200"/>
              <a:buAutoNum type="arabicPeriod"/>
            </a:pPr>
            <a:r>
              <a:rPr lang="en-US" sz="2200">
                <a:solidFill>
                  <a:schemeClr val="dk1"/>
                </a:solidFill>
              </a:rPr>
              <a:t>Aggregazione dei dati per compagnia aerea</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US" sz="2200">
                <a:solidFill>
                  <a:schemeClr val="dk1"/>
                </a:solidFill>
              </a:rPr>
              <a:t>Costruzione e standardizzazione del vettore delle feature</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US" sz="2200">
                <a:solidFill>
                  <a:schemeClr val="dk1"/>
                </a:solidFill>
              </a:rPr>
              <a:t>Ricerca del miglior valore di </a:t>
            </a:r>
            <a:r>
              <a:rPr b="1" i="1" lang="en-US" sz="2200">
                <a:solidFill>
                  <a:schemeClr val="dk1"/>
                </a:solidFill>
              </a:rPr>
              <a:t>k </a:t>
            </a:r>
            <a:r>
              <a:rPr lang="en-US" sz="2200">
                <a:solidFill>
                  <a:schemeClr val="dk1"/>
                </a:solidFill>
              </a:rPr>
              <a:t>tra 2 e 6: </a:t>
            </a:r>
            <a:endParaRPr sz="2200">
              <a:solidFill>
                <a:schemeClr val="dk1"/>
              </a:solidFill>
            </a:endParaRPr>
          </a:p>
          <a:p>
            <a:pPr indent="-368300" lvl="0" marL="914400" rtl="0" algn="l">
              <a:spcBef>
                <a:spcPts val="0"/>
              </a:spcBef>
              <a:spcAft>
                <a:spcPts val="0"/>
              </a:spcAft>
              <a:buClr>
                <a:schemeClr val="dk1"/>
              </a:buClr>
              <a:buSzPts val="2200"/>
              <a:buChar char="●"/>
            </a:pPr>
            <a:r>
              <a:rPr lang="en-US" sz="2200">
                <a:solidFill>
                  <a:schemeClr val="dk1"/>
                </a:solidFill>
              </a:rPr>
              <a:t>WSSSE per Elbow Method</a:t>
            </a:r>
            <a:endParaRPr sz="2200">
              <a:solidFill>
                <a:schemeClr val="dk1"/>
              </a:solidFill>
            </a:endParaRPr>
          </a:p>
          <a:p>
            <a:pPr indent="-368300" lvl="0" marL="914400" rtl="0" algn="l">
              <a:spcBef>
                <a:spcPts val="0"/>
              </a:spcBef>
              <a:spcAft>
                <a:spcPts val="0"/>
              </a:spcAft>
              <a:buClr>
                <a:schemeClr val="dk1"/>
              </a:buClr>
              <a:buSzPts val="2200"/>
              <a:buChar char="●"/>
            </a:pPr>
            <a:r>
              <a:rPr lang="en-US" sz="2200">
                <a:solidFill>
                  <a:schemeClr val="dk1"/>
                </a:solidFill>
              </a:rPr>
              <a:t>Silhouette Score </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US" sz="2200">
                <a:solidFill>
                  <a:schemeClr val="dk1"/>
                </a:solidFill>
              </a:rPr>
              <a:t>Applicazione finale di K-Means con il k selezionato</a:t>
            </a:r>
            <a:endParaRPr sz="2200">
              <a:solidFill>
                <a:schemeClr val="dk1"/>
              </a:solidFill>
            </a:endParaRPr>
          </a:p>
          <a:p>
            <a:pPr indent="-368300" lvl="0" marL="457200" rtl="0" algn="l">
              <a:spcBef>
                <a:spcPts val="0"/>
              </a:spcBef>
              <a:spcAft>
                <a:spcPts val="0"/>
              </a:spcAft>
              <a:buClr>
                <a:schemeClr val="dk1"/>
              </a:buClr>
              <a:buSzPts val="2200"/>
              <a:buAutoNum type="arabicPeriod"/>
            </a:pPr>
            <a:r>
              <a:rPr lang="en-US" sz="2200">
                <a:solidFill>
                  <a:schemeClr val="dk1"/>
                </a:solidFill>
              </a:rPr>
              <a:t>Esportazione dei risultati finali </a:t>
            </a:r>
            <a:endParaRPr sz="2200">
              <a:solidFill>
                <a:schemeClr val="dk1"/>
              </a:solidFill>
            </a:endParaRPr>
          </a:p>
        </p:txBody>
      </p:sp>
      <p:sp>
        <p:nvSpPr>
          <p:cNvPr id="795" name="Google Shape;795;p107"/>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07"/>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797" name="Google Shape;797;p107"/>
          <p:cNvSpPr/>
          <p:nvPr/>
        </p:nvSpPr>
        <p:spPr>
          <a:xfrm>
            <a:off x="450350" y="1138675"/>
            <a:ext cx="6896400" cy="576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7"/>
          <p:cNvSpPr txBox="1"/>
          <p:nvPr/>
        </p:nvSpPr>
        <p:spPr>
          <a:xfrm>
            <a:off x="12460825" y="2110325"/>
            <a:ext cx="3000000" cy="2397900"/>
          </a:xfrm>
          <a:prstGeom prst="rect">
            <a:avLst/>
          </a:prstGeom>
          <a:noFill/>
          <a:ln>
            <a:noFill/>
          </a:ln>
        </p:spPr>
        <p:txBody>
          <a:bodyPr anchorCtr="0" anchor="t" bIns="91425" lIns="91425" spcFirstLastPara="1" rIns="91425" wrap="square" tIns="91425">
            <a:spAutoFit/>
          </a:bodyPr>
          <a:lstStyle/>
          <a:p>
            <a:pPr indent="0" lvl="0" marL="457200" rtl="0" algn="l">
              <a:spcBef>
                <a:spcPts val="1414"/>
              </a:spcBef>
              <a:spcAft>
                <a:spcPts val="0"/>
              </a:spcAft>
              <a:buNone/>
            </a:pPr>
            <a:r>
              <a:rPr lang="en-US" sz="2200">
                <a:solidFill>
                  <a:schemeClr val="dk1"/>
                </a:solidFill>
              </a:rPr>
              <a:t>Costruzione e standardizzazione del vettore delle feature</a:t>
            </a:r>
            <a:endParaRPr sz="2200">
              <a:solidFill>
                <a:schemeClr val="dk1"/>
              </a:solidFill>
            </a:endParaRPr>
          </a:p>
          <a:p>
            <a:pPr indent="0" lvl="0" marL="457200" rtl="0" algn="l">
              <a:spcBef>
                <a:spcPts val="1414"/>
              </a:spcBef>
              <a:spcAft>
                <a:spcPts val="0"/>
              </a:spcAft>
              <a:buNone/>
            </a:pPr>
            <a:r>
              <a:rPr lang="en-US" sz="2200">
                <a:solidFill>
                  <a:schemeClr val="dk1"/>
                </a:solidFill>
              </a:rPr>
              <a:t>(questo per le distanze euclidee)</a:t>
            </a:r>
            <a:endParaRPr sz="2200">
              <a:solidFill>
                <a:schemeClr val="dk1"/>
              </a:solidFil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08"/>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Studio Base</a:t>
            </a:r>
            <a:endParaRPr b="1" i="0" sz="3600" u="none" cap="none" strike="noStrike"/>
          </a:p>
        </p:txBody>
      </p:sp>
      <p:sp>
        <p:nvSpPr>
          <p:cNvPr id="804" name="Google Shape;804;p108"/>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rtl="0" algn="l">
              <a:spcBef>
                <a:spcPts val="1414"/>
              </a:spcBef>
              <a:spcAft>
                <a:spcPts val="0"/>
              </a:spcAft>
              <a:buNone/>
            </a:pPr>
            <a:r>
              <a:rPr lang="en-US" sz="2200">
                <a:solidFill>
                  <a:schemeClr val="dk1"/>
                </a:solidFill>
              </a:rPr>
              <a:t>Feature utilizzate nello </a:t>
            </a:r>
            <a:r>
              <a:rPr b="1" lang="en-US" sz="2200" u="sng">
                <a:solidFill>
                  <a:schemeClr val="dk1"/>
                </a:solidFill>
              </a:rPr>
              <a:t>studio Base</a:t>
            </a:r>
            <a:r>
              <a:rPr lang="en-US" sz="2200">
                <a:solidFill>
                  <a:schemeClr val="dk1"/>
                </a:solidFill>
              </a:rPr>
              <a:t> → 8 features totali</a:t>
            </a:r>
            <a:endParaRPr sz="2200">
              <a:solidFill>
                <a:schemeClr val="dk1"/>
              </a:solidFill>
            </a:endParaRPr>
          </a:p>
          <a:p>
            <a:pPr indent="0" lvl="0" marL="0" rtl="0" algn="l">
              <a:spcBef>
                <a:spcPts val="1414"/>
              </a:spcBef>
              <a:spcAft>
                <a:spcPts val="0"/>
              </a:spcAft>
              <a:buNone/>
            </a:pPr>
            <a:r>
              <a:rPr b="1" lang="en-US" sz="2200">
                <a:solidFill>
                  <a:schemeClr val="dk1"/>
                </a:solidFill>
              </a:rPr>
              <a:t>Ritardi medi:</a:t>
            </a:r>
            <a:endParaRPr b="1" sz="2200">
              <a:solidFill>
                <a:schemeClr val="dk1"/>
              </a:solidFill>
            </a:endParaRPr>
          </a:p>
          <a:p>
            <a:pPr indent="-368300" lvl="0" marL="914400" rtl="0" algn="l">
              <a:spcBef>
                <a:spcPts val="1414"/>
              </a:spcBef>
              <a:spcAft>
                <a:spcPts val="0"/>
              </a:spcAft>
              <a:buClr>
                <a:schemeClr val="dk1"/>
              </a:buClr>
              <a:buSzPts val="2200"/>
              <a:buChar char="●"/>
            </a:pPr>
            <a:r>
              <a:rPr lang="en-US" sz="2200">
                <a:solidFill>
                  <a:srgbClr val="1AB1CD"/>
                </a:solidFill>
                <a:latin typeface="Roboto Mono"/>
                <a:ea typeface="Roboto Mono"/>
                <a:cs typeface="Roboto Mono"/>
                <a:sym typeface="Roboto Mono"/>
              </a:rPr>
              <a:t>avg_dep_delay</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ritardo medio in partenza </a:t>
            </a:r>
            <a:endParaRPr i="1" sz="2200">
              <a:solidFill>
                <a:schemeClr val="dk1"/>
              </a:solidFill>
            </a:endParaRPr>
          </a:p>
          <a:p>
            <a:pPr indent="-368300" lvl="0" marL="914400" rtl="0" algn="l">
              <a:spcBef>
                <a:spcPts val="0"/>
              </a:spcBef>
              <a:spcAft>
                <a:spcPts val="0"/>
              </a:spcAft>
              <a:buClr>
                <a:schemeClr val="dk1"/>
              </a:buClr>
              <a:buSzPts val="2200"/>
              <a:buChar char="●"/>
            </a:pPr>
            <a:r>
              <a:rPr lang="en-US" sz="2200">
                <a:solidFill>
                  <a:srgbClr val="1AB1CD"/>
                </a:solidFill>
                <a:latin typeface="Roboto Mono"/>
                <a:ea typeface="Roboto Mono"/>
                <a:cs typeface="Roboto Mono"/>
                <a:sym typeface="Roboto Mono"/>
              </a:rPr>
              <a:t>avg_arr_delay</a:t>
            </a:r>
            <a:r>
              <a:rPr lang="en-US" sz="2200">
                <a:latin typeface="Roboto Mono"/>
                <a:ea typeface="Roboto Mono"/>
                <a:cs typeface="Roboto Mono"/>
                <a:sym typeface="Roboto Mono"/>
              </a:rPr>
              <a:t> </a:t>
            </a:r>
            <a:r>
              <a:rPr lang="en-US" sz="2200">
                <a:solidFill>
                  <a:schemeClr val="dk1"/>
                </a:solidFill>
              </a:rPr>
              <a:t> → </a:t>
            </a:r>
            <a:r>
              <a:rPr i="1" lang="en-US" sz="2200">
                <a:solidFill>
                  <a:schemeClr val="dk1"/>
                </a:solidFill>
              </a:rPr>
              <a:t>ritardo medio in arrivo </a:t>
            </a:r>
            <a:endParaRPr i="1" sz="2200">
              <a:solidFill>
                <a:schemeClr val="dk1"/>
              </a:solidFill>
            </a:endParaRPr>
          </a:p>
          <a:p>
            <a:pPr indent="0" lvl="0" marL="0" rtl="0" algn="l">
              <a:spcBef>
                <a:spcPts val="1414"/>
              </a:spcBef>
              <a:spcAft>
                <a:spcPts val="0"/>
              </a:spcAft>
              <a:buNone/>
            </a:pPr>
            <a:r>
              <a:rPr b="1" lang="en-US" sz="2200">
                <a:solidFill>
                  <a:schemeClr val="dk1"/>
                </a:solidFill>
              </a:rPr>
              <a:t>Cancellazioni:</a:t>
            </a:r>
            <a:endParaRPr b="1" sz="2200">
              <a:solidFill>
                <a:schemeClr val="dk1"/>
              </a:solidFill>
            </a:endParaRPr>
          </a:p>
          <a:p>
            <a:pPr indent="-368300" lvl="0" marL="914400" rtl="0" algn="l">
              <a:spcBef>
                <a:spcPts val="1414"/>
              </a:spcBef>
              <a:spcAft>
                <a:spcPts val="0"/>
              </a:spcAft>
              <a:buSzPts val="2200"/>
              <a:buChar char="●"/>
            </a:pPr>
            <a:r>
              <a:rPr lang="en-US" sz="2200">
                <a:solidFill>
                  <a:srgbClr val="1AB1CD"/>
                </a:solidFill>
                <a:latin typeface="Roboto Mono"/>
                <a:ea typeface="Roboto Mono"/>
                <a:cs typeface="Roboto Mono"/>
                <a:sym typeface="Roboto Mono"/>
              </a:rPr>
              <a:t>cancellation_rate</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percentuale di voli cancellati sul totale</a:t>
            </a:r>
            <a:endParaRPr i="1" sz="2200">
              <a:solidFill>
                <a:schemeClr val="dk1"/>
              </a:solidFill>
            </a:endParaRPr>
          </a:p>
          <a:p>
            <a:pPr indent="0" lvl="0" marL="0" rtl="0" algn="l">
              <a:spcBef>
                <a:spcPts val="1414"/>
              </a:spcBef>
              <a:spcAft>
                <a:spcPts val="0"/>
              </a:spcAft>
              <a:buNone/>
            </a:pPr>
            <a:r>
              <a:rPr b="1" lang="en-US" sz="2200">
                <a:solidFill>
                  <a:schemeClr val="dk1"/>
                </a:solidFill>
              </a:rPr>
              <a:t>Cause di ritardo:</a:t>
            </a:r>
            <a:endParaRPr b="1" sz="2200">
              <a:solidFill>
                <a:schemeClr val="dk1"/>
              </a:solidFill>
            </a:endParaRPr>
          </a:p>
          <a:p>
            <a:pPr indent="-368300" lvl="0" marL="914400" rtl="0" algn="l">
              <a:spcBef>
                <a:spcPts val="1414"/>
              </a:spcBef>
              <a:spcAft>
                <a:spcPts val="0"/>
              </a:spcAft>
              <a:buClr>
                <a:schemeClr val="dk1"/>
              </a:buClr>
              <a:buSzPts val="2200"/>
              <a:buChar char="●"/>
            </a:pPr>
            <a:r>
              <a:rPr lang="en-US" sz="2200">
                <a:solidFill>
                  <a:srgbClr val="1AB1CD"/>
                </a:solidFill>
                <a:latin typeface="Roboto Mono"/>
                <a:ea typeface="Roboto Mono"/>
                <a:cs typeface="Roboto Mono"/>
                <a:sym typeface="Roboto Mono"/>
              </a:rPr>
              <a:t>avg_carrier_delay</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cause operative della compagnia </a:t>
            </a:r>
            <a:endParaRPr i="1" sz="2200">
              <a:solidFill>
                <a:schemeClr val="dk1"/>
              </a:solidFill>
            </a:endParaRPr>
          </a:p>
          <a:p>
            <a:pPr indent="-368300" lvl="0" marL="914400" rtl="0" algn="l">
              <a:spcBef>
                <a:spcPts val="0"/>
              </a:spcBef>
              <a:spcAft>
                <a:spcPts val="0"/>
              </a:spcAft>
              <a:buClr>
                <a:schemeClr val="dk1"/>
              </a:buClr>
              <a:buSzPts val="2200"/>
              <a:buChar char="●"/>
            </a:pPr>
            <a:r>
              <a:rPr lang="en-US" sz="2200">
                <a:solidFill>
                  <a:srgbClr val="1AB1CD"/>
                </a:solidFill>
                <a:latin typeface="Roboto Mono"/>
                <a:ea typeface="Roboto Mono"/>
                <a:cs typeface="Roboto Mono"/>
                <a:sym typeface="Roboto Mono"/>
              </a:rPr>
              <a:t>avg_weather_delay</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condizioni meteorologiche </a:t>
            </a:r>
            <a:endParaRPr i="1" sz="2200">
              <a:solidFill>
                <a:schemeClr val="dk1"/>
              </a:solidFill>
            </a:endParaRPr>
          </a:p>
          <a:p>
            <a:pPr indent="-368300" lvl="0" marL="914400" rtl="0" algn="l">
              <a:spcBef>
                <a:spcPts val="0"/>
              </a:spcBef>
              <a:spcAft>
                <a:spcPts val="0"/>
              </a:spcAft>
              <a:buClr>
                <a:schemeClr val="dk1"/>
              </a:buClr>
              <a:buSzPts val="2200"/>
              <a:buChar char="●"/>
            </a:pPr>
            <a:r>
              <a:rPr lang="en-US" sz="2200">
                <a:solidFill>
                  <a:srgbClr val="1AB1CD"/>
                </a:solidFill>
                <a:latin typeface="Roboto Mono"/>
                <a:ea typeface="Roboto Mono"/>
                <a:cs typeface="Roboto Mono"/>
                <a:sym typeface="Roboto Mono"/>
              </a:rPr>
              <a:t>avg_nas_delay</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congestione/gestione del traffico aereo </a:t>
            </a:r>
            <a:endParaRPr i="1" sz="2200">
              <a:solidFill>
                <a:schemeClr val="dk1"/>
              </a:solidFill>
            </a:endParaRPr>
          </a:p>
          <a:p>
            <a:pPr indent="-368300" lvl="0" marL="914400" rtl="0" algn="l">
              <a:spcBef>
                <a:spcPts val="0"/>
              </a:spcBef>
              <a:spcAft>
                <a:spcPts val="0"/>
              </a:spcAft>
              <a:buClr>
                <a:schemeClr val="dk1"/>
              </a:buClr>
              <a:buSzPts val="2200"/>
              <a:buChar char="●"/>
            </a:pPr>
            <a:r>
              <a:rPr lang="en-US" sz="2200">
                <a:solidFill>
                  <a:srgbClr val="1AB1CD"/>
                </a:solidFill>
                <a:latin typeface="Roboto Mono"/>
                <a:ea typeface="Roboto Mono"/>
                <a:cs typeface="Roboto Mono"/>
                <a:sym typeface="Roboto Mono"/>
              </a:rPr>
              <a:t>avg_security_delay</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problemi di sicurezza</a:t>
            </a:r>
            <a:r>
              <a:rPr lang="en-US" sz="2200">
                <a:solidFill>
                  <a:schemeClr val="dk1"/>
                </a:solidFill>
              </a:rPr>
              <a:t> </a:t>
            </a:r>
            <a:endParaRPr sz="2200">
              <a:solidFill>
                <a:schemeClr val="dk1"/>
              </a:solidFill>
            </a:endParaRPr>
          </a:p>
          <a:p>
            <a:pPr indent="-368300" lvl="0" marL="914400" rtl="0" algn="l">
              <a:spcBef>
                <a:spcPts val="0"/>
              </a:spcBef>
              <a:spcAft>
                <a:spcPts val="0"/>
              </a:spcAft>
              <a:buClr>
                <a:schemeClr val="dk1"/>
              </a:buClr>
              <a:buSzPts val="2200"/>
              <a:buChar char="●"/>
            </a:pPr>
            <a:r>
              <a:rPr lang="en-US" sz="2200">
                <a:solidFill>
                  <a:srgbClr val="1AB1CD"/>
                </a:solidFill>
                <a:latin typeface="Roboto Mono"/>
                <a:ea typeface="Roboto Mono"/>
                <a:cs typeface="Roboto Mono"/>
                <a:sym typeface="Roboto Mono"/>
              </a:rPr>
              <a:t>avg_late_aircraft_delay</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ritardo accumulato dal volo precedente </a:t>
            </a:r>
            <a:endParaRPr i="1" sz="2200">
              <a:solidFill>
                <a:schemeClr val="dk1"/>
              </a:solidFill>
            </a:endParaRPr>
          </a:p>
          <a:p>
            <a:pPr indent="0" lvl="0" marL="0" rtl="0" algn="l">
              <a:spcBef>
                <a:spcPts val="1414"/>
              </a:spcBef>
              <a:spcAft>
                <a:spcPts val="0"/>
              </a:spcAft>
              <a:buNone/>
            </a:pPr>
            <a:r>
              <a:t/>
            </a:r>
            <a:endParaRPr sz="2000">
              <a:solidFill>
                <a:schemeClr val="dk1"/>
              </a:solidFill>
            </a:endParaRPr>
          </a:p>
        </p:txBody>
      </p:sp>
      <p:sp>
        <p:nvSpPr>
          <p:cNvPr id="805" name="Google Shape;805;p108"/>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806" name="Google Shape;806;p108"/>
          <p:cNvSpPr/>
          <p:nvPr/>
        </p:nvSpPr>
        <p:spPr>
          <a:xfrm>
            <a:off x="450350" y="1138676"/>
            <a:ext cx="7747800" cy="66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09"/>
          <p:cNvSpPr/>
          <p:nvPr/>
        </p:nvSpPr>
        <p:spPr>
          <a:xfrm>
            <a:off x="423000" y="4507050"/>
            <a:ext cx="10930200" cy="1987200"/>
          </a:xfrm>
          <a:prstGeom prst="rect">
            <a:avLst/>
          </a:prstGeom>
          <a:noFill/>
          <a:ln>
            <a:noFill/>
          </a:ln>
        </p:spPr>
        <p:txBody>
          <a:bodyPr anchorCtr="0" anchor="t" bIns="45700" lIns="91425" spcFirstLastPara="1" rIns="91425" wrap="square" tIns="45700">
            <a:noAutofit/>
          </a:bodyPr>
          <a:lstStyle/>
          <a:p>
            <a:pPr indent="-368300" lvl="0" marL="457200" rtl="0" algn="l">
              <a:spcBef>
                <a:spcPts val="1414"/>
              </a:spcBef>
              <a:spcAft>
                <a:spcPts val="0"/>
              </a:spcAft>
              <a:buClr>
                <a:schemeClr val="dk1"/>
              </a:buClr>
              <a:buSzPts val="2200"/>
              <a:buChar char="●"/>
            </a:pPr>
            <a:r>
              <a:rPr lang="en-US" sz="2200">
                <a:solidFill>
                  <a:schemeClr val="dk1"/>
                </a:solidFill>
              </a:rPr>
              <a:t>Il grafico dell’Elbow Method mostra una riduzione progressiva del WSSSE, senza evidenziare un gomito netto.</a:t>
            </a:r>
            <a:endParaRPr sz="2200">
              <a:solidFill>
                <a:schemeClr val="dk1"/>
              </a:solidFill>
            </a:endParaRPr>
          </a:p>
          <a:p>
            <a:pPr indent="-368300" lvl="0" marL="457200" rtl="0" algn="l">
              <a:spcBef>
                <a:spcPts val="0"/>
              </a:spcBef>
              <a:spcAft>
                <a:spcPts val="0"/>
              </a:spcAft>
              <a:buClr>
                <a:schemeClr val="dk1"/>
              </a:buClr>
              <a:buSzPts val="2200"/>
              <a:buChar char="●"/>
            </a:pPr>
            <a:r>
              <a:rPr lang="en-US" sz="2200">
                <a:solidFill>
                  <a:schemeClr val="dk1"/>
                </a:solidFill>
              </a:rPr>
              <a:t>La scelta finale è quindi guidata dal Silhouette Score, massimo per k uguale a 2</a:t>
            </a:r>
            <a:endParaRPr sz="2200">
              <a:solidFill>
                <a:schemeClr val="dk1"/>
              </a:solidFill>
            </a:endParaRPr>
          </a:p>
          <a:p>
            <a:pPr indent="0" lvl="0" marL="0" rtl="0" algn="l">
              <a:spcBef>
                <a:spcPts val="1414"/>
              </a:spcBef>
              <a:spcAft>
                <a:spcPts val="0"/>
              </a:spcAft>
              <a:buNone/>
            </a:pPr>
            <a:r>
              <a:rPr lang="en-US" sz="2200">
                <a:solidFill>
                  <a:schemeClr val="dk1"/>
                </a:solidFill>
              </a:rPr>
              <a:t>Di conseguenza, per lo Studio Base è stato scelto k = 2. </a:t>
            </a:r>
            <a:endParaRPr sz="2200">
              <a:solidFill>
                <a:schemeClr val="dk1"/>
              </a:solidFill>
            </a:endParaRPr>
          </a:p>
        </p:txBody>
      </p:sp>
      <p:sp>
        <p:nvSpPr>
          <p:cNvPr id="812" name="Google Shape;812;p109"/>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09"/>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pic>
        <p:nvPicPr>
          <p:cNvPr id="814" name="Google Shape;814;p109" title="clustering_base_elbow.png"/>
          <p:cNvPicPr preferRelativeResize="0"/>
          <p:nvPr/>
        </p:nvPicPr>
        <p:blipFill>
          <a:blip r:embed="rId3">
            <a:alphaModFix/>
          </a:blip>
          <a:stretch>
            <a:fillRect/>
          </a:stretch>
        </p:blipFill>
        <p:spPr>
          <a:xfrm>
            <a:off x="679450" y="1276406"/>
            <a:ext cx="10150775" cy="3318825"/>
          </a:xfrm>
          <a:prstGeom prst="rect">
            <a:avLst/>
          </a:prstGeom>
          <a:noFill/>
          <a:ln>
            <a:noFill/>
          </a:ln>
        </p:spPr>
      </p:pic>
      <p:sp>
        <p:nvSpPr>
          <p:cNvPr id="815" name="Google Shape;815;p109"/>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Studio Base</a:t>
            </a:r>
            <a:endParaRPr b="1" i="0" sz="3600" u="none" cap="none" strike="noStrike"/>
          </a:p>
        </p:txBody>
      </p:sp>
      <p:sp>
        <p:nvSpPr>
          <p:cNvPr id="816" name="Google Shape;816;p109"/>
          <p:cNvSpPr/>
          <p:nvPr/>
        </p:nvSpPr>
        <p:spPr>
          <a:xfrm>
            <a:off x="450350" y="1138676"/>
            <a:ext cx="7747800" cy="66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09"/>
          <p:cNvSpPr txBox="1"/>
          <p:nvPr/>
        </p:nvSpPr>
        <p:spPr>
          <a:xfrm>
            <a:off x="12346625" y="4311650"/>
            <a:ext cx="3000000" cy="1877700"/>
          </a:xfrm>
          <a:prstGeom prst="rect">
            <a:avLst/>
          </a:prstGeom>
          <a:noFill/>
          <a:ln>
            <a:noFill/>
          </a:ln>
        </p:spPr>
        <p:txBody>
          <a:bodyPr anchorCtr="0" anchor="t" bIns="91425" lIns="91425" spcFirstLastPara="1" rIns="91425" wrap="square" tIns="91425">
            <a:spAutoFit/>
          </a:bodyPr>
          <a:lstStyle/>
          <a:p>
            <a:pPr indent="-368300" lvl="0" marL="457200" rtl="0" algn="l">
              <a:spcBef>
                <a:spcPts val="1414"/>
              </a:spcBef>
              <a:spcAft>
                <a:spcPts val="0"/>
              </a:spcAft>
              <a:buClr>
                <a:schemeClr val="dk1"/>
              </a:buClr>
              <a:buSzPts val="2200"/>
              <a:buChar char="●"/>
            </a:pPr>
            <a:r>
              <a:rPr lang="en-US" sz="2200">
                <a:solidFill>
                  <a:schemeClr val="dk1"/>
                </a:solidFill>
              </a:rPr>
              <a:t>silhouette</a:t>
            </a:r>
            <a:r>
              <a:rPr lang="en-US" sz="2200">
                <a:solidFill>
                  <a:schemeClr val="dk1"/>
                </a:solidFill>
              </a:rPr>
              <a:t> score più vicino a 0 o negativo non clusterizza in modo corretto </a:t>
            </a:r>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10"/>
          <p:cNvSpPr/>
          <p:nvPr/>
        </p:nvSpPr>
        <p:spPr>
          <a:xfrm>
            <a:off x="423000" y="1371600"/>
            <a:ext cx="57573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sz="2200" u="sng"/>
              <a:t>Studio Base con k = 2</a:t>
            </a:r>
            <a:endParaRPr i="1" sz="2200" u="sng"/>
          </a:p>
          <a:p>
            <a:pPr indent="0" lvl="0" marL="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La PCA proietta le compagnie in due dimensioni, mantenendo il 68.3% della varianza totale</a:t>
            </a:r>
            <a:endParaRPr sz="2200"/>
          </a:p>
          <a:p>
            <a:pPr indent="-368300" lvl="0" marL="457200" rtl="0" algn="l">
              <a:spcBef>
                <a:spcPts val="0"/>
              </a:spcBef>
              <a:spcAft>
                <a:spcPts val="0"/>
              </a:spcAft>
              <a:buSzPts val="2200"/>
              <a:buChar char="●"/>
            </a:pPr>
            <a:r>
              <a:rPr lang="en-US" sz="2200"/>
              <a:t>Il clustering separa OH dal resto delle compagnie:</a:t>
            </a:r>
            <a:endParaRPr sz="2200"/>
          </a:p>
          <a:p>
            <a:pPr indent="-368300" lvl="1" marL="914400" rtl="0" algn="l">
              <a:spcBef>
                <a:spcPts val="0"/>
              </a:spcBef>
              <a:spcAft>
                <a:spcPts val="0"/>
              </a:spcAft>
              <a:buSzPts val="2200"/>
              <a:buChar char="○"/>
            </a:pPr>
            <a:r>
              <a:rPr lang="en-US" sz="2200"/>
              <a:t>Cluster 1:contiene solo OH</a:t>
            </a:r>
            <a:endParaRPr sz="2200"/>
          </a:p>
          <a:p>
            <a:pPr indent="-368300" lvl="1" marL="914400" rtl="0" algn="l">
              <a:spcBef>
                <a:spcPts val="0"/>
              </a:spcBef>
              <a:spcAft>
                <a:spcPts val="0"/>
              </a:spcAft>
              <a:buSzPts val="2200"/>
              <a:buChar char="○"/>
            </a:pPr>
            <a:r>
              <a:rPr lang="en-US" sz="2200"/>
              <a:t>Cluster 0: contiene le altre 13 compagnie</a:t>
            </a:r>
            <a:endParaRPr sz="2200"/>
          </a:p>
          <a:p>
            <a:pPr indent="-368300" lvl="0" marL="457200" rtl="0" algn="l">
              <a:spcBef>
                <a:spcPts val="0"/>
              </a:spcBef>
              <a:spcAft>
                <a:spcPts val="0"/>
              </a:spcAft>
              <a:buSzPts val="2200"/>
              <a:buChar char="●"/>
            </a:pPr>
            <a:r>
              <a:rPr lang="en-US" sz="2200"/>
              <a:t>Il risultato evidenzia la presenza di un outlier, ma produce una segmentazione poco bilanciata</a:t>
            </a:r>
            <a:endParaRPr sz="2200"/>
          </a:p>
        </p:txBody>
      </p:sp>
      <p:sp>
        <p:nvSpPr>
          <p:cNvPr id="823" name="Google Shape;823;p110"/>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10"/>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pic>
        <p:nvPicPr>
          <p:cNvPr id="825" name="Google Shape;825;p110" title="clustering_base_pca.png"/>
          <p:cNvPicPr preferRelativeResize="0"/>
          <p:nvPr/>
        </p:nvPicPr>
        <p:blipFill>
          <a:blip r:embed="rId3">
            <a:alphaModFix/>
          </a:blip>
          <a:stretch>
            <a:fillRect/>
          </a:stretch>
        </p:blipFill>
        <p:spPr>
          <a:xfrm>
            <a:off x="5882000" y="1800275"/>
            <a:ext cx="6187249" cy="4287349"/>
          </a:xfrm>
          <a:prstGeom prst="rect">
            <a:avLst/>
          </a:prstGeom>
          <a:noFill/>
          <a:ln>
            <a:noFill/>
          </a:ln>
        </p:spPr>
      </p:pic>
      <p:sp>
        <p:nvSpPr>
          <p:cNvPr id="826" name="Google Shape;826;p110"/>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Studio Base</a:t>
            </a:r>
            <a:endParaRPr b="1" i="0" sz="3600" u="none" cap="none" strike="noStrike"/>
          </a:p>
        </p:txBody>
      </p:sp>
      <p:sp>
        <p:nvSpPr>
          <p:cNvPr id="827" name="Google Shape;827;p110"/>
          <p:cNvSpPr/>
          <p:nvPr/>
        </p:nvSpPr>
        <p:spPr>
          <a:xfrm>
            <a:off x="450350" y="1138676"/>
            <a:ext cx="7747800" cy="66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11"/>
          <p:cNvSpPr/>
          <p:nvPr/>
        </p:nvSpPr>
        <p:spPr>
          <a:xfrm>
            <a:off x="423000" y="1371600"/>
            <a:ext cx="62226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sz="2200" u="sng"/>
              <a:t>Studio Base con k = 2</a:t>
            </a:r>
            <a:endParaRPr i="1" sz="2200" u="sng"/>
          </a:p>
          <a:p>
            <a:pPr indent="0" lvl="0" marL="0" rtl="0" algn="l">
              <a:spcBef>
                <a:spcPts val="0"/>
              </a:spcBef>
              <a:spcAft>
                <a:spcPts val="0"/>
              </a:spcAft>
              <a:buNone/>
            </a:pPr>
            <a:r>
              <a:t/>
            </a:r>
            <a:endParaRPr i="1" sz="2200" u="sng"/>
          </a:p>
          <a:p>
            <a:pPr indent="0" lvl="0" marL="0" rtl="0" algn="l">
              <a:spcBef>
                <a:spcPts val="0"/>
              </a:spcBef>
              <a:spcAft>
                <a:spcPts val="0"/>
              </a:spcAft>
              <a:buNone/>
            </a:pPr>
            <a:r>
              <a:rPr lang="en-US" sz="2200"/>
              <a:t>Il profiling dei centroidi permette di interpretare i cluster confrontando i valori medi delle feature rispetto alla media globale.</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US" sz="2200"/>
              <a:t>Il grafico conferma quanto osservato nella PCA: lo Studio Base </a:t>
            </a:r>
            <a:r>
              <a:rPr b="1" i="1" lang="en-US" sz="2200"/>
              <a:t>separa principalmente OH dal resto delle compagnie</a:t>
            </a:r>
            <a:r>
              <a:rPr lang="en-US" sz="2200"/>
              <a:t>, producendo una segmentazione 1 vs 13. </a:t>
            </a:r>
            <a:endParaRPr sz="2200"/>
          </a:p>
          <a:p>
            <a:pPr indent="0" lvl="0" marL="0" rtl="0" algn="l">
              <a:spcBef>
                <a:spcPts val="0"/>
              </a:spcBef>
              <a:spcAft>
                <a:spcPts val="0"/>
              </a:spcAft>
              <a:buNone/>
            </a:pPr>
            <a:r>
              <a:rPr lang="en-US" sz="2200"/>
              <a:t>In particolare:</a:t>
            </a:r>
            <a:endParaRPr sz="2200"/>
          </a:p>
          <a:p>
            <a:pPr indent="-368300" lvl="0" marL="457200" rtl="0" algn="l">
              <a:spcBef>
                <a:spcPts val="0"/>
              </a:spcBef>
              <a:spcAft>
                <a:spcPts val="0"/>
              </a:spcAft>
              <a:buSzPts val="2200"/>
              <a:buChar char="●"/>
            </a:pPr>
            <a:r>
              <a:rPr b="1" lang="en-US" sz="2200" u="sng"/>
              <a:t>Cluster 0</a:t>
            </a:r>
            <a:r>
              <a:rPr lang="en-US" sz="2200"/>
              <a:t> → contiene 13 compagnie e presenta </a:t>
            </a:r>
            <a:r>
              <a:rPr b="1" i="1" lang="en-US" sz="2200"/>
              <a:t>valori vicini alla media</a:t>
            </a:r>
            <a:r>
              <a:rPr lang="en-US" sz="2200"/>
              <a:t>;</a:t>
            </a:r>
            <a:endParaRPr sz="2200"/>
          </a:p>
          <a:p>
            <a:pPr indent="-368300" lvl="0" marL="457200" rtl="0" algn="l">
              <a:spcBef>
                <a:spcPts val="0"/>
              </a:spcBef>
              <a:spcAft>
                <a:spcPts val="0"/>
              </a:spcAft>
              <a:buSzPts val="2200"/>
              <a:buChar char="●"/>
            </a:pPr>
            <a:r>
              <a:rPr b="1" lang="en-US" sz="2200" u="sng"/>
              <a:t>Cluster 1</a:t>
            </a:r>
            <a:r>
              <a:rPr lang="en-US" sz="2200"/>
              <a:t> → contiene solo OH e presenta </a:t>
            </a:r>
            <a:r>
              <a:rPr b="1" i="1" lang="en-US" sz="2200"/>
              <a:t>valori molto superiori alla media</a:t>
            </a:r>
            <a:r>
              <a:rPr lang="en-US" sz="2200"/>
              <a:t> su </a:t>
            </a:r>
            <a:r>
              <a:rPr i="1" lang="en-US" sz="2200"/>
              <a:t>ritardi</a:t>
            </a:r>
            <a:r>
              <a:rPr lang="en-US" sz="2200"/>
              <a:t>, </a:t>
            </a:r>
            <a:r>
              <a:rPr i="1" lang="en-US" sz="2200"/>
              <a:t>cancellation_rate </a:t>
            </a:r>
            <a:r>
              <a:rPr lang="en-US" sz="2200"/>
              <a:t>e </a:t>
            </a:r>
            <a:r>
              <a:rPr i="1" lang="en-US" sz="2200"/>
              <a:t>late_aircraft_delay</a:t>
            </a:r>
            <a:r>
              <a:rPr lang="en-US" sz="2200"/>
              <a:t>. </a:t>
            </a:r>
            <a:endParaRPr sz="22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sp>
        <p:nvSpPr>
          <p:cNvPr id="833" name="Google Shape;833;p111"/>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11"/>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pic>
        <p:nvPicPr>
          <p:cNvPr id="835" name="Google Shape;835;p111" title="clustering_base_profile.png"/>
          <p:cNvPicPr preferRelativeResize="0"/>
          <p:nvPr/>
        </p:nvPicPr>
        <p:blipFill>
          <a:blip r:embed="rId3">
            <a:alphaModFix/>
          </a:blip>
          <a:stretch>
            <a:fillRect/>
          </a:stretch>
        </p:blipFill>
        <p:spPr>
          <a:xfrm>
            <a:off x="6465675" y="1854525"/>
            <a:ext cx="5667226" cy="3653551"/>
          </a:xfrm>
          <a:prstGeom prst="rect">
            <a:avLst/>
          </a:prstGeom>
          <a:noFill/>
          <a:ln>
            <a:noFill/>
          </a:ln>
        </p:spPr>
      </p:pic>
      <p:sp>
        <p:nvSpPr>
          <p:cNvPr id="836" name="Google Shape;836;p111"/>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Studio Base</a:t>
            </a:r>
            <a:endParaRPr b="1" i="0" sz="3600" u="none" cap="none" strike="noStrike"/>
          </a:p>
        </p:txBody>
      </p:sp>
      <p:sp>
        <p:nvSpPr>
          <p:cNvPr id="837" name="Google Shape;837;p111"/>
          <p:cNvSpPr/>
          <p:nvPr/>
        </p:nvSpPr>
        <p:spPr>
          <a:xfrm>
            <a:off x="450350" y="1138676"/>
            <a:ext cx="7747800" cy="66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11"/>
          <p:cNvSpPr txBox="1"/>
          <p:nvPr/>
        </p:nvSpPr>
        <p:spPr>
          <a:xfrm>
            <a:off x="12346625" y="2385475"/>
            <a:ext cx="3000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rPr>
              <a:t>z score indica la dez std tra la media di ogni feature rispetto al cluster stesso</a:t>
            </a:r>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12"/>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Studio Esteso</a:t>
            </a:r>
            <a:endParaRPr b="1" i="0" sz="3600" u="none" cap="none" strike="noStrike"/>
          </a:p>
        </p:txBody>
      </p:sp>
      <p:sp>
        <p:nvSpPr>
          <p:cNvPr id="844" name="Google Shape;844;p112"/>
          <p:cNvSpPr/>
          <p:nvPr/>
        </p:nvSpPr>
        <p:spPr>
          <a:xfrm>
            <a:off x="423000" y="1371600"/>
            <a:ext cx="10930200" cy="5260500"/>
          </a:xfrm>
          <a:prstGeom prst="rect">
            <a:avLst/>
          </a:prstGeom>
          <a:noFill/>
          <a:ln>
            <a:noFill/>
          </a:ln>
        </p:spPr>
        <p:txBody>
          <a:bodyPr anchorCtr="0" anchor="t" bIns="45700" lIns="91425" spcFirstLastPara="1" rIns="91425" wrap="square" tIns="45700">
            <a:noAutofit/>
          </a:bodyPr>
          <a:lstStyle/>
          <a:p>
            <a:pPr indent="0" lvl="0" marL="0" rtl="0" algn="l">
              <a:spcBef>
                <a:spcPts val="1414"/>
              </a:spcBef>
              <a:spcAft>
                <a:spcPts val="0"/>
              </a:spcAft>
              <a:buNone/>
            </a:pPr>
            <a:r>
              <a:rPr lang="en-US" sz="2200">
                <a:solidFill>
                  <a:schemeClr val="dk1"/>
                </a:solidFill>
              </a:rPr>
              <a:t>Lo </a:t>
            </a:r>
            <a:r>
              <a:rPr b="1" lang="en-US" sz="2200" u="sng">
                <a:solidFill>
                  <a:schemeClr val="dk1"/>
                </a:solidFill>
              </a:rPr>
              <a:t>Studio Esteso</a:t>
            </a:r>
            <a:r>
              <a:rPr lang="en-US" sz="2200">
                <a:solidFill>
                  <a:schemeClr val="dk1"/>
                </a:solidFill>
              </a:rPr>
              <a:t> aggiunge nuove metriche operative alle feature utilizzate nello Studio Base.</a:t>
            </a:r>
            <a:endParaRPr sz="2200">
              <a:solidFill>
                <a:schemeClr val="dk1"/>
              </a:solidFill>
            </a:endParaRPr>
          </a:p>
          <a:p>
            <a:pPr indent="0" lvl="0" marL="0" rtl="0" algn="l">
              <a:spcBef>
                <a:spcPts val="1414"/>
              </a:spcBef>
              <a:spcAft>
                <a:spcPts val="0"/>
              </a:spcAft>
              <a:buNone/>
            </a:pPr>
            <a:r>
              <a:rPr lang="en-US" sz="2200">
                <a:solidFill>
                  <a:schemeClr val="dk1"/>
                </a:solidFill>
              </a:rPr>
              <a:t>Feature candidate aggiunte:</a:t>
            </a:r>
            <a:endParaRPr sz="2200">
              <a:solidFill>
                <a:schemeClr val="dk1"/>
              </a:solidFill>
            </a:endParaRPr>
          </a:p>
          <a:p>
            <a:pPr indent="-368300" lvl="0" marL="457200" rtl="0" algn="l">
              <a:spcBef>
                <a:spcPts val="1414"/>
              </a:spcBef>
              <a:spcAft>
                <a:spcPts val="0"/>
              </a:spcAft>
              <a:buClr>
                <a:schemeClr val="dk1"/>
              </a:buClr>
              <a:buSzPts val="2200"/>
              <a:buChar char="●"/>
            </a:pPr>
            <a:r>
              <a:rPr lang="en-US" sz="2200">
                <a:solidFill>
                  <a:srgbClr val="1AB1CD"/>
                </a:solidFill>
                <a:latin typeface="Roboto Mono"/>
                <a:ea typeface="Roboto Mono"/>
                <a:cs typeface="Roboto Mono"/>
                <a:sym typeface="Roboto Mono"/>
              </a:rPr>
              <a:t>std_dep_delay</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deviazione standard del ritardo in partenza</a:t>
            </a:r>
            <a:endParaRPr i="1" sz="2200">
              <a:solidFill>
                <a:schemeClr val="dk1"/>
              </a:solidFill>
            </a:endParaRPr>
          </a:p>
          <a:p>
            <a:pPr indent="-368300" lvl="0" marL="457200" rtl="0" algn="l">
              <a:spcBef>
                <a:spcPts val="0"/>
              </a:spcBef>
              <a:spcAft>
                <a:spcPts val="0"/>
              </a:spcAft>
              <a:buClr>
                <a:schemeClr val="dk1"/>
              </a:buClr>
              <a:buSzPts val="2200"/>
              <a:buChar char="●"/>
            </a:pPr>
            <a:r>
              <a:rPr lang="en-US" sz="2200">
                <a:solidFill>
                  <a:srgbClr val="1AB1CD"/>
                </a:solidFill>
                <a:latin typeface="Roboto Mono"/>
                <a:ea typeface="Roboto Mono"/>
                <a:cs typeface="Roboto Mono"/>
                <a:sym typeface="Roboto Mono"/>
              </a:rPr>
              <a:t>on_time_rate</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percentuale di voli arrivati in orario</a:t>
            </a:r>
            <a:endParaRPr i="1" sz="2200">
              <a:solidFill>
                <a:schemeClr val="dk1"/>
              </a:solidFill>
            </a:endParaRPr>
          </a:p>
          <a:p>
            <a:pPr indent="-368300" lvl="0" marL="457200" rtl="0" algn="l">
              <a:spcBef>
                <a:spcPts val="0"/>
              </a:spcBef>
              <a:spcAft>
                <a:spcPts val="0"/>
              </a:spcAft>
              <a:buClr>
                <a:schemeClr val="dk1"/>
              </a:buClr>
              <a:buSzPts val="2200"/>
              <a:buChar char="●"/>
            </a:pPr>
            <a:r>
              <a:rPr lang="en-US" sz="2200">
                <a:solidFill>
                  <a:srgbClr val="1AB1CD"/>
                </a:solidFill>
                <a:latin typeface="Roboto Mono"/>
                <a:ea typeface="Roboto Mono"/>
                <a:cs typeface="Roboto Mono"/>
                <a:sym typeface="Roboto Mono"/>
              </a:rPr>
              <a:t>diverted_rate</a:t>
            </a:r>
            <a:r>
              <a:rPr lang="en-US" sz="2200">
                <a:latin typeface="Roboto Mono"/>
                <a:ea typeface="Roboto Mono"/>
                <a:cs typeface="Roboto Mono"/>
                <a:sym typeface="Roboto Mono"/>
              </a:rPr>
              <a:t> </a:t>
            </a:r>
            <a:r>
              <a:rPr lang="en-US" sz="2200">
                <a:solidFill>
                  <a:schemeClr val="dk1"/>
                </a:solidFill>
              </a:rPr>
              <a:t>→ </a:t>
            </a:r>
            <a:r>
              <a:rPr i="1" lang="en-US" sz="2200">
                <a:solidFill>
                  <a:schemeClr val="dk1"/>
                </a:solidFill>
              </a:rPr>
              <a:t>percentuale di voli deviati</a:t>
            </a:r>
            <a:endParaRPr i="1" sz="2200">
              <a:solidFill>
                <a:schemeClr val="dk1"/>
              </a:solidFill>
            </a:endParaRPr>
          </a:p>
          <a:p>
            <a:pPr indent="0" lvl="0" marL="0" rtl="0" algn="l">
              <a:spcBef>
                <a:spcPts val="1414"/>
              </a:spcBef>
              <a:spcAft>
                <a:spcPts val="0"/>
              </a:spcAft>
              <a:buClr>
                <a:schemeClr val="dk1"/>
              </a:buClr>
              <a:buSzPts val="1100"/>
              <a:buFont typeface="Arial"/>
              <a:buNone/>
            </a:pPr>
            <a:r>
              <a:rPr lang="en-US" sz="2200">
                <a:solidFill>
                  <a:schemeClr val="dk1"/>
                </a:solidFill>
              </a:rPr>
              <a:t>Per evitare ridondanza tra le variabili, è stata calcolata la matrice di correlazione di Pearson.</a:t>
            </a:r>
            <a:endParaRPr sz="2200">
              <a:solidFill>
                <a:schemeClr val="dk1"/>
              </a:solidFill>
            </a:endParaRPr>
          </a:p>
          <a:p>
            <a:pPr indent="0" lvl="0" marL="0" rtl="0" algn="l">
              <a:spcBef>
                <a:spcPts val="1414"/>
              </a:spcBef>
              <a:spcAft>
                <a:spcPts val="0"/>
              </a:spcAft>
              <a:buNone/>
            </a:pPr>
            <a:r>
              <a:rPr b="1" lang="en-US" sz="2200">
                <a:solidFill>
                  <a:schemeClr val="dk1"/>
                </a:solidFill>
              </a:rPr>
              <a:t>Risultato dell’analisi di correlazione delle feature:</a:t>
            </a:r>
            <a:endParaRPr b="1" sz="2200">
              <a:solidFill>
                <a:schemeClr val="dk1"/>
              </a:solidFill>
            </a:endParaRPr>
          </a:p>
          <a:p>
            <a:pPr indent="-368300" lvl="0" marL="457200" rtl="0" algn="l">
              <a:spcBef>
                <a:spcPts val="1414"/>
              </a:spcBef>
              <a:spcAft>
                <a:spcPts val="0"/>
              </a:spcAft>
              <a:buClr>
                <a:schemeClr val="dk1"/>
              </a:buClr>
              <a:buSzPts val="2200"/>
              <a:buChar char="●"/>
            </a:pPr>
            <a:r>
              <a:rPr lang="en-US" sz="2200">
                <a:solidFill>
                  <a:srgbClr val="1AB1CD"/>
                </a:solidFill>
                <a:latin typeface="Roboto Mono"/>
                <a:ea typeface="Roboto Mono"/>
                <a:cs typeface="Roboto Mono"/>
                <a:sym typeface="Roboto Mono"/>
              </a:rPr>
              <a:t>std_dep_delay</a:t>
            </a:r>
            <a:r>
              <a:rPr lang="en-US" sz="2200">
                <a:solidFill>
                  <a:schemeClr val="dk1"/>
                </a:solidFill>
              </a:rPr>
              <a:t> è ridondante poiché |r| ≥ 0.8 con i ritardi medi e quindi fortemente correlata → feature scartata</a:t>
            </a:r>
            <a:endParaRPr sz="2200">
              <a:solidFill>
                <a:schemeClr val="dk1"/>
              </a:solidFill>
            </a:endParaRPr>
          </a:p>
          <a:p>
            <a:pPr indent="-368300" lvl="0" marL="457200" rtl="0" algn="l">
              <a:spcBef>
                <a:spcPts val="0"/>
              </a:spcBef>
              <a:spcAft>
                <a:spcPts val="0"/>
              </a:spcAft>
              <a:buClr>
                <a:schemeClr val="dk1"/>
              </a:buClr>
              <a:buSzPts val="2200"/>
              <a:buChar char="●"/>
            </a:pPr>
            <a:r>
              <a:rPr lang="en-US" sz="2200">
                <a:solidFill>
                  <a:srgbClr val="1AB1CD"/>
                </a:solidFill>
                <a:latin typeface="Roboto Mono"/>
                <a:ea typeface="Roboto Mono"/>
                <a:cs typeface="Roboto Mono"/>
                <a:sym typeface="Roboto Mono"/>
              </a:rPr>
              <a:t>on_time_rate</a:t>
            </a:r>
            <a:r>
              <a:rPr lang="en-US" sz="2200">
                <a:solidFill>
                  <a:schemeClr val="dk1"/>
                </a:solidFill>
              </a:rPr>
              <a:t> e </a:t>
            </a:r>
            <a:r>
              <a:rPr lang="en-US" sz="2200">
                <a:solidFill>
                  <a:srgbClr val="1AB1CD"/>
                </a:solidFill>
                <a:latin typeface="Roboto Mono"/>
                <a:ea typeface="Roboto Mono"/>
                <a:cs typeface="Roboto Mono"/>
                <a:sym typeface="Roboto Mono"/>
              </a:rPr>
              <a:t>diverted_rate</a:t>
            </a:r>
            <a:r>
              <a:rPr lang="en-US" sz="2200">
                <a:solidFill>
                  <a:schemeClr val="dk1"/>
                </a:solidFill>
              </a:rPr>
              <a:t> sono state mantenute</a:t>
            </a:r>
            <a:endParaRPr sz="2200">
              <a:solidFill>
                <a:schemeClr val="dk1"/>
              </a:solidFill>
            </a:endParaRPr>
          </a:p>
          <a:p>
            <a:pPr indent="0" lvl="0" marL="0" rtl="0" algn="l">
              <a:spcBef>
                <a:spcPts val="1414"/>
              </a:spcBef>
              <a:spcAft>
                <a:spcPts val="0"/>
              </a:spcAft>
              <a:buNone/>
            </a:pPr>
            <a:r>
              <a:rPr lang="en-US" sz="2200">
                <a:solidFill>
                  <a:schemeClr val="dk1"/>
                </a:solidFill>
              </a:rPr>
              <a:t>Lo Studio Esteso utilizza quindi 10 feature totali. </a:t>
            </a:r>
            <a:endParaRPr sz="2200">
              <a:solidFill>
                <a:schemeClr val="dk1"/>
              </a:solidFill>
            </a:endParaRPr>
          </a:p>
        </p:txBody>
      </p:sp>
      <p:sp>
        <p:nvSpPr>
          <p:cNvPr id="845" name="Google Shape;845;p112"/>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12"/>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847" name="Google Shape;847;p112"/>
          <p:cNvSpPr/>
          <p:nvPr/>
        </p:nvSpPr>
        <p:spPr>
          <a:xfrm>
            <a:off x="450350" y="1138675"/>
            <a:ext cx="8210700" cy="66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2"/>
          <p:cNvSpPr txBox="1"/>
          <p:nvPr/>
        </p:nvSpPr>
        <p:spPr>
          <a:xfrm>
            <a:off x="12471400" y="38989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1414"/>
              </a:spcBef>
              <a:spcAft>
                <a:spcPts val="0"/>
              </a:spcAft>
              <a:buNone/>
            </a:pPr>
            <a:r>
              <a:rPr lang="en-US" sz="2200">
                <a:solidFill>
                  <a:schemeClr val="dk1"/>
                </a:solidFill>
              </a:rPr>
              <a:t>Pearson.</a:t>
            </a:r>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13"/>
          <p:cNvSpPr/>
          <p:nvPr/>
        </p:nvSpPr>
        <p:spPr>
          <a:xfrm>
            <a:off x="423000" y="4579000"/>
            <a:ext cx="10930200" cy="1784100"/>
          </a:xfrm>
          <a:prstGeom prst="rect">
            <a:avLst/>
          </a:prstGeom>
          <a:noFill/>
          <a:ln>
            <a:noFill/>
          </a:ln>
        </p:spPr>
        <p:txBody>
          <a:bodyPr anchorCtr="0" anchor="t" bIns="45700" lIns="91425" spcFirstLastPara="1" rIns="91425" wrap="square" tIns="45700">
            <a:noAutofit/>
          </a:bodyPr>
          <a:lstStyle/>
          <a:p>
            <a:pPr indent="-368300" lvl="0" marL="457200" rtl="0" algn="l">
              <a:spcBef>
                <a:spcPts val="1414"/>
              </a:spcBef>
              <a:spcAft>
                <a:spcPts val="0"/>
              </a:spcAft>
              <a:buClr>
                <a:schemeClr val="dk1"/>
              </a:buClr>
              <a:buSzPts val="2200"/>
              <a:buChar char="●"/>
            </a:pPr>
            <a:r>
              <a:rPr lang="en-US" sz="2200">
                <a:solidFill>
                  <a:schemeClr val="dk1"/>
                </a:solidFill>
              </a:rPr>
              <a:t>Il Silhouette Score raggiunge il valore massimo per k = 2, con score pari a 0.384</a:t>
            </a:r>
            <a:endParaRPr sz="2200">
              <a:solidFill>
                <a:schemeClr val="dk1"/>
              </a:solidFill>
            </a:endParaRPr>
          </a:p>
          <a:p>
            <a:pPr indent="-368300" lvl="0" marL="457200" rtl="0" algn="l">
              <a:spcBef>
                <a:spcPts val="0"/>
              </a:spcBef>
              <a:spcAft>
                <a:spcPts val="0"/>
              </a:spcAft>
              <a:buClr>
                <a:schemeClr val="dk1"/>
              </a:buClr>
              <a:buSzPts val="2200"/>
              <a:buChar char="●"/>
            </a:pPr>
            <a:r>
              <a:rPr lang="en-US" sz="2200">
                <a:solidFill>
                  <a:schemeClr val="dk1"/>
                </a:solidFill>
              </a:rPr>
              <a:t>Il grafico dell’Elbow Method mostra una riduzione progressiva  del WSSSE, senza evidenziare un gomito netto</a:t>
            </a:r>
            <a:endParaRPr sz="2200">
              <a:solidFill>
                <a:schemeClr val="dk1"/>
              </a:solidFill>
            </a:endParaRPr>
          </a:p>
          <a:p>
            <a:pPr indent="0" lvl="0" marL="0" rtl="0" algn="l">
              <a:spcBef>
                <a:spcPts val="1414"/>
              </a:spcBef>
              <a:spcAft>
                <a:spcPts val="0"/>
              </a:spcAft>
              <a:buClr>
                <a:schemeClr val="dk1"/>
              </a:buClr>
              <a:buSzPts val="1100"/>
              <a:buFont typeface="Arial"/>
              <a:buNone/>
            </a:pPr>
            <a:r>
              <a:rPr lang="en-US" sz="2200">
                <a:solidFill>
                  <a:schemeClr val="dk1"/>
                </a:solidFill>
              </a:rPr>
              <a:t>Di conseguenza, anche per lo Studio Esteso è stato scelto k = 2.</a:t>
            </a:r>
            <a:endParaRPr sz="2000">
              <a:solidFill>
                <a:schemeClr val="dk1"/>
              </a:solidFill>
            </a:endParaRPr>
          </a:p>
        </p:txBody>
      </p:sp>
      <p:sp>
        <p:nvSpPr>
          <p:cNvPr id="854" name="Google Shape;854;p113"/>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13"/>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pic>
        <p:nvPicPr>
          <p:cNvPr id="856" name="Google Shape;856;p113" title="clustering_extended_elbow.png"/>
          <p:cNvPicPr preferRelativeResize="0"/>
          <p:nvPr/>
        </p:nvPicPr>
        <p:blipFill>
          <a:blip r:embed="rId3">
            <a:alphaModFix/>
          </a:blip>
          <a:stretch>
            <a:fillRect/>
          </a:stretch>
        </p:blipFill>
        <p:spPr>
          <a:xfrm>
            <a:off x="507325" y="1236025"/>
            <a:ext cx="10230252" cy="3342975"/>
          </a:xfrm>
          <a:prstGeom prst="rect">
            <a:avLst/>
          </a:prstGeom>
          <a:noFill/>
          <a:ln>
            <a:noFill/>
          </a:ln>
        </p:spPr>
      </p:pic>
      <p:sp>
        <p:nvSpPr>
          <p:cNvPr id="857" name="Google Shape;857;p113"/>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Studio Esteso</a:t>
            </a:r>
            <a:endParaRPr b="1" i="0" sz="3600" u="none" cap="none" strike="noStrike"/>
          </a:p>
        </p:txBody>
      </p:sp>
      <p:sp>
        <p:nvSpPr>
          <p:cNvPr id="858" name="Google Shape;858;p113"/>
          <p:cNvSpPr/>
          <p:nvPr/>
        </p:nvSpPr>
        <p:spPr>
          <a:xfrm>
            <a:off x="450350" y="1138675"/>
            <a:ext cx="8210700" cy="66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14"/>
          <p:cNvSpPr/>
          <p:nvPr/>
        </p:nvSpPr>
        <p:spPr>
          <a:xfrm>
            <a:off x="423000" y="1371600"/>
            <a:ext cx="58011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sz="2200" u="sng"/>
              <a:t>Studio Esteso con k = 2</a:t>
            </a:r>
            <a:endParaRPr sz="2200"/>
          </a:p>
          <a:p>
            <a:pPr indent="0" lvl="0" marL="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La PCA proietta le compagnie in due dimensioni,mantenendo il 60.2% della varianza totale </a:t>
            </a:r>
            <a:endParaRPr sz="2200"/>
          </a:p>
          <a:p>
            <a:pPr indent="-368300" lvl="0" marL="457200" rtl="0" algn="l">
              <a:spcBef>
                <a:spcPts val="0"/>
              </a:spcBef>
              <a:spcAft>
                <a:spcPts val="0"/>
              </a:spcAft>
              <a:buSzPts val="2200"/>
              <a:buChar char="●"/>
            </a:pPr>
            <a:r>
              <a:rPr lang="en-US" sz="2200"/>
              <a:t>A differenza dello Studio Base, il clustering non isola solo OH, ma individua un gruppo più ampio di compagnie:</a:t>
            </a:r>
            <a:endParaRPr sz="2200"/>
          </a:p>
          <a:p>
            <a:pPr indent="-368300" lvl="0" marL="914400" rtl="0" algn="l">
              <a:spcBef>
                <a:spcPts val="0"/>
              </a:spcBef>
              <a:spcAft>
                <a:spcPts val="0"/>
              </a:spcAft>
              <a:buSzPts val="2200"/>
              <a:buChar char="●"/>
            </a:pPr>
            <a:r>
              <a:rPr lang="en-US" sz="2200"/>
              <a:t>Cluster 1: OH, F9, AA e G4</a:t>
            </a:r>
            <a:endParaRPr sz="2200"/>
          </a:p>
          <a:p>
            <a:pPr indent="-368300" lvl="0" marL="914400" rtl="0" algn="l">
              <a:spcBef>
                <a:spcPts val="0"/>
              </a:spcBef>
              <a:spcAft>
                <a:spcPts val="0"/>
              </a:spcAft>
              <a:buSzPts val="2200"/>
              <a:buChar char="●"/>
            </a:pPr>
            <a:r>
              <a:rPr lang="en-US" sz="2200"/>
              <a:t>Cluster 0: le altre 10 compagnie </a:t>
            </a:r>
            <a:endParaRPr sz="2200"/>
          </a:p>
          <a:p>
            <a:pPr indent="-368300" lvl="0" marL="457200" rtl="0" algn="l">
              <a:spcBef>
                <a:spcPts val="0"/>
              </a:spcBef>
              <a:spcAft>
                <a:spcPts val="0"/>
              </a:spcAft>
              <a:buSzPts val="2200"/>
              <a:buChar char="●"/>
            </a:pPr>
            <a:r>
              <a:rPr lang="en-US" sz="2200"/>
              <a:t>La segmentazione risulta più bilanciata e più interpretabile dal punto di vista operativo</a:t>
            </a:r>
            <a:endParaRPr sz="2200"/>
          </a:p>
        </p:txBody>
      </p:sp>
      <p:sp>
        <p:nvSpPr>
          <p:cNvPr id="864" name="Google Shape;864;p114"/>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14"/>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pic>
        <p:nvPicPr>
          <p:cNvPr id="866" name="Google Shape;866;p114" title="clustering_extended_pca.png"/>
          <p:cNvPicPr preferRelativeResize="0"/>
          <p:nvPr/>
        </p:nvPicPr>
        <p:blipFill>
          <a:blip r:embed="rId3">
            <a:alphaModFix/>
          </a:blip>
          <a:stretch>
            <a:fillRect/>
          </a:stretch>
        </p:blipFill>
        <p:spPr>
          <a:xfrm>
            <a:off x="6048475" y="1840175"/>
            <a:ext cx="6040976" cy="4185975"/>
          </a:xfrm>
          <a:prstGeom prst="rect">
            <a:avLst/>
          </a:prstGeom>
          <a:noFill/>
          <a:ln>
            <a:noFill/>
          </a:ln>
        </p:spPr>
      </p:pic>
      <p:sp>
        <p:nvSpPr>
          <p:cNvPr id="867" name="Google Shape;867;p114"/>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Studio Esteso</a:t>
            </a:r>
            <a:endParaRPr b="1" i="0" sz="3600" u="none" cap="none" strike="noStrike"/>
          </a:p>
        </p:txBody>
      </p:sp>
      <p:sp>
        <p:nvSpPr>
          <p:cNvPr id="868" name="Google Shape;868;p114"/>
          <p:cNvSpPr/>
          <p:nvPr/>
        </p:nvSpPr>
        <p:spPr>
          <a:xfrm>
            <a:off x="450350" y="1138675"/>
            <a:ext cx="8210700" cy="66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15"/>
          <p:cNvSpPr/>
          <p:nvPr/>
        </p:nvSpPr>
        <p:spPr>
          <a:xfrm>
            <a:off x="423000" y="1371600"/>
            <a:ext cx="6372000" cy="4991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sz="2200" u="sng"/>
              <a:t>Studio Esteso con k = 2</a:t>
            </a:r>
            <a:endParaRPr i="1" sz="2200" u="sng"/>
          </a:p>
          <a:p>
            <a:pPr indent="0" lvl="0" marL="0" rtl="0" algn="l">
              <a:spcBef>
                <a:spcPts val="0"/>
              </a:spcBef>
              <a:spcAft>
                <a:spcPts val="0"/>
              </a:spcAft>
              <a:buNone/>
            </a:pPr>
            <a:r>
              <a:t/>
            </a:r>
            <a:endParaRPr sz="2200"/>
          </a:p>
          <a:p>
            <a:pPr indent="0" lvl="0" marL="0" rtl="0" algn="l">
              <a:spcBef>
                <a:spcPts val="0"/>
              </a:spcBef>
              <a:spcAft>
                <a:spcPts val="0"/>
              </a:spcAft>
              <a:buNone/>
            </a:pPr>
            <a:r>
              <a:rPr lang="en-US" sz="2200"/>
              <a:t>Il grafico conferma quanto osservato nella PCA.</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US" sz="2200"/>
              <a:t>Lo Studio Esteso non separa solamente OH, ma individua un </a:t>
            </a:r>
            <a:r>
              <a:rPr b="1" lang="en-US" sz="2200"/>
              <a:t>gruppo più ampio di compagnie</a:t>
            </a:r>
            <a:r>
              <a:rPr lang="en-US" sz="2200"/>
              <a:t> con criticità operative più marcate</a:t>
            </a:r>
            <a:endParaRPr sz="2200"/>
          </a:p>
          <a:p>
            <a:pPr indent="0" lvl="0" marL="0" rtl="0" algn="l">
              <a:spcBef>
                <a:spcPts val="0"/>
              </a:spcBef>
              <a:spcAft>
                <a:spcPts val="0"/>
              </a:spcAft>
              <a:buNone/>
            </a:pPr>
            <a:r>
              <a:rPr lang="en-US" sz="2200"/>
              <a:t>In particolare:</a:t>
            </a:r>
            <a:endParaRPr sz="2200"/>
          </a:p>
          <a:p>
            <a:pPr indent="-368300" lvl="0" marL="457200" rtl="0" algn="l">
              <a:spcBef>
                <a:spcPts val="0"/>
              </a:spcBef>
              <a:spcAft>
                <a:spcPts val="0"/>
              </a:spcAft>
              <a:buSzPts val="2200"/>
              <a:buChar char="●"/>
            </a:pPr>
            <a:r>
              <a:rPr b="1" lang="en-US" sz="2200" u="sng"/>
              <a:t>Cluster 0</a:t>
            </a:r>
            <a:r>
              <a:rPr lang="en-US" sz="2200"/>
              <a:t> → </a:t>
            </a:r>
            <a:r>
              <a:rPr lang="en-US" sz="2200"/>
              <a:t>contiene 10 compagnie e presenta </a:t>
            </a:r>
            <a:r>
              <a:rPr b="1" i="1" lang="en-US" sz="2200"/>
              <a:t>valori inferiori alla media</a:t>
            </a:r>
            <a:r>
              <a:rPr lang="en-US" sz="2200"/>
              <a:t> su </a:t>
            </a:r>
            <a:r>
              <a:rPr i="1" lang="en-US" sz="2200"/>
              <a:t>ritardi</a:t>
            </a:r>
            <a:r>
              <a:rPr lang="en-US" sz="2200"/>
              <a:t>, </a:t>
            </a:r>
            <a:r>
              <a:rPr i="1" lang="en-US" sz="2200"/>
              <a:t>cancellation_rate</a:t>
            </a:r>
            <a:r>
              <a:rPr lang="en-US" sz="2200"/>
              <a:t> e </a:t>
            </a:r>
            <a:r>
              <a:rPr i="1" lang="en-US" sz="2200"/>
              <a:t>late_aircraft_delay</a:t>
            </a:r>
            <a:r>
              <a:rPr lang="en-US" sz="2200"/>
              <a:t>; </a:t>
            </a:r>
            <a:endParaRPr sz="2200"/>
          </a:p>
          <a:p>
            <a:pPr indent="-368300" lvl="0" marL="457200" rtl="0" algn="l">
              <a:spcBef>
                <a:spcPts val="0"/>
              </a:spcBef>
              <a:spcAft>
                <a:spcPts val="0"/>
              </a:spcAft>
              <a:buSzPts val="2200"/>
              <a:buChar char="●"/>
            </a:pPr>
            <a:r>
              <a:rPr b="1" lang="en-US" sz="2200" u="sng"/>
              <a:t>Cluster 1</a:t>
            </a:r>
            <a:r>
              <a:rPr lang="en-US" sz="2200"/>
              <a:t> → </a:t>
            </a:r>
            <a:r>
              <a:rPr lang="en-US" sz="2200"/>
              <a:t>contiene 4 compagnie e presenta valori superiori alla media su </a:t>
            </a:r>
            <a:r>
              <a:rPr i="1" lang="en-US" sz="2200"/>
              <a:t>ritardi</a:t>
            </a:r>
            <a:r>
              <a:rPr lang="en-US" sz="2200"/>
              <a:t>, </a:t>
            </a:r>
            <a:r>
              <a:rPr i="1" lang="en-US" sz="2200"/>
              <a:t>cancellation_rate</a:t>
            </a:r>
            <a:r>
              <a:rPr lang="en-US" sz="2200"/>
              <a:t> e </a:t>
            </a:r>
            <a:r>
              <a:rPr i="1" lang="en-US" sz="2200"/>
              <a:t>late_aircraft_delay</a:t>
            </a:r>
            <a:r>
              <a:rPr lang="en-US" sz="2200"/>
              <a:t>, con </a:t>
            </a:r>
            <a:r>
              <a:rPr i="1" lang="en-US" sz="2200"/>
              <a:t>on_time_rate</a:t>
            </a:r>
            <a:r>
              <a:rPr lang="en-US" sz="2200"/>
              <a:t> sotto la media.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000"/>
          </a:p>
        </p:txBody>
      </p:sp>
      <p:sp>
        <p:nvSpPr>
          <p:cNvPr id="874" name="Google Shape;874;p115"/>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15"/>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pic>
        <p:nvPicPr>
          <p:cNvPr id="876" name="Google Shape;876;p115" title="clustering_extended_profile.png"/>
          <p:cNvPicPr preferRelativeResize="0"/>
          <p:nvPr/>
        </p:nvPicPr>
        <p:blipFill>
          <a:blip r:embed="rId3">
            <a:alphaModFix/>
          </a:blip>
          <a:stretch>
            <a:fillRect/>
          </a:stretch>
        </p:blipFill>
        <p:spPr>
          <a:xfrm>
            <a:off x="6698300" y="2380637"/>
            <a:ext cx="5371874" cy="2921000"/>
          </a:xfrm>
          <a:prstGeom prst="rect">
            <a:avLst/>
          </a:prstGeom>
          <a:noFill/>
          <a:ln>
            <a:noFill/>
          </a:ln>
        </p:spPr>
      </p:pic>
      <p:sp>
        <p:nvSpPr>
          <p:cNvPr id="877" name="Google Shape;877;p115"/>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Studio Esteso</a:t>
            </a:r>
            <a:endParaRPr b="1" i="0" sz="3600" u="none" cap="none" strike="noStrike"/>
          </a:p>
        </p:txBody>
      </p:sp>
      <p:sp>
        <p:nvSpPr>
          <p:cNvPr id="878" name="Google Shape;878;p115"/>
          <p:cNvSpPr/>
          <p:nvPr/>
        </p:nvSpPr>
        <p:spPr>
          <a:xfrm>
            <a:off x="450350" y="1138675"/>
            <a:ext cx="8210700" cy="66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16"/>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Analisi del Clustering - Interpretazioni</a:t>
            </a:r>
            <a:endParaRPr b="1" i="0" sz="3600" u="none" cap="none" strike="noStrike"/>
          </a:p>
        </p:txBody>
      </p:sp>
      <p:sp>
        <p:nvSpPr>
          <p:cNvPr id="884" name="Google Shape;884;p116"/>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368300" lvl="0" marL="457200" rtl="0" algn="l">
              <a:spcBef>
                <a:spcPts val="0"/>
              </a:spcBef>
              <a:spcAft>
                <a:spcPts val="0"/>
              </a:spcAft>
              <a:buClr>
                <a:schemeClr val="dk1"/>
              </a:buClr>
              <a:buSzPts val="2200"/>
              <a:buChar char="●"/>
            </a:pPr>
            <a:r>
              <a:rPr lang="en-US" sz="2200">
                <a:solidFill>
                  <a:schemeClr val="dk1"/>
                </a:solidFill>
              </a:rPr>
              <a:t>Lo </a:t>
            </a:r>
            <a:r>
              <a:rPr b="1" i="1" lang="en-US" sz="2200">
                <a:solidFill>
                  <a:schemeClr val="dk1"/>
                </a:solidFill>
              </a:rPr>
              <a:t>Studio Base</a:t>
            </a:r>
            <a:r>
              <a:rPr lang="en-US" sz="2200">
                <a:solidFill>
                  <a:schemeClr val="dk1"/>
                </a:solidFill>
              </a:rPr>
              <a:t> è interpretabile soprattutto come individuazione di un outlier:</a:t>
            </a:r>
            <a:endParaRPr sz="2200">
              <a:solidFill>
                <a:schemeClr val="dk1"/>
              </a:solidFill>
            </a:endParaRPr>
          </a:p>
          <a:p>
            <a:pPr indent="0" lvl="0" marL="457200" rtl="0" algn="l">
              <a:spcBef>
                <a:spcPts val="0"/>
              </a:spcBef>
              <a:spcAft>
                <a:spcPts val="0"/>
              </a:spcAft>
              <a:buNone/>
            </a:pPr>
            <a:r>
              <a:t/>
            </a:r>
            <a:endParaRPr sz="2200">
              <a:solidFill>
                <a:schemeClr val="dk1"/>
              </a:solidFill>
            </a:endParaRPr>
          </a:p>
          <a:p>
            <a:pPr indent="-368300" lvl="1" marL="914400" rtl="0" algn="l">
              <a:spcBef>
                <a:spcPts val="0"/>
              </a:spcBef>
              <a:spcAft>
                <a:spcPts val="0"/>
              </a:spcAft>
              <a:buClr>
                <a:schemeClr val="dk1"/>
              </a:buClr>
              <a:buSzPts val="2200"/>
              <a:buChar char="○"/>
            </a:pPr>
            <a:r>
              <a:rPr lang="en-US" sz="2200">
                <a:solidFill>
                  <a:schemeClr val="dk1"/>
                </a:solidFill>
              </a:rPr>
              <a:t>il Cluster 1 contiene solo OH, caratterizzata da valori molto superiori alla media su ritardi, </a:t>
            </a:r>
            <a:r>
              <a:rPr i="1" lang="en-US" sz="2200">
                <a:solidFill>
                  <a:schemeClr val="dk1"/>
                </a:solidFill>
              </a:rPr>
              <a:t>cancellation_rate</a:t>
            </a:r>
            <a:r>
              <a:rPr lang="en-US" sz="2200">
                <a:solidFill>
                  <a:schemeClr val="dk1"/>
                </a:solidFill>
              </a:rPr>
              <a:t> e </a:t>
            </a:r>
            <a:r>
              <a:rPr i="1" lang="en-US" sz="2200">
                <a:solidFill>
                  <a:schemeClr val="dk1"/>
                </a:solidFill>
              </a:rPr>
              <a:t>late_aircraft_delay</a:t>
            </a:r>
            <a:r>
              <a:rPr lang="en-US" sz="2200">
                <a:solidFill>
                  <a:schemeClr val="dk1"/>
                </a:solidFill>
              </a:rPr>
              <a:t>.</a:t>
            </a:r>
            <a:endParaRPr sz="2200">
              <a:solidFill>
                <a:schemeClr val="dk1"/>
              </a:solidFill>
            </a:endParaRPr>
          </a:p>
          <a:p>
            <a:pPr indent="0" lvl="0" marL="914400" rtl="0" algn="l">
              <a:spcBef>
                <a:spcPts val="0"/>
              </a:spcBef>
              <a:spcAft>
                <a:spcPts val="0"/>
              </a:spcAft>
              <a:buNone/>
            </a:pPr>
            <a:r>
              <a:t/>
            </a:r>
            <a:endParaRPr sz="2200">
              <a:solidFill>
                <a:schemeClr val="dk1"/>
              </a:solidFill>
            </a:endParaRPr>
          </a:p>
          <a:p>
            <a:pPr indent="-368300" lvl="1" marL="914400" rtl="0" algn="l">
              <a:spcBef>
                <a:spcPts val="0"/>
              </a:spcBef>
              <a:spcAft>
                <a:spcPts val="0"/>
              </a:spcAft>
              <a:buClr>
                <a:schemeClr val="dk1"/>
              </a:buClr>
              <a:buSzPts val="2200"/>
              <a:buChar char="○"/>
            </a:pPr>
            <a:r>
              <a:rPr lang="en-US" sz="2200">
                <a:solidFill>
                  <a:schemeClr val="dk1"/>
                </a:solidFill>
              </a:rPr>
              <a:t>Tuttavia, questa separazione è meno utile per l’analisi complessiva, perché tutte le altre 13 compagnie vengono raggruppate nello stesso cluster poiché </a:t>
            </a:r>
            <a:r>
              <a:rPr lang="en-US" sz="2200"/>
              <a:t>l</a:t>
            </a:r>
            <a:r>
              <a:rPr lang="en-US" sz="2200"/>
              <a:t>a separazione è guidata principalmente dalla presenza dell’outlier.</a:t>
            </a:r>
            <a:endParaRPr sz="2200"/>
          </a:p>
          <a:p>
            <a:pPr indent="0" lvl="0" marL="91440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Lo </a:t>
            </a:r>
            <a:r>
              <a:rPr b="1" i="1" lang="en-US" sz="2200"/>
              <a:t>Studio Esteso</a:t>
            </a:r>
            <a:r>
              <a:rPr lang="en-US" sz="2200"/>
              <a:t> ottiene una Silhouette più bassa ma produce una segmentazione più equilibrata: 10 vs 4.</a:t>
            </a:r>
            <a:endParaRPr sz="2200"/>
          </a:p>
          <a:p>
            <a:pPr indent="0" lvl="0" marL="45720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I cluster dello Studio Esteso sono più interpretabili:</a:t>
            </a:r>
            <a:endParaRPr sz="2200"/>
          </a:p>
          <a:p>
            <a:pPr indent="-368300" lvl="1" marL="914400" rtl="0" algn="l">
              <a:spcBef>
                <a:spcPts val="0"/>
              </a:spcBef>
              <a:spcAft>
                <a:spcPts val="0"/>
              </a:spcAft>
              <a:buSzPts val="2200"/>
              <a:buChar char="○"/>
            </a:pPr>
            <a:r>
              <a:rPr lang="en-US" sz="2200"/>
              <a:t>Cluster 0 → compagnie più regolari e affidabili;</a:t>
            </a:r>
            <a:endParaRPr sz="2200"/>
          </a:p>
          <a:p>
            <a:pPr indent="-368300" lvl="1" marL="914400" rtl="0" algn="l">
              <a:spcBef>
                <a:spcPts val="0"/>
              </a:spcBef>
              <a:spcAft>
                <a:spcPts val="0"/>
              </a:spcAft>
              <a:buSzPts val="2200"/>
              <a:buChar char="○"/>
            </a:pPr>
            <a:r>
              <a:rPr lang="en-US" sz="2200"/>
              <a:t>Cluster 1 → compagnie con maggiori criticità operative</a:t>
            </a:r>
            <a:endParaRPr sz="22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None/>
            </a:pPr>
            <a:r>
              <a:rPr lang="en-US" sz="2000"/>
              <a:t>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sp>
        <p:nvSpPr>
          <p:cNvPr id="885" name="Google Shape;885;p116"/>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16"/>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887" name="Google Shape;887;p116"/>
          <p:cNvSpPr/>
          <p:nvPr/>
        </p:nvSpPr>
        <p:spPr>
          <a:xfrm>
            <a:off x="450350" y="1138675"/>
            <a:ext cx="8234400" cy="561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17"/>
          <p:cNvSpPr/>
          <p:nvPr/>
        </p:nvSpPr>
        <p:spPr>
          <a:xfrm>
            <a:off x="314280" y="2749680"/>
            <a:ext cx="10972800" cy="16455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Redis</a:t>
            </a:r>
            <a:endParaRPr b="1" i="0" sz="3600" u="none" cap="none" strike="noStrike"/>
          </a:p>
        </p:txBody>
      </p:sp>
      <p:sp>
        <p:nvSpPr>
          <p:cNvPr id="893" name="Google Shape;893;p117"/>
          <p:cNvSpPr/>
          <p:nvPr/>
        </p:nvSpPr>
        <p:spPr>
          <a:xfrm>
            <a:off x="323280" y="4446720"/>
            <a:ext cx="10328100" cy="59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17"/>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17"/>
          <p:cNvSpPr/>
          <p:nvPr/>
        </p:nvSpPr>
        <p:spPr>
          <a:xfrm>
            <a:off x="413649" y="4357800"/>
            <a:ext cx="1173000" cy="375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18"/>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Redis</a:t>
            </a:r>
            <a:endParaRPr b="1" i="0" sz="3600" u="none" cap="none" strike="noStrike"/>
          </a:p>
        </p:txBody>
      </p:sp>
      <p:sp>
        <p:nvSpPr>
          <p:cNvPr id="901" name="Google Shape;901;p118"/>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1200"/>
              </a:spcBef>
              <a:spcAft>
                <a:spcPts val="0"/>
              </a:spcAft>
              <a:buSzPts val="2200"/>
              <a:buChar char="●"/>
            </a:pPr>
            <a:r>
              <a:rPr b="1" i="1" lang="en-US" sz="2200"/>
              <a:t>Redis</a:t>
            </a:r>
            <a:r>
              <a:rPr lang="en-US" sz="2200"/>
              <a:t> è stato utilizzato come sistema di </a:t>
            </a:r>
            <a:r>
              <a:rPr i="1" lang="en-US" sz="2200"/>
              <a:t>storage key-value</a:t>
            </a:r>
            <a:r>
              <a:rPr lang="en-US" sz="2200"/>
              <a:t> per memorizzare i risultati aggregati prodotti dalle query Spark</a:t>
            </a:r>
            <a:endParaRPr sz="2200"/>
          </a:p>
          <a:p>
            <a:pPr indent="-368300" lvl="0" marL="457200" rtl="0" algn="l">
              <a:lnSpc>
                <a:spcPct val="115000"/>
              </a:lnSpc>
              <a:spcBef>
                <a:spcPts val="0"/>
              </a:spcBef>
              <a:spcAft>
                <a:spcPts val="0"/>
              </a:spcAft>
              <a:buSzPts val="2200"/>
              <a:buChar char="●"/>
            </a:pPr>
            <a:r>
              <a:rPr lang="en-US" sz="2200"/>
              <a:t>I risultati vengono prima salvati su HDFS in formato CSV e poi esportati su Redis tramite uno script dedicato. </a:t>
            </a:r>
            <a:endParaRPr sz="2200"/>
          </a:p>
          <a:p>
            <a:pPr indent="0" lvl="0" marL="0" rtl="0" algn="l">
              <a:lnSpc>
                <a:spcPct val="115000"/>
              </a:lnSpc>
              <a:spcBef>
                <a:spcPts val="1200"/>
              </a:spcBef>
              <a:spcAft>
                <a:spcPts val="0"/>
              </a:spcAft>
              <a:buNone/>
            </a:pPr>
            <a:r>
              <a:rPr lang="en-US" sz="2200"/>
              <a:t>La scelta di Redis è motivata da:</a:t>
            </a:r>
            <a:endParaRPr sz="2200"/>
          </a:p>
          <a:p>
            <a:pPr indent="-368300" lvl="0" marL="457200" rtl="0" algn="l">
              <a:lnSpc>
                <a:spcPct val="115000"/>
              </a:lnSpc>
              <a:spcBef>
                <a:spcPts val="1200"/>
              </a:spcBef>
              <a:spcAft>
                <a:spcPts val="0"/>
              </a:spcAft>
              <a:buSzPts val="2200"/>
              <a:buChar char="●"/>
            </a:pPr>
            <a:r>
              <a:rPr b="1" lang="en-US" sz="2200"/>
              <a:t>velocità di accesso ai dati</a:t>
            </a:r>
            <a:r>
              <a:rPr lang="en-US" sz="2200"/>
              <a:t>, essendo un datastore </a:t>
            </a:r>
            <a:r>
              <a:rPr i="1" lang="en-US" sz="2200"/>
              <a:t>in-memory</a:t>
            </a:r>
            <a:r>
              <a:rPr lang="en-US" sz="2200"/>
              <a:t>;</a:t>
            </a:r>
            <a:endParaRPr sz="2200"/>
          </a:p>
          <a:p>
            <a:pPr indent="-368300" lvl="0" marL="457200" rtl="0" algn="l">
              <a:lnSpc>
                <a:spcPct val="115000"/>
              </a:lnSpc>
              <a:spcBef>
                <a:spcPts val="0"/>
              </a:spcBef>
              <a:spcAft>
                <a:spcPts val="0"/>
              </a:spcAft>
              <a:buSzPts val="2200"/>
              <a:buChar char="●"/>
            </a:pPr>
            <a:r>
              <a:rPr b="1" lang="en-US" sz="2200"/>
              <a:t>semplicità</a:t>
            </a:r>
            <a:r>
              <a:rPr lang="en-US" sz="2200"/>
              <a:t> nella gestione di risultati aggregati e di piccole dimensioni;</a:t>
            </a:r>
            <a:endParaRPr sz="2200"/>
          </a:p>
          <a:p>
            <a:pPr indent="-368300" lvl="0" marL="457200" rtl="0" algn="l">
              <a:lnSpc>
                <a:spcPct val="115000"/>
              </a:lnSpc>
              <a:spcBef>
                <a:spcPts val="0"/>
              </a:spcBef>
              <a:spcAft>
                <a:spcPts val="0"/>
              </a:spcAft>
              <a:buSzPts val="2200"/>
              <a:buChar char="●"/>
            </a:pPr>
            <a:r>
              <a:rPr b="1" lang="en-US" sz="2200"/>
              <a:t>compatibilità con Grafana</a:t>
            </a:r>
            <a:r>
              <a:rPr lang="en-US" sz="2200"/>
              <a:t> per la visualizzazione dei risultati.</a:t>
            </a:r>
            <a:endParaRPr sz="2200"/>
          </a:p>
          <a:p>
            <a:pPr indent="0" lvl="0" marL="0" rtl="0" algn="l">
              <a:lnSpc>
                <a:spcPct val="115000"/>
              </a:lnSpc>
              <a:spcBef>
                <a:spcPts val="1200"/>
              </a:spcBef>
              <a:spcAft>
                <a:spcPts val="0"/>
              </a:spcAft>
              <a:buNone/>
            </a:pPr>
            <a:r>
              <a:rPr lang="en-US" sz="2200"/>
              <a:t>Redis non sostituisce HDFS: </a:t>
            </a:r>
            <a:endParaRPr sz="2200"/>
          </a:p>
          <a:p>
            <a:pPr indent="-368300" lvl="0" marL="457200" rtl="0" algn="l">
              <a:lnSpc>
                <a:spcPct val="115000"/>
              </a:lnSpc>
              <a:spcBef>
                <a:spcPts val="1200"/>
              </a:spcBef>
              <a:spcAft>
                <a:spcPts val="0"/>
              </a:spcAft>
              <a:buSzPts val="2200"/>
              <a:buChar char="●"/>
            </a:pPr>
            <a:r>
              <a:rPr lang="en-US" sz="2200"/>
              <a:t>HDFS mantiene i dati persistenti</a:t>
            </a:r>
            <a:endParaRPr sz="2200"/>
          </a:p>
          <a:p>
            <a:pPr indent="-368300" lvl="0" marL="457200" rtl="0" algn="l">
              <a:lnSpc>
                <a:spcPct val="115000"/>
              </a:lnSpc>
              <a:spcBef>
                <a:spcPts val="0"/>
              </a:spcBef>
              <a:spcAft>
                <a:spcPts val="0"/>
              </a:spcAft>
              <a:buSzPts val="2200"/>
              <a:buChar char="●"/>
            </a:pPr>
            <a:r>
              <a:rPr lang="en-US" sz="2200"/>
              <a:t>Redis espone i risultati aggregati alle dashboard</a:t>
            </a:r>
            <a:endParaRPr sz="2200"/>
          </a:p>
        </p:txBody>
      </p:sp>
      <p:sp>
        <p:nvSpPr>
          <p:cNvPr id="902" name="Google Shape;902;p118"/>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18"/>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904" name="Google Shape;904;p118"/>
          <p:cNvSpPr/>
          <p:nvPr/>
        </p:nvSpPr>
        <p:spPr>
          <a:xfrm>
            <a:off x="450357" y="1138675"/>
            <a:ext cx="1383300" cy="579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19"/>
          <p:cNvSpPr/>
          <p:nvPr/>
        </p:nvSpPr>
        <p:spPr>
          <a:xfrm>
            <a:off x="423000" y="1371600"/>
            <a:ext cx="10930200" cy="4991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rPr>
              <a:t>I risultati sono stati organizzati tramite strutture dati Redis differenti.</a:t>
            </a:r>
            <a:endParaRPr sz="2200">
              <a:solidFill>
                <a:schemeClr val="dk1"/>
              </a:solidFill>
            </a:endParaRPr>
          </a:p>
          <a:p>
            <a:pPr indent="0" lvl="0" marL="0" rtl="0" algn="l">
              <a:lnSpc>
                <a:spcPct val="115000"/>
              </a:lnSpc>
              <a:spcBef>
                <a:spcPts val="1200"/>
              </a:spcBef>
              <a:spcAft>
                <a:spcPts val="0"/>
              </a:spcAft>
              <a:buNone/>
            </a:pPr>
            <a:r>
              <a:rPr lang="en-US" sz="2200">
                <a:solidFill>
                  <a:schemeClr val="dk1"/>
                </a:solidFill>
              </a:rPr>
              <a:t>Le chiavi Redis rispecchiano il livello di aggregazione dei risultati:</a:t>
            </a:r>
            <a:endParaRPr sz="2200">
              <a:solidFill>
                <a:schemeClr val="dk1"/>
              </a:solidFill>
            </a:endParaRPr>
          </a:p>
          <a:p>
            <a:pPr indent="-368300" lvl="0" marL="457200" rtl="0" algn="l">
              <a:lnSpc>
                <a:spcPct val="115000"/>
              </a:lnSpc>
              <a:spcBef>
                <a:spcPts val="1200"/>
              </a:spcBef>
              <a:spcAft>
                <a:spcPts val="0"/>
              </a:spcAft>
              <a:buClr>
                <a:schemeClr val="dk1"/>
              </a:buClr>
              <a:buSzPts val="2200"/>
              <a:buChar char="●"/>
            </a:pPr>
            <a:r>
              <a:rPr lang="en-US" sz="2200">
                <a:solidFill>
                  <a:schemeClr val="dk1"/>
                </a:solidFill>
              </a:rPr>
              <a:t>per mese e compagnia nella Query 1</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US" sz="2200">
                <a:solidFill>
                  <a:schemeClr val="dk1"/>
                </a:solidFill>
              </a:rPr>
              <a:t>una classifica ordinata per la Query 2</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US" sz="2200">
                <a:solidFill>
                  <a:schemeClr val="dk1"/>
                </a:solidFill>
              </a:rPr>
              <a:t>per compagnia e fascia oraria nella Query 3 </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i="1" lang="en-US" sz="2200" u="sng">
                <a:solidFill>
                  <a:schemeClr val="dk1"/>
                </a:solidFill>
              </a:rPr>
              <a:t>Query 1:</a:t>
            </a:r>
            <a:endParaRPr b="1" i="1" sz="2200" u="sng">
              <a:solidFill>
                <a:schemeClr val="dk1"/>
              </a:solidFill>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rPr>
              <a:t>HASH</a:t>
            </a:r>
            <a:r>
              <a:rPr lang="en-US" sz="2200">
                <a:solidFill>
                  <a:schemeClr val="dk1"/>
                </a:solidFill>
              </a:rPr>
              <a:t> con chiave </a:t>
            </a:r>
            <a:r>
              <a:rPr lang="en-US" sz="2200">
                <a:solidFill>
                  <a:srgbClr val="1AB1CD"/>
                </a:solidFill>
                <a:latin typeface="Roboto Mono"/>
                <a:ea typeface="Roboto Mono"/>
                <a:cs typeface="Roboto Mono"/>
                <a:sym typeface="Roboto Mono"/>
              </a:rPr>
              <a:t>q1</a:t>
            </a:r>
            <a:r>
              <a:rPr lang="en-US" sz="2200">
                <a:solidFill>
                  <a:schemeClr val="dk1"/>
                </a:solidFill>
                <a:latin typeface="Roboto Mono"/>
                <a:ea typeface="Roboto Mono"/>
                <a:cs typeface="Roboto Mono"/>
                <a:sym typeface="Roboto Mono"/>
              </a:rPr>
              <a:t>:{</a:t>
            </a:r>
            <a:r>
              <a:rPr lang="en-US" sz="2200">
                <a:solidFill>
                  <a:srgbClr val="1AB1CD"/>
                </a:solidFill>
                <a:latin typeface="Roboto Mono"/>
                <a:ea typeface="Roboto Mono"/>
                <a:cs typeface="Roboto Mono"/>
                <a:sym typeface="Roboto Mono"/>
              </a:rPr>
              <a:t>carrier</a:t>
            </a:r>
            <a:r>
              <a:rPr lang="en-US" sz="2200">
                <a:solidFill>
                  <a:schemeClr val="dk1"/>
                </a:solidFill>
                <a:latin typeface="Roboto Mono"/>
                <a:ea typeface="Roboto Mono"/>
                <a:cs typeface="Roboto Mono"/>
                <a:sym typeface="Roboto Mono"/>
              </a:rPr>
              <a:t>}:{</a:t>
            </a:r>
            <a:r>
              <a:rPr lang="en-US" sz="2200">
                <a:solidFill>
                  <a:srgbClr val="1AB1CD"/>
                </a:solidFill>
                <a:latin typeface="Roboto Mono"/>
                <a:ea typeface="Roboto Mono"/>
                <a:cs typeface="Roboto Mono"/>
                <a:sym typeface="Roboto Mono"/>
              </a:rPr>
              <a:t>year</a:t>
            </a:r>
            <a:r>
              <a:rPr lang="en-US" sz="2200">
                <a:solidFill>
                  <a:schemeClr val="dk1"/>
                </a:solidFill>
                <a:latin typeface="Roboto Mono"/>
                <a:ea typeface="Roboto Mono"/>
                <a:cs typeface="Roboto Mono"/>
                <a:sym typeface="Roboto Mono"/>
              </a:rPr>
              <a:t>}:{</a:t>
            </a:r>
            <a:r>
              <a:rPr lang="en-US" sz="2200">
                <a:solidFill>
                  <a:srgbClr val="1AB1CD"/>
                </a:solidFill>
                <a:latin typeface="Roboto Mono"/>
                <a:ea typeface="Roboto Mono"/>
                <a:cs typeface="Roboto Mono"/>
                <a:sym typeface="Roboto Mono"/>
              </a:rPr>
              <a:t>month</a:t>
            </a:r>
            <a:r>
              <a:rPr lang="en-US" sz="2200">
                <a:solidFill>
                  <a:schemeClr val="dk1"/>
                </a:solidFill>
                <a:latin typeface="Roboto Mono"/>
                <a:ea typeface="Roboto Mono"/>
                <a:cs typeface="Roboto Mono"/>
                <a:sym typeface="Roboto Mono"/>
              </a:rPr>
              <a:t>}</a:t>
            </a:r>
            <a:endParaRPr sz="2200">
              <a:solidFill>
                <a:schemeClr val="dk1"/>
              </a:solidFill>
              <a:latin typeface="Roboto Mono"/>
              <a:ea typeface="Roboto Mono"/>
              <a:cs typeface="Roboto Mono"/>
              <a:sym typeface="Roboto Mono"/>
            </a:endParaRPr>
          </a:p>
          <a:p>
            <a:pPr indent="-368300" lvl="1" marL="914400" rtl="0" algn="l">
              <a:lnSpc>
                <a:spcPct val="115000"/>
              </a:lnSpc>
              <a:spcBef>
                <a:spcPts val="0"/>
              </a:spcBef>
              <a:spcAft>
                <a:spcPts val="0"/>
              </a:spcAft>
              <a:buClr>
                <a:schemeClr val="dk1"/>
              </a:buClr>
              <a:buSzPts val="2200"/>
              <a:buChar char="○"/>
            </a:pPr>
            <a:r>
              <a:rPr lang="en-US" sz="2200">
                <a:solidFill>
                  <a:schemeClr val="dk1"/>
                </a:solidFill>
              </a:rPr>
              <a:t>contiene metriche mensili come total_flights, cancelled_flights,</a:t>
            </a:r>
            <a:br>
              <a:rPr lang="en-US" sz="2200">
                <a:solidFill>
                  <a:schemeClr val="dk1"/>
                </a:solidFill>
              </a:rPr>
            </a:br>
            <a:r>
              <a:rPr lang="en-US" sz="2200">
                <a:solidFill>
                  <a:schemeClr val="dk1"/>
                </a:solidFill>
              </a:rPr>
              <a:t>cancellation_rate_pct e avg_dep_delay</a:t>
            </a:r>
            <a:endParaRPr sz="2000"/>
          </a:p>
        </p:txBody>
      </p:sp>
      <p:sp>
        <p:nvSpPr>
          <p:cNvPr id="910" name="Google Shape;910;p119"/>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Redis - Modello dei dati</a:t>
            </a:r>
            <a:endParaRPr b="1" i="0" sz="3600" u="none" cap="none" strike="noStrike"/>
          </a:p>
        </p:txBody>
      </p:sp>
      <p:sp>
        <p:nvSpPr>
          <p:cNvPr id="911" name="Google Shape;911;p119"/>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19"/>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913" name="Google Shape;913;p119"/>
          <p:cNvSpPr/>
          <p:nvPr/>
        </p:nvSpPr>
        <p:spPr>
          <a:xfrm>
            <a:off x="450360" y="1138680"/>
            <a:ext cx="5264700" cy="58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20"/>
          <p:cNvSpPr/>
          <p:nvPr/>
        </p:nvSpPr>
        <p:spPr>
          <a:xfrm>
            <a:off x="423000" y="1371600"/>
            <a:ext cx="11166300" cy="4991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i="1" lang="en-US" sz="2200" u="sng">
                <a:solidFill>
                  <a:schemeClr val="dk1"/>
                </a:solidFill>
              </a:rPr>
              <a:t>Query 2:</a:t>
            </a:r>
            <a:endParaRPr b="1" i="1" sz="2200" u="sng">
              <a:solidFill>
                <a:schemeClr val="dk1"/>
              </a:solidFill>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rPr>
              <a:t>ZSET</a:t>
            </a:r>
            <a:r>
              <a:rPr lang="en-US" sz="2200">
                <a:solidFill>
                  <a:schemeClr val="dk1"/>
                </a:solidFill>
              </a:rPr>
              <a:t> </a:t>
            </a:r>
            <a:r>
              <a:rPr lang="en-US" sz="2200">
                <a:solidFill>
                  <a:srgbClr val="1AB1CD"/>
                </a:solidFill>
                <a:latin typeface="Roboto Mono"/>
                <a:ea typeface="Roboto Mono"/>
                <a:cs typeface="Roboto Mono"/>
                <a:sym typeface="Roboto Mono"/>
              </a:rPr>
              <a:t>q2</a:t>
            </a:r>
            <a:r>
              <a:rPr lang="en-US" sz="2200">
                <a:solidFill>
                  <a:schemeClr val="dk1"/>
                </a:solidFill>
                <a:latin typeface="Roboto Mono"/>
                <a:ea typeface="Roboto Mono"/>
                <a:cs typeface="Roboto Mono"/>
                <a:sym typeface="Roboto Mono"/>
              </a:rPr>
              <a:t>:</a:t>
            </a:r>
            <a:r>
              <a:rPr lang="en-US" sz="2200">
                <a:solidFill>
                  <a:srgbClr val="1AB1CD"/>
                </a:solidFill>
                <a:latin typeface="Roboto Mono"/>
                <a:ea typeface="Roboto Mono"/>
                <a:cs typeface="Roboto Mono"/>
                <a:sym typeface="Roboto Mono"/>
              </a:rPr>
              <a:t>ranking</a:t>
            </a:r>
            <a:r>
              <a:rPr lang="en-US" sz="2200">
                <a:solidFill>
                  <a:schemeClr val="dk1"/>
                </a:solidFill>
              </a:rPr>
              <a:t> per ordinare le compagnie in base ad avg_arr_delay</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rPr>
              <a:t>HASH</a:t>
            </a:r>
            <a:r>
              <a:rPr lang="en-US" sz="2200">
                <a:solidFill>
                  <a:schemeClr val="dk1"/>
                </a:solidFill>
              </a:rPr>
              <a:t> </a:t>
            </a:r>
            <a:r>
              <a:rPr lang="en-US" sz="2200">
                <a:solidFill>
                  <a:srgbClr val="1AB1CD"/>
                </a:solidFill>
                <a:latin typeface="Roboto Mono"/>
                <a:ea typeface="Roboto Mono"/>
                <a:cs typeface="Roboto Mono"/>
                <a:sym typeface="Roboto Mono"/>
              </a:rPr>
              <a:t>q2</a:t>
            </a:r>
            <a:r>
              <a:rPr lang="en-US" sz="2200">
                <a:solidFill>
                  <a:schemeClr val="dk1"/>
                </a:solidFill>
                <a:latin typeface="Roboto Mono"/>
                <a:ea typeface="Roboto Mono"/>
                <a:cs typeface="Roboto Mono"/>
                <a:sym typeface="Roboto Mono"/>
              </a:rPr>
              <a:t>:{</a:t>
            </a:r>
            <a:r>
              <a:rPr lang="en-US" sz="2200">
                <a:solidFill>
                  <a:srgbClr val="1AB1CD"/>
                </a:solidFill>
                <a:latin typeface="Roboto Mono"/>
                <a:ea typeface="Roboto Mono"/>
                <a:cs typeface="Roboto Mono"/>
                <a:sym typeface="Roboto Mono"/>
              </a:rPr>
              <a:t>carrier</a:t>
            </a:r>
            <a:r>
              <a:rPr lang="en-US" sz="2200">
                <a:solidFill>
                  <a:schemeClr val="dk1"/>
                </a:solidFill>
                <a:latin typeface="Roboto Mono"/>
                <a:ea typeface="Roboto Mono"/>
                <a:cs typeface="Roboto Mono"/>
                <a:sym typeface="Roboto Mono"/>
              </a:rPr>
              <a:t>}</a:t>
            </a:r>
            <a:r>
              <a:rPr lang="en-US" sz="2200">
                <a:solidFill>
                  <a:schemeClr val="dk1"/>
                </a:solidFill>
              </a:rPr>
              <a:t> per salvare le metriche dettagliate della compagnia</a:t>
            </a:r>
            <a:endParaRPr sz="2000">
              <a:solidFill>
                <a:schemeClr val="dk1"/>
              </a:solidFill>
            </a:endParaRPr>
          </a:p>
          <a:p>
            <a:pPr indent="0" lvl="0" marL="0" rtl="0" algn="l">
              <a:lnSpc>
                <a:spcPct val="115000"/>
              </a:lnSpc>
              <a:spcBef>
                <a:spcPts val="1200"/>
              </a:spcBef>
              <a:spcAft>
                <a:spcPts val="0"/>
              </a:spcAft>
              <a:buNone/>
            </a:pPr>
            <a:r>
              <a:t/>
            </a:r>
            <a:endParaRPr sz="2200"/>
          </a:p>
          <a:p>
            <a:pPr indent="0" lvl="0" marL="0" rtl="0" algn="l">
              <a:lnSpc>
                <a:spcPct val="115000"/>
              </a:lnSpc>
              <a:spcBef>
                <a:spcPts val="1200"/>
              </a:spcBef>
              <a:spcAft>
                <a:spcPts val="0"/>
              </a:spcAft>
              <a:buNone/>
            </a:pPr>
            <a:r>
              <a:rPr b="1" i="1" lang="en-US" sz="2200" u="sng">
                <a:solidFill>
                  <a:schemeClr val="dk1"/>
                </a:solidFill>
              </a:rPr>
              <a:t>Query 3:</a:t>
            </a:r>
            <a:endParaRPr b="1" i="1" sz="2200" u="sng">
              <a:solidFill>
                <a:schemeClr val="dk1"/>
              </a:solidFill>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rPr>
              <a:t>HASH</a:t>
            </a:r>
            <a:r>
              <a:rPr lang="en-US" sz="2200">
                <a:solidFill>
                  <a:schemeClr val="dk1"/>
                </a:solidFill>
              </a:rPr>
              <a:t> </a:t>
            </a:r>
            <a:r>
              <a:rPr lang="en-US" sz="2200">
                <a:solidFill>
                  <a:srgbClr val="1AB1CD"/>
                </a:solidFill>
                <a:latin typeface="Roboto Mono"/>
                <a:ea typeface="Roboto Mono"/>
                <a:cs typeface="Roboto Mono"/>
                <a:sym typeface="Roboto Mono"/>
              </a:rPr>
              <a:t>q3</a:t>
            </a:r>
            <a:r>
              <a:rPr lang="en-US" sz="2200">
                <a:latin typeface="Roboto Mono"/>
                <a:ea typeface="Roboto Mono"/>
                <a:cs typeface="Roboto Mono"/>
                <a:sym typeface="Roboto Mono"/>
              </a:rPr>
              <a:t>:</a:t>
            </a:r>
            <a:r>
              <a:rPr lang="en-US" sz="2200">
                <a:solidFill>
                  <a:srgbClr val="1AB1CD"/>
                </a:solidFill>
                <a:latin typeface="Roboto Mono"/>
                <a:ea typeface="Roboto Mono"/>
                <a:cs typeface="Roboto Mono"/>
                <a:sym typeface="Roboto Mono"/>
              </a:rPr>
              <a:t>percentiles</a:t>
            </a:r>
            <a:r>
              <a:rPr lang="en-US" sz="2200">
                <a:latin typeface="Roboto Mono"/>
                <a:ea typeface="Roboto Mono"/>
                <a:cs typeface="Roboto Mono"/>
                <a:sym typeface="Roboto Mono"/>
              </a:rPr>
              <a:t>:{</a:t>
            </a:r>
            <a:r>
              <a:rPr lang="en-US" sz="2200">
                <a:solidFill>
                  <a:srgbClr val="1AB1CD"/>
                </a:solidFill>
                <a:latin typeface="Roboto Mono"/>
                <a:ea typeface="Roboto Mono"/>
                <a:cs typeface="Roboto Mono"/>
                <a:sym typeface="Roboto Mono"/>
              </a:rPr>
              <a:t>carrier</a:t>
            </a:r>
            <a:r>
              <a:rPr lang="en-US" sz="2200">
                <a:latin typeface="Roboto Mono"/>
                <a:ea typeface="Roboto Mono"/>
                <a:cs typeface="Roboto Mono"/>
                <a:sym typeface="Roboto Mono"/>
              </a:rPr>
              <a:t>}:{</a:t>
            </a:r>
            <a:r>
              <a:rPr lang="en-US" sz="2200">
                <a:solidFill>
                  <a:srgbClr val="1AB1CD"/>
                </a:solidFill>
                <a:latin typeface="Roboto Mono"/>
                <a:ea typeface="Roboto Mono"/>
                <a:cs typeface="Roboto Mono"/>
                <a:sym typeface="Roboto Mono"/>
              </a:rPr>
              <a:t>hour</a:t>
            </a:r>
            <a:r>
              <a:rPr lang="en-US" sz="2200">
                <a:latin typeface="Roboto Mono"/>
                <a:ea typeface="Roboto Mono"/>
                <a:cs typeface="Roboto Mono"/>
                <a:sym typeface="Roboto Mono"/>
              </a:rPr>
              <a:t>}</a:t>
            </a:r>
            <a:endParaRPr sz="2200">
              <a:solidFill>
                <a:schemeClr val="dk1"/>
              </a:solidFill>
            </a:endParaRPr>
          </a:p>
          <a:p>
            <a:pPr indent="-368300" lvl="1" marL="914400" rtl="0" algn="l">
              <a:lnSpc>
                <a:spcPct val="115000"/>
              </a:lnSpc>
              <a:spcBef>
                <a:spcPts val="0"/>
              </a:spcBef>
              <a:spcAft>
                <a:spcPts val="0"/>
              </a:spcAft>
              <a:buClr>
                <a:schemeClr val="dk1"/>
              </a:buClr>
              <a:buSzPts val="2200"/>
              <a:buChar char="○"/>
            </a:pPr>
            <a:r>
              <a:rPr lang="en-US" sz="2200">
                <a:solidFill>
                  <a:schemeClr val="dk1"/>
                </a:solidFill>
              </a:rPr>
              <a:t>contiene i percentili p25, p50, p75 e p90 dei ritardi per fascia oraria</a:t>
            </a:r>
            <a:endParaRPr sz="2200">
              <a:solidFill>
                <a:schemeClr val="dk1"/>
              </a:solidFill>
            </a:endParaRPr>
          </a:p>
          <a:p>
            <a:pPr indent="0" lvl="0" marL="0" rtl="0" algn="l">
              <a:lnSpc>
                <a:spcPct val="115000"/>
              </a:lnSpc>
              <a:spcBef>
                <a:spcPts val="1200"/>
              </a:spcBef>
              <a:spcAft>
                <a:spcPts val="0"/>
              </a:spcAft>
              <a:buNone/>
            </a:pPr>
            <a:r>
              <a:t/>
            </a:r>
            <a:endParaRPr sz="2200"/>
          </a:p>
          <a:p>
            <a:pPr indent="0" lvl="0" marL="0" rtl="0" algn="l">
              <a:lnSpc>
                <a:spcPct val="115000"/>
              </a:lnSpc>
              <a:spcBef>
                <a:spcPts val="1200"/>
              </a:spcBef>
              <a:spcAft>
                <a:spcPts val="1200"/>
              </a:spcAft>
              <a:buNone/>
            </a:pPr>
            <a:r>
              <a:t/>
            </a:r>
            <a:endParaRPr sz="2000"/>
          </a:p>
        </p:txBody>
      </p:sp>
      <p:sp>
        <p:nvSpPr>
          <p:cNvPr id="919" name="Google Shape;919;p120"/>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Redis - Modello dei dati</a:t>
            </a:r>
            <a:endParaRPr b="1" i="0" sz="3600" u="none" cap="none" strike="noStrike"/>
          </a:p>
        </p:txBody>
      </p:sp>
      <p:sp>
        <p:nvSpPr>
          <p:cNvPr id="920" name="Google Shape;920;p120"/>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20"/>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922" name="Google Shape;922;p120"/>
          <p:cNvSpPr/>
          <p:nvPr/>
        </p:nvSpPr>
        <p:spPr>
          <a:xfrm>
            <a:off x="450360" y="1138680"/>
            <a:ext cx="5264700" cy="588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21"/>
          <p:cNvSpPr/>
          <p:nvPr/>
        </p:nvSpPr>
        <p:spPr>
          <a:xfrm>
            <a:off x="314280" y="2749680"/>
            <a:ext cx="10972800" cy="16455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Grafana</a:t>
            </a:r>
            <a:endParaRPr b="1" i="0" sz="3600" u="none" cap="none" strike="noStrike"/>
          </a:p>
        </p:txBody>
      </p:sp>
      <p:sp>
        <p:nvSpPr>
          <p:cNvPr id="928" name="Google Shape;928;p121"/>
          <p:cNvSpPr/>
          <p:nvPr/>
        </p:nvSpPr>
        <p:spPr>
          <a:xfrm>
            <a:off x="290520" y="6494400"/>
            <a:ext cx="27429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21"/>
          <p:cNvSpPr/>
          <p:nvPr/>
        </p:nvSpPr>
        <p:spPr>
          <a:xfrm>
            <a:off x="323280" y="4446720"/>
            <a:ext cx="10328100" cy="59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21"/>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21"/>
          <p:cNvSpPr/>
          <p:nvPr/>
        </p:nvSpPr>
        <p:spPr>
          <a:xfrm>
            <a:off x="413647" y="4357800"/>
            <a:ext cx="1653000" cy="375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22"/>
          <p:cNvSpPr/>
          <p:nvPr/>
        </p:nvSpPr>
        <p:spPr>
          <a:xfrm>
            <a:off x="322920" y="216720"/>
            <a:ext cx="9050100" cy="92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rPr b="1" lang="en-US" sz="3600">
                <a:solidFill>
                  <a:srgbClr val="008236"/>
                </a:solidFill>
              </a:rPr>
              <a:t>Grafana</a:t>
            </a:r>
            <a:endParaRPr b="1" i="0" sz="3600" u="none" cap="none" strike="noStrike"/>
          </a:p>
        </p:txBody>
      </p:sp>
      <p:sp>
        <p:nvSpPr>
          <p:cNvPr id="937" name="Google Shape;937;p122"/>
          <p:cNvSpPr/>
          <p:nvPr/>
        </p:nvSpPr>
        <p:spPr>
          <a:xfrm>
            <a:off x="423000" y="1371600"/>
            <a:ext cx="11043300" cy="4991400"/>
          </a:xfrm>
          <a:prstGeom prst="rect">
            <a:avLst/>
          </a:prstGeom>
          <a:noFill/>
          <a:ln>
            <a:noFill/>
          </a:ln>
        </p:spPr>
        <p:txBody>
          <a:bodyPr anchorCtr="0" anchor="t" bIns="45700" lIns="91425" spcFirstLastPara="1" rIns="91425" wrap="square" tIns="45700">
            <a:noAutofit/>
          </a:bodyPr>
          <a:lstStyle/>
          <a:p>
            <a:pPr indent="0" lvl="0" marL="0" rtl="0" algn="l">
              <a:spcBef>
                <a:spcPts val="1414"/>
              </a:spcBef>
              <a:spcAft>
                <a:spcPts val="0"/>
              </a:spcAft>
              <a:buNone/>
            </a:pPr>
            <a:r>
              <a:rPr lang="en-US" sz="2200"/>
              <a:t>Grafana utilizza Redis come sorgente dati per costruire dashboard relative ai risultati delle query.</a:t>
            </a:r>
            <a:endParaRPr sz="2200"/>
          </a:p>
          <a:p>
            <a:pPr indent="0" lvl="0" marL="0" rtl="0" algn="l">
              <a:spcBef>
                <a:spcPts val="1414"/>
              </a:spcBef>
              <a:spcAft>
                <a:spcPts val="0"/>
              </a:spcAft>
              <a:buNone/>
            </a:pPr>
            <a:r>
              <a:rPr lang="en-US" sz="2200"/>
              <a:t>Le dashboard permettono di visualizzare:</a:t>
            </a:r>
            <a:endParaRPr sz="2200"/>
          </a:p>
          <a:p>
            <a:pPr indent="-368300" lvl="0" marL="457200" rtl="0" algn="l">
              <a:spcBef>
                <a:spcPts val="1414"/>
              </a:spcBef>
              <a:spcAft>
                <a:spcPts val="0"/>
              </a:spcAft>
              <a:buSzPts val="2200"/>
              <a:buChar char="●"/>
            </a:pPr>
            <a:r>
              <a:rPr lang="en-US" sz="2200"/>
              <a:t>andamento mensile di </a:t>
            </a:r>
            <a:r>
              <a:rPr i="1" lang="en-US" sz="2200"/>
              <a:t>avg_dep_delay </a:t>
            </a:r>
            <a:r>
              <a:rPr lang="en-US" sz="2200"/>
              <a:t>e </a:t>
            </a:r>
            <a:r>
              <a:rPr i="1" lang="en-US" sz="2200"/>
              <a:t>cancellation_rate </a:t>
            </a:r>
            <a:r>
              <a:rPr lang="en-US" sz="2200"/>
              <a:t>per AA e DL;</a:t>
            </a:r>
            <a:br>
              <a:rPr lang="en-US" sz="2200"/>
            </a:br>
            <a:endParaRPr sz="2200"/>
          </a:p>
          <a:p>
            <a:pPr indent="-368300" lvl="0" marL="457200" rtl="0" algn="l">
              <a:spcBef>
                <a:spcPts val="0"/>
              </a:spcBef>
              <a:spcAft>
                <a:spcPts val="0"/>
              </a:spcAft>
              <a:buSzPts val="2200"/>
              <a:buChar char="●"/>
            </a:pPr>
            <a:r>
              <a:rPr i="1" lang="en-US" sz="2200"/>
              <a:t>ranking </a:t>
            </a:r>
            <a:r>
              <a:rPr lang="en-US" sz="2200"/>
              <a:t>delle compagnie per ritardo medio in arriv</a:t>
            </a:r>
            <a:r>
              <a:rPr lang="en-US" sz="2200"/>
              <a:t>o</a:t>
            </a:r>
            <a:br>
              <a:rPr lang="en-US" sz="2200"/>
            </a:br>
            <a:endParaRPr sz="2200"/>
          </a:p>
          <a:p>
            <a:pPr indent="-368300" lvl="0" marL="457200" rtl="0" algn="l">
              <a:spcBef>
                <a:spcPts val="0"/>
              </a:spcBef>
              <a:spcAft>
                <a:spcPts val="0"/>
              </a:spcAft>
              <a:buSzPts val="2200"/>
              <a:buChar char="●"/>
            </a:pPr>
            <a:r>
              <a:rPr lang="en-US" sz="2200"/>
              <a:t>confronto delle cause medie di ritardo;</a:t>
            </a:r>
            <a:br>
              <a:rPr lang="en-US" sz="2200"/>
            </a:br>
            <a:endParaRPr sz="2200"/>
          </a:p>
          <a:p>
            <a:pPr indent="-368300" lvl="0" marL="457200" rtl="0" algn="l">
              <a:spcBef>
                <a:spcPts val="0"/>
              </a:spcBef>
              <a:spcAft>
                <a:spcPts val="0"/>
              </a:spcAft>
              <a:buSzPts val="2200"/>
              <a:buChar char="●"/>
            </a:pPr>
            <a:r>
              <a:rPr lang="en-US" sz="2200"/>
              <a:t>distribuzione dei percentili di </a:t>
            </a:r>
            <a:r>
              <a:rPr i="1" lang="en-US" sz="2200"/>
              <a:t>DEP_DELAY </a:t>
            </a:r>
            <a:r>
              <a:rPr lang="en-US" sz="2200"/>
              <a:t>per compagnia e fascia oraria. </a:t>
            </a:r>
            <a:endParaRPr sz="2200"/>
          </a:p>
          <a:p>
            <a:pPr indent="0" lvl="0" marL="0" marR="0" rtl="0" algn="l">
              <a:lnSpc>
                <a:spcPct val="100000"/>
              </a:lnSpc>
              <a:spcBef>
                <a:spcPts val="1414"/>
              </a:spcBef>
              <a:spcAft>
                <a:spcPts val="0"/>
              </a:spcAft>
              <a:buNone/>
            </a:pPr>
            <a:r>
              <a:t/>
            </a:r>
            <a:endParaRPr sz="2000"/>
          </a:p>
        </p:txBody>
      </p:sp>
      <p:sp>
        <p:nvSpPr>
          <p:cNvPr id="938" name="Google Shape;938;p122"/>
          <p:cNvSpPr/>
          <p:nvPr/>
        </p:nvSpPr>
        <p:spPr>
          <a:xfrm>
            <a:off x="4038480" y="6494400"/>
            <a:ext cx="4114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22"/>
          <p:cNvSpPr/>
          <p:nvPr/>
        </p:nvSpPr>
        <p:spPr>
          <a:xfrm>
            <a:off x="11353320" y="6428160"/>
            <a:ext cx="993300" cy="289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Arial"/>
              <a:ea typeface="Arial"/>
              <a:cs typeface="Arial"/>
              <a:sym typeface="Arial"/>
            </a:endParaRPr>
          </a:p>
        </p:txBody>
      </p:sp>
      <p:sp>
        <p:nvSpPr>
          <p:cNvPr id="940" name="Google Shape;940;p122"/>
          <p:cNvSpPr/>
          <p:nvPr/>
        </p:nvSpPr>
        <p:spPr>
          <a:xfrm>
            <a:off x="450357" y="1138676"/>
            <a:ext cx="1699200" cy="49200"/>
          </a:xfrm>
          <a:prstGeom prst="rect">
            <a:avLst/>
          </a:prstGeom>
          <a:solidFill>
            <a:srgbClr val="007D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23"/>
          <p:cNvSpPr/>
          <p:nvPr/>
        </p:nvSpPr>
        <p:spPr>
          <a:xfrm>
            <a:off x="4038480" y="6494400"/>
            <a:ext cx="4114440" cy="364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23"/>
          <p:cNvSpPr/>
          <p:nvPr/>
        </p:nvSpPr>
        <p:spPr>
          <a:xfrm>
            <a:off x="7315200" y="5770080"/>
            <a:ext cx="4877640" cy="723960"/>
          </a:xfrm>
          <a:prstGeom prst="rect">
            <a:avLst/>
          </a:prstGeom>
          <a:noFill/>
          <a:ln>
            <a:noFill/>
          </a:ln>
        </p:spPr>
        <p:txBody>
          <a:bodyPr anchorCtr="1" anchor="t" bIns="45000" lIns="90000" spcFirstLastPara="1" rIns="90000" wrap="square" tIns="45000">
            <a:noAutofit/>
          </a:bodyPr>
          <a:lstStyle/>
          <a:p>
            <a:pPr indent="0" lvl="0" marL="0" marR="0" rtl="0" algn="ctr">
              <a:lnSpc>
                <a:spcPct val="100000"/>
              </a:lnSpc>
              <a:spcBef>
                <a:spcPts val="0"/>
              </a:spcBef>
              <a:spcAft>
                <a:spcPts val="0"/>
              </a:spcAft>
              <a:buNone/>
            </a:pPr>
            <a:r>
              <a:rPr b="0" lang="en-US" sz="2200" u="none" cap="none" strike="noStrike">
                <a:solidFill>
                  <a:srgbClr val="FFFFFF"/>
                </a:solidFill>
                <a:latin typeface="Arial"/>
                <a:ea typeface="Arial"/>
                <a:cs typeface="Arial"/>
                <a:sym typeface="Arial"/>
              </a:rPr>
              <a:t>GRAZIE PER L’ATTENZIONE!</a:t>
            </a:r>
            <a:endParaRPr b="0" sz="2200" u="none" cap="none" strike="noStrike">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